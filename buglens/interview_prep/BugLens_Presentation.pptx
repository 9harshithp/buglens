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CF0EFF-4FBC-4CD5-8531-AF5872D71650}" v="2" dt="2026-06-08T07:58:08.9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5" d="100"/>
          <a:sy n="115" d="100"/>
        </p:scale>
        <p:origin x="396"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as pm" userId="8b913a2008b3f937" providerId="LiveId" clId="{C016AB23-7E0A-435B-9C50-E030669E468E}"/>
    <pc:docChg chg="undo custSel modSld">
      <pc:chgData name="Yashas pm" userId="8b913a2008b3f937" providerId="LiveId" clId="{C016AB23-7E0A-435B-9C50-E030669E468E}" dt="2026-06-08T11:13:25.612" v="154" actId="1076"/>
      <pc:docMkLst>
        <pc:docMk/>
      </pc:docMkLst>
      <pc:sldChg chg="modSp mod">
        <pc:chgData name="Yashas pm" userId="8b913a2008b3f937" providerId="LiveId" clId="{C016AB23-7E0A-435B-9C50-E030669E468E}" dt="2026-06-08T10:36:28.452" v="130" actId="20577"/>
        <pc:sldMkLst>
          <pc:docMk/>
          <pc:sldMk cId="0" sldId="256"/>
        </pc:sldMkLst>
        <pc:spChg chg="mod">
          <ac:chgData name="Yashas pm" userId="8b913a2008b3f937" providerId="LiveId" clId="{C016AB23-7E0A-435B-9C50-E030669E468E}" dt="2026-06-08T10:36:28.452" v="130" actId="20577"/>
          <ac:spMkLst>
            <pc:docMk/>
            <pc:sldMk cId="0" sldId="256"/>
            <ac:spMk id="21" creationId="{00000000-0000-0000-0000-000000000000}"/>
          </ac:spMkLst>
        </pc:spChg>
      </pc:sldChg>
      <pc:sldChg chg="modSp mod">
        <pc:chgData name="Yashas pm" userId="8b913a2008b3f937" providerId="LiveId" clId="{C016AB23-7E0A-435B-9C50-E030669E468E}" dt="2026-06-08T07:57:53.889" v="70" actId="1036"/>
        <pc:sldMkLst>
          <pc:docMk/>
          <pc:sldMk cId="0" sldId="257"/>
        </pc:sldMkLst>
        <pc:spChg chg="mod">
          <ac:chgData name="Yashas pm" userId="8b913a2008b3f937" providerId="LiveId" clId="{C016AB23-7E0A-435B-9C50-E030669E468E}" dt="2026-06-08T07:57:04.884" v="28" actId="1036"/>
          <ac:spMkLst>
            <pc:docMk/>
            <pc:sldMk cId="0" sldId="257"/>
            <ac:spMk id="12" creationId="{00000000-0000-0000-0000-000000000000}"/>
          </ac:spMkLst>
        </pc:spChg>
        <pc:spChg chg="mod">
          <ac:chgData name="Yashas pm" userId="8b913a2008b3f937" providerId="LiveId" clId="{C016AB23-7E0A-435B-9C50-E030669E468E}" dt="2026-06-08T07:57:15.718" v="30" actId="1076"/>
          <ac:spMkLst>
            <pc:docMk/>
            <pc:sldMk cId="0" sldId="257"/>
            <ac:spMk id="13" creationId="{00000000-0000-0000-0000-000000000000}"/>
          </ac:spMkLst>
        </pc:spChg>
        <pc:spChg chg="mod">
          <ac:chgData name="Yashas pm" userId="8b913a2008b3f937" providerId="LiveId" clId="{C016AB23-7E0A-435B-9C50-E030669E468E}" dt="2026-06-08T07:56:32.206" v="12" actId="1076"/>
          <ac:spMkLst>
            <pc:docMk/>
            <pc:sldMk cId="0" sldId="257"/>
            <ac:spMk id="14" creationId="{00000000-0000-0000-0000-000000000000}"/>
          </ac:spMkLst>
        </pc:spChg>
        <pc:spChg chg="mod">
          <ac:chgData name="Yashas pm" userId="8b913a2008b3f937" providerId="LiveId" clId="{C016AB23-7E0A-435B-9C50-E030669E468E}" dt="2026-06-08T07:49:32.381" v="9" actId="1036"/>
          <ac:spMkLst>
            <pc:docMk/>
            <pc:sldMk cId="0" sldId="257"/>
            <ac:spMk id="15" creationId="{00000000-0000-0000-0000-000000000000}"/>
          </ac:spMkLst>
        </pc:spChg>
        <pc:spChg chg="mod">
          <ac:chgData name="Yashas pm" userId="8b913a2008b3f937" providerId="LiveId" clId="{C016AB23-7E0A-435B-9C50-E030669E468E}" dt="2026-06-08T07:57:26.754" v="43" actId="1036"/>
          <ac:spMkLst>
            <pc:docMk/>
            <pc:sldMk cId="0" sldId="257"/>
            <ac:spMk id="18" creationId="{00000000-0000-0000-0000-000000000000}"/>
          </ac:spMkLst>
        </pc:spChg>
        <pc:spChg chg="mod">
          <ac:chgData name="Yashas pm" userId="8b913a2008b3f937" providerId="LiveId" clId="{C016AB23-7E0A-435B-9C50-E030669E468E}" dt="2026-06-08T07:57:43.654" v="60" actId="1076"/>
          <ac:spMkLst>
            <pc:docMk/>
            <pc:sldMk cId="0" sldId="257"/>
            <ac:spMk id="19" creationId="{00000000-0000-0000-0000-000000000000}"/>
          </ac:spMkLst>
        </pc:spChg>
        <pc:spChg chg="mod">
          <ac:chgData name="Yashas pm" userId="8b913a2008b3f937" providerId="LiveId" clId="{C016AB23-7E0A-435B-9C50-E030669E468E}" dt="2026-06-08T07:56:34.635" v="13" actId="1076"/>
          <ac:spMkLst>
            <pc:docMk/>
            <pc:sldMk cId="0" sldId="257"/>
            <ac:spMk id="20" creationId="{00000000-0000-0000-0000-000000000000}"/>
          </ac:spMkLst>
        </pc:spChg>
        <pc:spChg chg="mod">
          <ac:chgData name="Yashas pm" userId="8b913a2008b3f937" providerId="LiveId" clId="{C016AB23-7E0A-435B-9C50-E030669E468E}" dt="2026-06-08T07:57:35.372" v="59" actId="1036"/>
          <ac:spMkLst>
            <pc:docMk/>
            <pc:sldMk cId="0" sldId="257"/>
            <ac:spMk id="24" creationId="{00000000-0000-0000-0000-000000000000}"/>
          </ac:spMkLst>
        </pc:spChg>
        <pc:spChg chg="mod">
          <ac:chgData name="Yashas pm" userId="8b913a2008b3f937" providerId="LiveId" clId="{C016AB23-7E0A-435B-9C50-E030669E468E}" dt="2026-06-08T07:57:53.889" v="70" actId="1036"/>
          <ac:spMkLst>
            <pc:docMk/>
            <pc:sldMk cId="0" sldId="257"/>
            <ac:spMk id="25" creationId="{00000000-0000-0000-0000-000000000000}"/>
          </ac:spMkLst>
        </pc:spChg>
        <pc:spChg chg="mod">
          <ac:chgData name="Yashas pm" userId="8b913a2008b3f937" providerId="LiveId" clId="{C016AB23-7E0A-435B-9C50-E030669E468E}" dt="2026-06-08T07:56:39.892" v="14" actId="1076"/>
          <ac:spMkLst>
            <pc:docMk/>
            <pc:sldMk cId="0" sldId="257"/>
            <ac:spMk id="26" creationId="{00000000-0000-0000-0000-000000000000}"/>
          </ac:spMkLst>
        </pc:spChg>
      </pc:sldChg>
      <pc:sldChg chg="modSp mod">
        <pc:chgData name="Yashas pm" userId="8b913a2008b3f937" providerId="LiveId" clId="{C016AB23-7E0A-435B-9C50-E030669E468E}" dt="2026-06-08T09:55:01.349" v="87" actId="1037"/>
        <pc:sldMkLst>
          <pc:docMk/>
          <pc:sldMk cId="0" sldId="262"/>
        </pc:sldMkLst>
        <pc:spChg chg="mod">
          <ac:chgData name="Yashas pm" userId="8b913a2008b3f937" providerId="LiveId" clId="{C016AB23-7E0A-435B-9C50-E030669E468E}" dt="2026-06-08T09:54:45.096" v="72" actId="1076"/>
          <ac:spMkLst>
            <pc:docMk/>
            <pc:sldMk cId="0" sldId="262"/>
            <ac:spMk id="16" creationId="{00000000-0000-0000-0000-000000000000}"/>
          </ac:spMkLst>
        </pc:spChg>
        <pc:spChg chg="mod">
          <ac:chgData name="Yashas pm" userId="8b913a2008b3f937" providerId="LiveId" clId="{C016AB23-7E0A-435B-9C50-E030669E468E}" dt="2026-06-08T09:54:56.222" v="81" actId="1037"/>
          <ac:spMkLst>
            <pc:docMk/>
            <pc:sldMk cId="0" sldId="262"/>
            <ac:spMk id="30" creationId="{00000000-0000-0000-0000-000000000000}"/>
          </ac:spMkLst>
        </pc:spChg>
        <pc:spChg chg="mod">
          <ac:chgData name="Yashas pm" userId="8b913a2008b3f937" providerId="LiveId" clId="{C016AB23-7E0A-435B-9C50-E030669E468E}" dt="2026-06-08T09:55:01.349" v="87" actId="1037"/>
          <ac:spMkLst>
            <pc:docMk/>
            <pc:sldMk cId="0" sldId="262"/>
            <ac:spMk id="58" creationId="{00000000-0000-0000-0000-000000000000}"/>
          </ac:spMkLst>
        </pc:spChg>
      </pc:sldChg>
      <pc:sldChg chg="modSp mod">
        <pc:chgData name="Yashas pm" userId="8b913a2008b3f937" providerId="LiveId" clId="{C016AB23-7E0A-435B-9C50-E030669E468E}" dt="2026-06-08T09:56:11.713" v="88" actId="2711"/>
        <pc:sldMkLst>
          <pc:docMk/>
          <pc:sldMk cId="0" sldId="263"/>
        </pc:sldMkLst>
        <pc:spChg chg="mod">
          <ac:chgData name="Yashas pm" userId="8b913a2008b3f937" providerId="LiveId" clId="{C016AB23-7E0A-435B-9C50-E030669E468E}" dt="2026-06-08T09:56:11.713" v="88" actId="2711"/>
          <ac:spMkLst>
            <pc:docMk/>
            <pc:sldMk cId="0" sldId="263"/>
            <ac:spMk id="7" creationId="{00000000-0000-0000-0000-000000000000}"/>
          </ac:spMkLst>
        </pc:spChg>
        <pc:spChg chg="mod">
          <ac:chgData name="Yashas pm" userId="8b913a2008b3f937" providerId="LiveId" clId="{C016AB23-7E0A-435B-9C50-E030669E468E}" dt="2026-06-08T09:56:11.713" v="88" actId="2711"/>
          <ac:spMkLst>
            <pc:docMk/>
            <pc:sldMk cId="0" sldId="263"/>
            <ac:spMk id="8" creationId="{00000000-0000-0000-0000-000000000000}"/>
          </ac:spMkLst>
        </pc:spChg>
        <pc:spChg chg="mod">
          <ac:chgData name="Yashas pm" userId="8b913a2008b3f937" providerId="LiveId" clId="{C016AB23-7E0A-435B-9C50-E030669E468E}" dt="2026-06-08T09:56:11.713" v="88" actId="2711"/>
          <ac:spMkLst>
            <pc:docMk/>
            <pc:sldMk cId="0" sldId="263"/>
            <ac:spMk id="9" creationId="{00000000-0000-0000-0000-000000000000}"/>
          </ac:spMkLst>
        </pc:spChg>
        <pc:spChg chg="mod">
          <ac:chgData name="Yashas pm" userId="8b913a2008b3f937" providerId="LiveId" clId="{C016AB23-7E0A-435B-9C50-E030669E468E}" dt="2026-06-08T09:56:11.713" v="88" actId="2711"/>
          <ac:spMkLst>
            <pc:docMk/>
            <pc:sldMk cId="0" sldId="263"/>
            <ac:spMk id="12" creationId="{00000000-0000-0000-0000-000000000000}"/>
          </ac:spMkLst>
        </pc:spChg>
        <pc:spChg chg="mod">
          <ac:chgData name="Yashas pm" userId="8b913a2008b3f937" providerId="LiveId" clId="{C016AB23-7E0A-435B-9C50-E030669E468E}" dt="2026-06-08T09:56:11.713" v="88" actId="2711"/>
          <ac:spMkLst>
            <pc:docMk/>
            <pc:sldMk cId="0" sldId="263"/>
            <ac:spMk id="17" creationId="{00000000-0000-0000-0000-000000000000}"/>
          </ac:spMkLst>
        </pc:spChg>
        <pc:spChg chg="mod">
          <ac:chgData name="Yashas pm" userId="8b913a2008b3f937" providerId="LiveId" clId="{C016AB23-7E0A-435B-9C50-E030669E468E}" dt="2026-06-08T09:56:11.713" v="88" actId="2711"/>
          <ac:spMkLst>
            <pc:docMk/>
            <pc:sldMk cId="0" sldId="263"/>
            <ac:spMk id="18" creationId="{00000000-0000-0000-0000-000000000000}"/>
          </ac:spMkLst>
        </pc:spChg>
        <pc:spChg chg="mod">
          <ac:chgData name="Yashas pm" userId="8b913a2008b3f937" providerId="LiveId" clId="{C016AB23-7E0A-435B-9C50-E030669E468E}" dt="2026-06-08T09:56:11.713" v="88" actId="2711"/>
          <ac:spMkLst>
            <pc:docMk/>
            <pc:sldMk cId="0" sldId="263"/>
            <ac:spMk id="20" creationId="{00000000-0000-0000-0000-000000000000}"/>
          </ac:spMkLst>
        </pc:spChg>
        <pc:spChg chg="mod">
          <ac:chgData name="Yashas pm" userId="8b913a2008b3f937" providerId="LiveId" clId="{C016AB23-7E0A-435B-9C50-E030669E468E}" dt="2026-06-08T09:56:11.713" v="88" actId="2711"/>
          <ac:spMkLst>
            <pc:docMk/>
            <pc:sldMk cId="0" sldId="263"/>
            <ac:spMk id="24" creationId="{00000000-0000-0000-0000-000000000000}"/>
          </ac:spMkLst>
        </pc:spChg>
        <pc:spChg chg="mod">
          <ac:chgData name="Yashas pm" userId="8b913a2008b3f937" providerId="LiveId" clId="{C016AB23-7E0A-435B-9C50-E030669E468E}" dt="2026-06-08T09:56:11.713" v="88" actId="2711"/>
          <ac:spMkLst>
            <pc:docMk/>
            <pc:sldMk cId="0" sldId="263"/>
            <ac:spMk id="26" creationId="{00000000-0000-0000-0000-000000000000}"/>
          </ac:spMkLst>
        </pc:spChg>
        <pc:spChg chg="mod">
          <ac:chgData name="Yashas pm" userId="8b913a2008b3f937" providerId="LiveId" clId="{C016AB23-7E0A-435B-9C50-E030669E468E}" dt="2026-06-08T09:56:11.713" v="88" actId="2711"/>
          <ac:spMkLst>
            <pc:docMk/>
            <pc:sldMk cId="0" sldId="263"/>
            <ac:spMk id="33" creationId="{00000000-0000-0000-0000-000000000000}"/>
          </ac:spMkLst>
        </pc:spChg>
      </pc:sldChg>
      <pc:sldChg chg="modSp mod">
        <pc:chgData name="Yashas pm" userId="8b913a2008b3f937" providerId="LiveId" clId="{C016AB23-7E0A-435B-9C50-E030669E468E}" dt="2026-06-08T11:13:25.612" v="154" actId="1076"/>
        <pc:sldMkLst>
          <pc:docMk/>
          <pc:sldMk cId="0" sldId="265"/>
        </pc:sldMkLst>
        <pc:spChg chg="mod">
          <ac:chgData name="Yashas pm" userId="8b913a2008b3f937" providerId="LiveId" clId="{C016AB23-7E0A-435B-9C50-E030669E468E}" dt="2026-06-08T11:12:49.119" v="151" actId="14100"/>
          <ac:spMkLst>
            <pc:docMk/>
            <pc:sldMk cId="0" sldId="265"/>
            <ac:spMk id="12" creationId="{00000000-0000-0000-0000-000000000000}"/>
          </ac:spMkLst>
        </pc:spChg>
        <pc:spChg chg="mod">
          <ac:chgData name="Yashas pm" userId="8b913a2008b3f937" providerId="LiveId" clId="{C016AB23-7E0A-435B-9C50-E030669E468E}" dt="2026-06-08T11:12:02.280" v="145" actId="14100"/>
          <ac:spMkLst>
            <pc:docMk/>
            <pc:sldMk cId="0" sldId="265"/>
            <ac:spMk id="16" creationId="{00000000-0000-0000-0000-000000000000}"/>
          </ac:spMkLst>
        </pc:spChg>
        <pc:spChg chg="mod">
          <ac:chgData name="Yashas pm" userId="8b913a2008b3f937" providerId="LiveId" clId="{C016AB23-7E0A-435B-9C50-E030669E468E}" dt="2026-06-08T11:12:19.181" v="147" actId="14100"/>
          <ac:spMkLst>
            <pc:docMk/>
            <pc:sldMk cId="0" sldId="265"/>
            <ac:spMk id="20" creationId="{00000000-0000-0000-0000-000000000000}"/>
          </ac:spMkLst>
        </pc:spChg>
        <pc:spChg chg="mod">
          <ac:chgData name="Yashas pm" userId="8b913a2008b3f937" providerId="LiveId" clId="{C016AB23-7E0A-435B-9C50-E030669E468E}" dt="2026-06-08T11:13:17.767" v="153" actId="1076"/>
          <ac:spMkLst>
            <pc:docMk/>
            <pc:sldMk cId="0" sldId="265"/>
            <ac:spMk id="24" creationId="{00000000-0000-0000-0000-000000000000}"/>
          </ac:spMkLst>
        </pc:spChg>
        <pc:spChg chg="mod">
          <ac:chgData name="Yashas pm" userId="8b913a2008b3f937" providerId="LiveId" clId="{C016AB23-7E0A-435B-9C50-E030669E468E}" dt="2026-06-08T11:13:25.612" v="154" actId="1076"/>
          <ac:spMkLst>
            <pc:docMk/>
            <pc:sldMk cId="0" sldId="265"/>
            <ac:spMk id="25" creationId="{00000000-0000-0000-0000-000000000000}"/>
          </ac:spMkLst>
        </pc:spChg>
        <pc:spChg chg="mod">
          <ac:chgData name="Yashas pm" userId="8b913a2008b3f937" providerId="LiveId" clId="{C016AB23-7E0A-435B-9C50-E030669E468E}" dt="2026-06-08T11:12:27.684" v="148" actId="14100"/>
          <ac:spMkLst>
            <pc:docMk/>
            <pc:sldMk cId="0" sldId="265"/>
            <ac:spMk id="35" creationId="{00000000-0000-0000-0000-000000000000}"/>
          </ac:spMkLst>
        </pc:spChg>
        <pc:spChg chg="mod">
          <ac:chgData name="Yashas pm" userId="8b913a2008b3f937" providerId="LiveId" clId="{C016AB23-7E0A-435B-9C50-E030669E468E}" dt="2026-06-08T11:12:31.101" v="150" actId="1076"/>
          <ac:spMkLst>
            <pc:docMk/>
            <pc:sldMk cId="0" sldId="265"/>
            <ac:spMk id="36" creationId="{00000000-0000-0000-0000-000000000000}"/>
          </ac:spMkLst>
        </pc:spChg>
      </pc:sldChg>
      <pc:sldChg chg="modSp mod">
        <pc:chgData name="Yashas pm" userId="8b913a2008b3f937" providerId="LiveId" clId="{C016AB23-7E0A-435B-9C50-E030669E468E}" dt="2026-06-08T10:37:43.462" v="133" actId="1076"/>
        <pc:sldMkLst>
          <pc:docMk/>
          <pc:sldMk cId="0" sldId="269"/>
        </pc:sldMkLst>
        <pc:spChg chg="mod">
          <ac:chgData name="Yashas pm" userId="8b913a2008b3f937" providerId="LiveId" clId="{C016AB23-7E0A-435B-9C50-E030669E468E}" dt="2026-06-08T10:37:31.596" v="132" actId="688"/>
          <ac:spMkLst>
            <pc:docMk/>
            <pc:sldMk cId="0" sldId="269"/>
            <ac:spMk id="63" creationId="{00000000-0000-0000-0000-000000000000}"/>
          </ac:spMkLst>
        </pc:spChg>
        <pc:spChg chg="mod">
          <ac:chgData name="Yashas pm" userId="8b913a2008b3f937" providerId="LiveId" clId="{C016AB23-7E0A-435B-9C50-E030669E468E}" dt="2026-06-08T10:37:43.462" v="133" actId="1076"/>
          <ac:spMkLst>
            <pc:docMk/>
            <pc:sldMk cId="0" sldId="269"/>
            <ac:spMk id="64" creationId="{00000000-0000-0000-0000-000000000000}"/>
          </ac:spMkLst>
        </pc:spChg>
        <pc:spChg chg="mod">
          <ac:chgData name="Yashas pm" userId="8b913a2008b3f937" providerId="LiveId" clId="{C016AB23-7E0A-435B-9C50-E030669E468E}" dt="2026-06-08T10:37:43.462" v="133" actId="1076"/>
          <ac:spMkLst>
            <pc:docMk/>
            <pc:sldMk cId="0" sldId="269"/>
            <ac:spMk id="65" creationId="{00000000-0000-0000-0000-000000000000}"/>
          </ac:spMkLst>
        </pc:spChg>
        <pc:spChg chg="mod">
          <ac:chgData name="Yashas pm" userId="8b913a2008b3f937" providerId="LiveId" clId="{C016AB23-7E0A-435B-9C50-E030669E468E}" dt="2026-06-08T10:37:43.462" v="133" actId="1076"/>
          <ac:spMkLst>
            <pc:docMk/>
            <pc:sldMk cId="0" sldId="269"/>
            <ac:spMk id="66" creationId="{00000000-0000-0000-0000-000000000000}"/>
          </ac:spMkLst>
        </pc:spChg>
      </pc:sldChg>
      <pc:sldChg chg="modSp mod">
        <pc:chgData name="Yashas pm" userId="8b913a2008b3f937" providerId="LiveId" clId="{C016AB23-7E0A-435B-9C50-E030669E468E}" dt="2026-06-08T10:38:55.785" v="140" actId="1076"/>
        <pc:sldMkLst>
          <pc:docMk/>
          <pc:sldMk cId="0" sldId="270"/>
        </pc:sldMkLst>
        <pc:spChg chg="mod">
          <ac:chgData name="Yashas pm" userId="8b913a2008b3f937" providerId="LiveId" clId="{C016AB23-7E0A-435B-9C50-E030669E468E}" dt="2026-06-08T10:38:22.075" v="134" actId="1076"/>
          <ac:spMkLst>
            <pc:docMk/>
            <pc:sldMk cId="0" sldId="270"/>
            <ac:spMk id="34" creationId="{00000000-0000-0000-0000-000000000000}"/>
          </ac:spMkLst>
        </pc:spChg>
        <pc:spChg chg="mod">
          <ac:chgData name="Yashas pm" userId="8b913a2008b3f937" providerId="LiveId" clId="{C016AB23-7E0A-435B-9C50-E030669E468E}" dt="2026-06-08T10:38:27.580" v="135" actId="1076"/>
          <ac:spMkLst>
            <pc:docMk/>
            <pc:sldMk cId="0" sldId="270"/>
            <ac:spMk id="41" creationId="{00000000-0000-0000-0000-000000000000}"/>
          </ac:spMkLst>
        </pc:spChg>
        <pc:spChg chg="mod">
          <ac:chgData name="Yashas pm" userId="8b913a2008b3f937" providerId="LiveId" clId="{C016AB23-7E0A-435B-9C50-E030669E468E}" dt="2026-06-08T10:38:33.426" v="136" actId="1076"/>
          <ac:spMkLst>
            <pc:docMk/>
            <pc:sldMk cId="0" sldId="270"/>
            <ac:spMk id="48" creationId="{00000000-0000-0000-0000-000000000000}"/>
          </ac:spMkLst>
        </pc:spChg>
        <pc:spChg chg="mod">
          <ac:chgData name="Yashas pm" userId="8b913a2008b3f937" providerId="LiveId" clId="{C016AB23-7E0A-435B-9C50-E030669E468E}" dt="2026-06-08T10:38:38.887" v="137" actId="1076"/>
          <ac:spMkLst>
            <pc:docMk/>
            <pc:sldMk cId="0" sldId="270"/>
            <ac:spMk id="55" creationId="{00000000-0000-0000-0000-000000000000}"/>
          </ac:spMkLst>
        </pc:spChg>
        <pc:spChg chg="mod">
          <ac:chgData name="Yashas pm" userId="8b913a2008b3f937" providerId="LiveId" clId="{C016AB23-7E0A-435B-9C50-E030669E468E}" dt="2026-06-08T10:38:45.270" v="138" actId="1076"/>
          <ac:spMkLst>
            <pc:docMk/>
            <pc:sldMk cId="0" sldId="270"/>
            <ac:spMk id="62" creationId="{00000000-0000-0000-0000-000000000000}"/>
          </ac:spMkLst>
        </pc:spChg>
        <pc:spChg chg="mod">
          <ac:chgData name="Yashas pm" userId="8b913a2008b3f937" providerId="LiveId" clId="{C016AB23-7E0A-435B-9C50-E030669E468E}" dt="2026-06-08T10:38:50.802" v="139" actId="1076"/>
          <ac:spMkLst>
            <pc:docMk/>
            <pc:sldMk cId="0" sldId="270"/>
            <ac:spMk id="69" creationId="{00000000-0000-0000-0000-000000000000}"/>
          </ac:spMkLst>
        </pc:spChg>
        <pc:spChg chg="mod">
          <ac:chgData name="Yashas pm" userId="8b913a2008b3f937" providerId="LiveId" clId="{C016AB23-7E0A-435B-9C50-E030669E468E}" dt="2026-06-08T10:38:55.785" v="140" actId="1076"/>
          <ac:spMkLst>
            <pc:docMk/>
            <pc:sldMk cId="0" sldId="270"/>
            <ac:spMk id="76" creationId="{00000000-0000-0000-0000-000000000000}"/>
          </ac:spMkLst>
        </pc:spChg>
      </pc:sldChg>
      <pc:sldChg chg="modSp mod">
        <pc:chgData name="Yashas pm" userId="8b913a2008b3f937" providerId="LiveId" clId="{C016AB23-7E0A-435B-9C50-E030669E468E}" dt="2026-06-08T10:00:11.043" v="93" actId="14100"/>
        <pc:sldMkLst>
          <pc:docMk/>
          <pc:sldMk cId="0" sldId="273"/>
        </pc:sldMkLst>
        <pc:spChg chg="mod">
          <ac:chgData name="Yashas pm" userId="8b913a2008b3f937" providerId="LiveId" clId="{C016AB23-7E0A-435B-9C50-E030669E468E}" dt="2026-06-08T10:00:11.043" v="93" actId="14100"/>
          <ac:spMkLst>
            <pc:docMk/>
            <pc:sldMk cId="0" sldId="273"/>
            <ac:spMk id="2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3781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dirty="0"/>
              <a:t>Welcome. I'm going to walk you through </a:t>
            </a:r>
            <a:r>
              <a:rPr dirty="0" err="1"/>
              <a:t>BugLens</a:t>
            </a:r>
            <a:r>
              <a:rPr dirty="0"/>
              <a:t>, a full-stack defect quality checker I built to solve a real QA problem. The platform validates defect reports, scores their quality, and generates AI-assisted rewrites so engineers receive actionable, well-structured tickets instead of vague ones.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dirty="0"/>
              <a:t>Three-column executive summary. The problem: poor defect quality costs teams debugging time. The solution: automated validation + scoring + rewrite. The business value: quantifiable quality gates and REST API integration. Hit each column in order — spend about 30 seconds per column.</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The left stat anchors the problem with a quantified impact. Walk through each pain point on the right — these directly map to the validation checks BugLens implements. When asked 'why did you build this?', this is slide is your evidence.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Six clear objectives mapped to deliverables. Notice that objective 5 (REST API) shows this isn't just a UI tool — it's a platform. When asked about scope, reference these objectives as the requirements baseline.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Two-column FR/NFR split. The FR numbers (FR-01 to FR-10) map directly to what you can demo in the running app. NFRs show maturity — reliability without OpenAI, testability, and portability are strong engineering practices to highlight.</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Walk top-to-bottom. The key architectural decision is that the Streamlit UI and the FastAPI backend share the same analysis engine — there's no duplication. The modules (Validator, Scorer, Rewriter) are independently testable. This maps directly to our unit testing strategy on the next few slides.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Eight technology cards. Emphasise two decisions: (1) local fallback for the rewrite means no runtime dependency on OpenAI — the system is always available; (2) FastAPI + Swagger means the entire backend is self-documented and consumable by any tool including Postman.</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Mountain-chart style SDLC diagram — bars rise then fall to show the iterative nature. Phases 4 and 5 (Development and Testing) are the tallest, reflecting where most effort went. Walk through each phase and mention the specific deliverable. E.g., phase 1 produced the BRD, phase 5 produced 72 regression test cases.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This table is your proof that you followed a structured SDLC and not just 'coded and tested'. Point to specific artifacts — the BRD is in interview_prep/09_brd.md, the test reports are in 11-14_*_testing_report.md. Interviewers love seeing artifacts linked to SDLC phases.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The V-Model shows that every development phase has a corresponding testing phase on the right arm. Walk the left side (what you designed) then the right side (how you verified it). The double arrows at the bottom show the direct mapping. This is a strong signal to interviewers that you understand verification vs. validation.</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Six STLC phases as vertical columns. Walk each column in 15–20 seconds. Key points: Test Planning drove our choice of pytest and TestClient; Test Case Design produced 72+ regression cases that are version-controlled alongside the source code; Test Closure included a formal defect triage meeting mapped to the defect log on slide 18.</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Show the KPI row first: 24 tests, 100% pass rate. Then walk through 5–6 representative test cases. Key ones to mention: TC-004 (strong report passing cleanly), TC-011 (API returns all 4 keys), TC-016 (UI end-to-end trigger). If asked for evidence, reference the full Excel file (Functional_Test_Cases_24.xlsx).</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37 integration tests across 8 module boundaries. The key insight: every arrow in the architecture diagram on slide 6 has corresponding integration tests. Walk through 3–4 pairs: Validator→Scorer shows data flows correctly; API→Storage shows persistence after /analyze; UI→Analyzer shows the full round-trip from the form to the output panel.</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System testing is black-box — you're testing the whole product, not individual modules. Walk through the workflow arrow diagram: this is exactly what you'd show in a live demo. Then reference the category table. Highlight the Security Baseline row — testing for XSS and SQL injection shows enterprise maturity.</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The regression suite is the safety net — run it after any code change. Key selling point: it maps directly to a change-trigger matrix. Change validator.py → re-run Areas 1 &amp; 2. Change api.py → re-run Area 4. This shows you understand CI/CD principles even without a formal pipeline.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All five metrics are green. The key performance decision: local rewrite mode means no network latency to OpenAI, which is why we achieve sub-2-second response times. If asked about optimization, mention the created_ts index on the SQLite table which makes history queries fast even with 100 rows.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UAT is business acceptance — not technical. The four personas are real archetypes from the BRD. Maya represents the primary user. Ravi is the developer consuming the rewrite. Nina is analytics-focused. Omar is API-first. All 5 business requirements are formally accepted. Mention that you used the BRD as the acceptance criteria baseline.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This defect log is evidence of a mature testing process. You didn't just 'test and say it passed' — you found real issues and documented them. Key ones to discuss: SDEF-01 (the Compare page crash) shows you found a real runtime bug through system testing. SDEF-02 (SMTP settings lost) shows you tested persistence across page state. Accepted defects show you understand triage vs. fix priority.</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The testing dashboard is your closing proof point for quality. Total: 216 test cases, all green. Walk the five rows — each represents a different testing type at a different level of the test pyramid. End with: 'Every module, every API endpoint, and every user scenario is covered and documented.'</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Use this slide as your live demo script. Seven numbered steps — follow them in order when screensharing. Step 03 (&lt; 2 second analysis) is the wow moment. Step 05 (inline issue cards) shows the UX improvement from expanders to always-visible cards. Step 07 shows the persistence layer is working.</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Challenges are a common interview question. Don't just say 'it was hard' — show problem → root cause → specific fix. The nested f-string issue is a good technical anecdote (Python version-specific behaviour). The SMTP persistence issue shows you understand stateless UI frameworks. The OpenAI-free CI story shows you designed for real environments.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Future enhancements show strategic thinking beyond just completing the assignment. The Jira integration and Cloud Deployment are the most interview-relevant — they show you understand how this would work in a real enterprise. The Defect Prediction item shows ML awareness. Keep timelines approximate — they demonstrate planning maturity.</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Learnings show reflection — a sign of a mature engineer. For each category, pick the most surprising or non-obvious learning to elaborate on. For example, under Testing: 'I learned that integration tests caught bugs that unit tests missed — the storage serialisation issue was invisible at the unit level.'</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Closing summary. Lead with the numbers: 216 tests, 100% pass rate. Then connect to business value — 'This platform directly reduces the cost of poor quality in software teams.' End with the architecture point — 'Because of the modular design, adding Jira integration is a single new module, not a rewrite.'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Closing slide. After presenting, leave this on screen during Q&amp;A. The four anticipated questions at the bottom are ones interviewers commonly ask — you should have crisp answers ready for each. Most important: 'Walk me through a defect that failed your tests' — use SDEF-01 (Compare page crash) as your example.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7132320" y="0"/>
            <a:ext cx="50292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132320" y="0"/>
            <a:ext cx="54864"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595360" y="365760"/>
            <a:ext cx="2011680" cy="2011680"/>
          </a:xfrm>
          <a:prstGeom prst="roundRect">
            <a:avLst/>
          </a:prstGeom>
          <a:solidFill>
            <a:srgbClr val="1D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49840" y="3291840"/>
            <a:ext cx="1645920" cy="1645920"/>
          </a:xfrm>
          <a:prstGeom prst="roundRect">
            <a:avLst/>
          </a:prstGeom>
          <a:solidFill>
            <a:srgbClr val="142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589520" y="4389120"/>
            <a:ext cx="1280160" cy="12801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548640"/>
            <a:ext cx="1005840" cy="10058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594360"/>
            <a:ext cx="1005840" cy="822960"/>
          </a:xfrm>
          <a:prstGeom prst="rect">
            <a:avLst/>
          </a:prstGeom>
          <a:noFill/>
        </p:spPr>
        <p:txBody>
          <a:bodyPr wrap="square">
            <a:spAutoFit/>
          </a:bodyPr>
          <a:lstStyle/>
          <a:p>
            <a:pPr algn="ctr"/>
            <a:r>
              <a:rPr sz="3000" b="1" i="0">
                <a:solidFill>
                  <a:srgbClr val="FFFFFF"/>
                </a:solidFill>
              </a:rPr>
              <a:t>BL</a:t>
            </a:r>
          </a:p>
        </p:txBody>
      </p:sp>
      <p:sp>
        <p:nvSpPr>
          <p:cNvPr id="9" name="TextBox 8"/>
          <p:cNvSpPr txBox="1"/>
          <p:nvPr/>
        </p:nvSpPr>
        <p:spPr>
          <a:xfrm>
            <a:off x="365760" y="1737360"/>
            <a:ext cx="6400800" cy="1371600"/>
          </a:xfrm>
          <a:prstGeom prst="rect">
            <a:avLst/>
          </a:prstGeom>
          <a:noFill/>
        </p:spPr>
        <p:txBody>
          <a:bodyPr wrap="square">
            <a:spAutoFit/>
          </a:bodyPr>
          <a:lstStyle/>
          <a:p>
            <a:pPr algn="l"/>
            <a:r>
              <a:rPr sz="6400" b="1" i="0">
                <a:solidFill>
                  <a:srgbClr val="FFFFFF"/>
                </a:solidFill>
              </a:rPr>
              <a:t>BugLens</a:t>
            </a:r>
          </a:p>
        </p:txBody>
      </p:sp>
      <p:sp>
        <p:nvSpPr>
          <p:cNvPr id="10" name="TextBox 9"/>
          <p:cNvSpPr txBox="1"/>
          <p:nvPr/>
        </p:nvSpPr>
        <p:spPr>
          <a:xfrm>
            <a:off x="365760" y="3108960"/>
            <a:ext cx="6400800" cy="640080"/>
          </a:xfrm>
          <a:prstGeom prst="rect">
            <a:avLst/>
          </a:prstGeom>
          <a:noFill/>
        </p:spPr>
        <p:txBody>
          <a:bodyPr wrap="square">
            <a:spAutoFit/>
          </a:bodyPr>
          <a:lstStyle/>
          <a:p>
            <a:pPr algn="l"/>
            <a:r>
              <a:rPr sz="2600" b="0" i="0">
                <a:solidFill>
                  <a:srgbClr val="A5F3FC"/>
                </a:solidFill>
              </a:rPr>
              <a:t>Defect Quality Checker</a:t>
            </a:r>
          </a:p>
        </p:txBody>
      </p:sp>
      <p:sp>
        <p:nvSpPr>
          <p:cNvPr id="11" name="Rectangle 10"/>
          <p:cNvSpPr/>
          <p:nvPr/>
        </p:nvSpPr>
        <p:spPr>
          <a:xfrm>
            <a:off x="365760" y="3749039"/>
            <a:ext cx="228600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3886200"/>
            <a:ext cx="6400800" cy="457200"/>
          </a:xfrm>
          <a:prstGeom prst="rect">
            <a:avLst/>
          </a:prstGeom>
          <a:noFill/>
        </p:spPr>
        <p:txBody>
          <a:bodyPr wrap="square">
            <a:spAutoFit/>
          </a:bodyPr>
          <a:lstStyle/>
          <a:p>
            <a:pPr algn="l"/>
            <a:r>
              <a:rPr sz="1300" b="0" i="1">
                <a:solidFill>
                  <a:srgbClr val="94A3B8"/>
                </a:solidFill>
              </a:rPr>
              <a:t>Intelligent Defect Validation &amp; Quality Assessment Platform</a:t>
            </a:r>
          </a:p>
        </p:txBody>
      </p:sp>
      <p:sp>
        <p:nvSpPr>
          <p:cNvPr id="13" name="Rounded Rectangle 12"/>
          <p:cNvSpPr/>
          <p:nvPr/>
        </p:nvSpPr>
        <p:spPr>
          <a:xfrm>
            <a:off x="365760" y="4663440"/>
            <a:ext cx="128016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4681728"/>
            <a:ext cx="1280160" cy="310896"/>
          </a:xfrm>
          <a:prstGeom prst="rect">
            <a:avLst/>
          </a:prstGeom>
          <a:noFill/>
        </p:spPr>
        <p:txBody>
          <a:bodyPr wrap="square">
            <a:spAutoFit/>
          </a:bodyPr>
          <a:lstStyle/>
          <a:p>
            <a:pPr algn="ctr"/>
            <a:r>
              <a:rPr sz="1000" b="1" i="0">
                <a:solidFill>
                  <a:srgbClr val="FFFFFF"/>
                </a:solidFill>
              </a:rPr>
              <a:t>Python</a:t>
            </a:r>
          </a:p>
        </p:txBody>
      </p:sp>
      <p:sp>
        <p:nvSpPr>
          <p:cNvPr id="15" name="Rounded Rectangle 14"/>
          <p:cNvSpPr/>
          <p:nvPr/>
        </p:nvSpPr>
        <p:spPr>
          <a:xfrm>
            <a:off x="1828800" y="4663440"/>
            <a:ext cx="1280160" cy="34747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828800" y="4681728"/>
            <a:ext cx="1280160" cy="310896"/>
          </a:xfrm>
          <a:prstGeom prst="rect">
            <a:avLst/>
          </a:prstGeom>
          <a:noFill/>
        </p:spPr>
        <p:txBody>
          <a:bodyPr wrap="square">
            <a:spAutoFit/>
          </a:bodyPr>
          <a:lstStyle/>
          <a:p>
            <a:pPr algn="ctr"/>
            <a:r>
              <a:rPr sz="1000" b="1" i="0">
                <a:solidFill>
                  <a:srgbClr val="FFFFFF"/>
                </a:solidFill>
              </a:rPr>
              <a:t>FastAPI</a:t>
            </a:r>
          </a:p>
        </p:txBody>
      </p:sp>
      <p:sp>
        <p:nvSpPr>
          <p:cNvPr id="17" name="Rounded Rectangle 16"/>
          <p:cNvSpPr/>
          <p:nvPr/>
        </p:nvSpPr>
        <p:spPr>
          <a:xfrm>
            <a:off x="3291840" y="4663440"/>
            <a:ext cx="1280160" cy="34747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91840" y="4681728"/>
            <a:ext cx="1280160" cy="310896"/>
          </a:xfrm>
          <a:prstGeom prst="rect">
            <a:avLst/>
          </a:prstGeom>
          <a:noFill/>
        </p:spPr>
        <p:txBody>
          <a:bodyPr wrap="square">
            <a:spAutoFit/>
          </a:bodyPr>
          <a:lstStyle/>
          <a:p>
            <a:pPr algn="ctr"/>
            <a:r>
              <a:rPr sz="1000" b="1" i="0">
                <a:solidFill>
                  <a:srgbClr val="FFFFFF"/>
                </a:solidFill>
              </a:rPr>
              <a:t>Streamlit</a:t>
            </a:r>
          </a:p>
        </p:txBody>
      </p:sp>
      <p:sp>
        <p:nvSpPr>
          <p:cNvPr id="19" name="Rounded Rectangle 18"/>
          <p:cNvSpPr/>
          <p:nvPr/>
        </p:nvSpPr>
        <p:spPr>
          <a:xfrm>
            <a:off x="4754880" y="4663440"/>
            <a:ext cx="1280160" cy="34747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54880" y="4681728"/>
            <a:ext cx="1280160" cy="310896"/>
          </a:xfrm>
          <a:prstGeom prst="rect">
            <a:avLst/>
          </a:prstGeom>
          <a:noFill/>
        </p:spPr>
        <p:txBody>
          <a:bodyPr wrap="square">
            <a:spAutoFit/>
          </a:bodyPr>
          <a:lstStyle/>
          <a:p>
            <a:pPr algn="ctr"/>
            <a:r>
              <a:rPr sz="1000" b="1" i="0">
                <a:solidFill>
                  <a:srgbClr val="FFFFFF"/>
                </a:solidFill>
              </a:rPr>
              <a:t>Pytest</a:t>
            </a:r>
          </a:p>
        </p:txBody>
      </p:sp>
      <p:sp>
        <p:nvSpPr>
          <p:cNvPr id="21" name="TextBox 20"/>
          <p:cNvSpPr txBox="1"/>
          <p:nvPr/>
        </p:nvSpPr>
        <p:spPr>
          <a:xfrm>
            <a:off x="365760" y="6035040"/>
            <a:ext cx="4572000" cy="261610"/>
          </a:xfrm>
          <a:prstGeom prst="rect">
            <a:avLst/>
          </a:prstGeom>
          <a:noFill/>
        </p:spPr>
        <p:txBody>
          <a:bodyPr wrap="square">
            <a:spAutoFit/>
          </a:bodyPr>
          <a:lstStyle/>
          <a:p>
            <a:pPr algn="l"/>
            <a:r>
              <a:rPr sz="1100" b="0" i="0" dirty="0">
                <a:solidFill>
                  <a:srgbClr val="475569"/>
                </a:solidFill>
              </a:rPr>
              <a:t>Presented by  ·  </a:t>
            </a:r>
            <a:r>
              <a:rPr lang="en-US" sz="1100" dirty="0">
                <a:solidFill>
                  <a:srgbClr val="475569"/>
                </a:solidFill>
              </a:rPr>
              <a:t>Harshith P</a:t>
            </a:r>
            <a:endParaRPr sz="1100" b="0" i="0" dirty="0">
              <a:solidFill>
                <a:srgbClr val="47556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Executive Summary</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Problem → Solution → Business Value</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02</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320040" y="1051560"/>
            <a:ext cx="3566160" cy="521208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 y="1051560"/>
            <a:ext cx="356616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691640" y="1234440"/>
            <a:ext cx="822960" cy="82296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691640" y="1419819"/>
            <a:ext cx="822960" cy="822960"/>
          </a:xfrm>
          <a:prstGeom prst="rect">
            <a:avLst/>
          </a:prstGeom>
          <a:noFill/>
        </p:spPr>
        <p:txBody>
          <a:bodyPr wrap="square">
            <a:spAutoFit/>
          </a:bodyPr>
          <a:lstStyle/>
          <a:p>
            <a:pPr algn="ctr"/>
            <a:r>
              <a:rPr sz="2000" b="1" i="0">
                <a:solidFill>
                  <a:srgbClr val="FFFFFF"/>
                </a:solidFill>
              </a:rPr>
              <a:t>⚠</a:t>
            </a:r>
          </a:p>
        </p:txBody>
      </p:sp>
      <p:sp>
        <p:nvSpPr>
          <p:cNvPr id="13" name="TextBox 12"/>
          <p:cNvSpPr txBox="1">
            <a:spLocks/>
          </p:cNvSpPr>
          <p:nvPr/>
        </p:nvSpPr>
        <p:spPr>
          <a:xfrm>
            <a:off x="411480" y="2400721"/>
            <a:ext cx="3291840" cy="457200"/>
          </a:xfrm>
          <a:prstGeom prst="rect">
            <a:avLst/>
          </a:prstGeom>
          <a:noFill/>
        </p:spPr>
        <p:txBody>
          <a:bodyPr wrap="square">
            <a:spAutoFit/>
          </a:bodyPr>
          <a:lstStyle/>
          <a:p>
            <a:pPr algn="ctr"/>
            <a:r>
              <a:rPr sz="1800" b="1" i="0" dirty="0">
                <a:solidFill>
                  <a:srgbClr val="FFFFFF"/>
                </a:solidFill>
              </a:rPr>
              <a:t>The Problem</a:t>
            </a:r>
          </a:p>
        </p:txBody>
      </p:sp>
      <p:sp>
        <p:nvSpPr>
          <p:cNvPr id="14" name="TextBox 13"/>
          <p:cNvSpPr txBox="1"/>
          <p:nvPr/>
        </p:nvSpPr>
        <p:spPr>
          <a:xfrm>
            <a:off x="548640" y="3276876"/>
            <a:ext cx="3200400" cy="3291840"/>
          </a:xfrm>
          <a:prstGeom prst="rect">
            <a:avLst/>
          </a:prstGeom>
          <a:noFill/>
        </p:spPr>
        <p:txBody>
          <a:bodyPr wrap="square">
            <a:spAutoFit/>
          </a:bodyPr>
          <a:lstStyle/>
          <a:p>
            <a:pPr algn="l"/>
            <a:r>
              <a:rPr sz="1200" b="0" i="0">
                <a:solidFill>
                  <a:srgbClr val="94A3B8"/>
                </a:solidFill>
              </a:rPr>
              <a:t>QA teams submit vague, incomplete defect reports — missing steps, unclear environments, no expected vs. actual outcome. Developers waste hours chasing context.</a:t>
            </a:r>
          </a:p>
        </p:txBody>
      </p:sp>
      <p:sp>
        <p:nvSpPr>
          <p:cNvPr id="15" name="Rounded Rectangle 14"/>
          <p:cNvSpPr/>
          <p:nvPr/>
        </p:nvSpPr>
        <p:spPr>
          <a:xfrm>
            <a:off x="4142232" y="1084812"/>
            <a:ext cx="3566160" cy="521208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142232" y="1051560"/>
            <a:ext cx="356616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513832" y="1234440"/>
            <a:ext cx="822960" cy="8229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513832" y="1428127"/>
            <a:ext cx="822960" cy="822960"/>
          </a:xfrm>
          <a:prstGeom prst="rect">
            <a:avLst/>
          </a:prstGeom>
          <a:noFill/>
        </p:spPr>
        <p:txBody>
          <a:bodyPr wrap="square">
            <a:spAutoFit/>
          </a:bodyPr>
          <a:lstStyle/>
          <a:p>
            <a:pPr algn="ctr"/>
            <a:r>
              <a:rPr sz="2000" b="1" i="0" dirty="0">
                <a:solidFill>
                  <a:srgbClr val="FFFFFF"/>
                </a:solidFill>
              </a:rPr>
              <a:t>✦</a:t>
            </a:r>
          </a:p>
        </p:txBody>
      </p:sp>
      <p:sp>
        <p:nvSpPr>
          <p:cNvPr id="19" name="TextBox 18"/>
          <p:cNvSpPr txBox="1"/>
          <p:nvPr/>
        </p:nvSpPr>
        <p:spPr>
          <a:xfrm>
            <a:off x="4279392" y="2450592"/>
            <a:ext cx="3291840" cy="457200"/>
          </a:xfrm>
          <a:prstGeom prst="rect">
            <a:avLst/>
          </a:prstGeom>
          <a:noFill/>
        </p:spPr>
        <p:txBody>
          <a:bodyPr wrap="square">
            <a:spAutoFit/>
          </a:bodyPr>
          <a:lstStyle/>
          <a:p>
            <a:pPr algn="ctr"/>
            <a:r>
              <a:rPr sz="1800" b="1" i="0" dirty="0">
                <a:solidFill>
                  <a:srgbClr val="FFFFFF"/>
                </a:solidFill>
              </a:rPr>
              <a:t>The Solution</a:t>
            </a:r>
          </a:p>
        </p:txBody>
      </p:sp>
      <p:sp>
        <p:nvSpPr>
          <p:cNvPr id="20" name="TextBox 19"/>
          <p:cNvSpPr txBox="1"/>
          <p:nvPr/>
        </p:nvSpPr>
        <p:spPr>
          <a:xfrm>
            <a:off x="4325112" y="3255264"/>
            <a:ext cx="3200400" cy="3291840"/>
          </a:xfrm>
          <a:prstGeom prst="rect">
            <a:avLst/>
          </a:prstGeom>
          <a:noFill/>
        </p:spPr>
        <p:txBody>
          <a:bodyPr wrap="square">
            <a:spAutoFit/>
          </a:bodyPr>
          <a:lstStyle/>
          <a:p>
            <a:pPr algn="l"/>
            <a:r>
              <a:rPr sz="1200" b="0" i="0" dirty="0" err="1">
                <a:solidFill>
                  <a:srgbClr val="94A3B8"/>
                </a:solidFill>
              </a:rPr>
              <a:t>BugLens</a:t>
            </a:r>
            <a:r>
              <a:rPr sz="1200" b="0" i="0" dirty="0">
                <a:solidFill>
                  <a:srgbClr val="94A3B8"/>
                </a:solidFill>
              </a:rPr>
              <a:t> validates every field, scores report quality 0–100, surfaces specific issues with fix suggestions, and rewrites the ticket into a professional, developer-ready format.</a:t>
            </a:r>
          </a:p>
        </p:txBody>
      </p:sp>
      <p:sp>
        <p:nvSpPr>
          <p:cNvPr id="21" name="Rounded Rectangle 20"/>
          <p:cNvSpPr/>
          <p:nvPr/>
        </p:nvSpPr>
        <p:spPr>
          <a:xfrm>
            <a:off x="7964424" y="1051560"/>
            <a:ext cx="3566160" cy="521208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964424" y="1051560"/>
            <a:ext cx="356616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336024" y="1234440"/>
            <a:ext cx="822960" cy="82296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36024" y="1419816"/>
            <a:ext cx="822960" cy="822960"/>
          </a:xfrm>
          <a:prstGeom prst="rect">
            <a:avLst/>
          </a:prstGeom>
          <a:noFill/>
        </p:spPr>
        <p:txBody>
          <a:bodyPr wrap="square">
            <a:spAutoFit/>
          </a:bodyPr>
          <a:lstStyle/>
          <a:p>
            <a:pPr algn="ctr"/>
            <a:r>
              <a:rPr sz="2000" b="1" i="0" dirty="0">
                <a:solidFill>
                  <a:srgbClr val="FFFFFF"/>
                </a:solidFill>
              </a:rPr>
              <a:t>◎</a:t>
            </a:r>
          </a:p>
        </p:txBody>
      </p:sp>
      <p:sp>
        <p:nvSpPr>
          <p:cNvPr id="25" name="TextBox 24"/>
          <p:cNvSpPr txBox="1"/>
          <p:nvPr/>
        </p:nvSpPr>
        <p:spPr>
          <a:xfrm>
            <a:off x="8101584" y="2448515"/>
            <a:ext cx="3291840" cy="457200"/>
          </a:xfrm>
          <a:prstGeom prst="rect">
            <a:avLst/>
          </a:prstGeom>
          <a:noFill/>
        </p:spPr>
        <p:txBody>
          <a:bodyPr wrap="square">
            <a:spAutoFit/>
          </a:bodyPr>
          <a:lstStyle/>
          <a:p>
            <a:pPr algn="ctr"/>
            <a:r>
              <a:rPr sz="1800" b="1" i="0" dirty="0">
                <a:solidFill>
                  <a:srgbClr val="FFFFFF"/>
                </a:solidFill>
              </a:rPr>
              <a:t>Business Value</a:t>
            </a:r>
          </a:p>
        </p:txBody>
      </p:sp>
      <p:sp>
        <p:nvSpPr>
          <p:cNvPr id="26" name="TextBox 25"/>
          <p:cNvSpPr txBox="1"/>
          <p:nvPr/>
        </p:nvSpPr>
        <p:spPr>
          <a:xfrm>
            <a:off x="8147304" y="3255264"/>
            <a:ext cx="3200400" cy="3291840"/>
          </a:xfrm>
          <a:prstGeom prst="rect">
            <a:avLst/>
          </a:prstGeom>
          <a:noFill/>
        </p:spPr>
        <p:txBody>
          <a:bodyPr wrap="square">
            <a:spAutoFit/>
          </a:bodyPr>
          <a:lstStyle/>
          <a:p>
            <a:pPr algn="l"/>
            <a:r>
              <a:rPr sz="1200" b="0" i="0" dirty="0">
                <a:solidFill>
                  <a:srgbClr val="94A3B8"/>
                </a:solidFill>
              </a:rPr>
              <a:t>Fewer clarification cycles, faster resolution times, measurable quality gates, and a scalable REST API that plugs into any CI/CD or issue-tracking workflow.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Problem Analysis</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Root causes and impact of poor defect reporting</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03</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320040" y="1097280"/>
            <a:ext cx="3657600" cy="52120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 y="1097280"/>
            <a:ext cx="365760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1371600"/>
            <a:ext cx="3383280" cy="1280160"/>
          </a:xfrm>
          <a:prstGeom prst="rect">
            <a:avLst/>
          </a:prstGeom>
          <a:noFill/>
        </p:spPr>
        <p:txBody>
          <a:bodyPr wrap="square">
            <a:spAutoFit/>
          </a:bodyPr>
          <a:lstStyle/>
          <a:p>
            <a:pPr algn="ctr"/>
            <a:r>
              <a:rPr sz="7200" b="1" i="0">
                <a:solidFill>
                  <a:srgbClr val="DC2626"/>
                </a:solidFill>
              </a:rPr>
              <a:t>60%</a:t>
            </a:r>
          </a:p>
        </p:txBody>
      </p:sp>
      <p:sp>
        <p:nvSpPr>
          <p:cNvPr id="12" name="TextBox 11"/>
          <p:cNvSpPr txBox="1"/>
          <p:nvPr/>
        </p:nvSpPr>
        <p:spPr>
          <a:xfrm>
            <a:off x="457200" y="2606040"/>
            <a:ext cx="3383280" cy="1005840"/>
          </a:xfrm>
          <a:prstGeom prst="rect">
            <a:avLst/>
          </a:prstGeom>
          <a:noFill/>
        </p:spPr>
        <p:txBody>
          <a:bodyPr wrap="square">
            <a:spAutoFit/>
          </a:bodyPr>
          <a:lstStyle/>
          <a:p>
            <a:pPr algn="ctr"/>
            <a:r>
              <a:rPr sz="1200" b="0" i="0">
                <a:solidFill>
                  <a:srgbClr val="94A3B8"/>
                </a:solidFill>
              </a:rPr>
              <a:t>of defect tickets require
at least one follow-up
clarification comment</a:t>
            </a:r>
          </a:p>
        </p:txBody>
      </p:sp>
      <p:sp>
        <p:nvSpPr>
          <p:cNvPr id="13" name="TextBox 12"/>
          <p:cNvSpPr txBox="1"/>
          <p:nvPr/>
        </p:nvSpPr>
        <p:spPr>
          <a:xfrm>
            <a:off x="457200" y="3657600"/>
            <a:ext cx="3383280" cy="274320"/>
          </a:xfrm>
          <a:prstGeom prst="rect">
            <a:avLst/>
          </a:prstGeom>
          <a:noFill/>
        </p:spPr>
        <p:txBody>
          <a:bodyPr wrap="square">
            <a:spAutoFit/>
          </a:bodyPr>
          <a:lstStyle/>
          <a:p>
            <a:pPr algn="ctr"/>
            <a:r>
              <a:rPr sz="800" b="0" i="1">
                <a:solidFill>
                  <a:srgbClr val="475569"/>
                </a:solidFill>
              </a:rPr>
              <a:t>Industry research — QA cost-of-quality studies</a:t>
            </a:r>
          </a:p>
        </p:txBody>
      </p:sp>
      <p:sp>
        <p:nvSpPr>
          <p:cNvPr id="14" name="Rectangle 13"/>
          <p:cNvSpPr/>
          <p:nvPr/>
        </p:nvSpPr>
        <p:spPr>
          <a:xfrm>
            <a:off x="457200" y="4114800"/>
            <a:ext cx="3291840" cy="36576"/>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160520" y="1143000"/>
            <a:ext cx="7772400" cy="1115568"/>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160520" y="1143000"/>
            <a:ext cx="91440" cy="111556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25112" y="1234440"/>
            <a:ext cx="7516368" cy="320040"/>
          </a:xfrm>
          <a:prstGeom prst="rect">
            <a:avLst/>
          </a:prstGeom>
          <a:noFill/>
        </p:spPr>
        <p:txBody>
          <a:bodyPr wrap="square">
            <a:spAutoFit/>
          </a:bodyPr>
          <a:lstStyle/>
          <a:p>
            <a:pPr algn="l"/>
            <a:r>
              <a:rPr sz="1300" b="1" i="0">
                <a:solidFill>
                  <a:srgbClr val="FFFFFF"/>
                </a:solidFill>
              </a:rPr>
              <a:t>Missing reproduction steps</a:t>
            </a:r>
          </a:p>
        </p:txBody>
      </p:sp>
      <p:sp>
        <p:nvSpPr>
          <p:cNvPr id="18" name="TextBox 17"/>
          <p:cNvSpPr txBox="1"/>
          <p:nvPr/>
        </p:nvSpPr>
        <p:spPr>
          <a:xfrm>
            <a:off x="4325112" y="1527048"/>
            <a:ext cx="7516368" cy="640080"/>
          </a:xfrm>
          <a:prstGeom prst="rect">
            <a:avLst/>
          </a:prstGeom>
          <a:noFill/>
        </p:spPr>
        <p:txBody>
          <a:bodyPr wrap="square">
            <a:spAutoFit/>
          </a:bodyPr>
          <a:lstStyle/>
          <a:p>
            <a:pPr algn="l"/>
            <a:r>
              <a:rPr sz="1000" b="0" i="0">
                <a:solidFill>
                  <a:srgbClr val="94A3B8"/>
                </a:solidFill>
              </a:rPr>
              <a:t>Dev cannot reproduce; ticket bounces back to QA</a:t>
            </a:r>
          </a:p>
        </p:txBody>
      </p:sp>
      <p:sp>
        <p:nvSpPr>
          <p:cNvPr id="19" name="Rounded Rectangle 18"/>
          <p:cNvSpPr/>
          <p:nvPr/>
        </p:nvSpPr>
        <p:spPr>
          <a:xfrm>
            <a:off x="4160520" y="2377440"/>
            <a:ext cx="7772400" cy="1115568"/>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160520" y="2377440"/>
            <a:ext cx="91440" cy="111556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25112" y="2468880"/>
            <a:ext cx="7516368" cy="320040"/>
          </a:xfrm>
          <a:prstGeom prst="rect">
            <a:avLst/>
          </a:prstGeom>
          <a:noFill/>
        </p:spPr>
        <p:txBody>
          <a:bodyPr wrap="square">
            <a:spAutoFit/>
          </a:bodyPr>
          <a:lstStyle/>
          <a:p>
            <a:pPr algn="l"/>
            <a:r>
              <a:rPr sz="1300" b="1" i="0">
                <a:solidFill>
                  <a:srgbClr val="FFFFFF"/>
                </a:solidFill>
              </a:rPr>
              <a:t>No environment context</a:t>
            </a:r>
          </a:p>
        </p:txBody>
      </p:sp>
      <p:sp>
        <p:nvSpPr>
          <p:cNvPr id="22" name="TextBox 21"/>
          <p:cNvSpPr txBox="1"/>
          <p:nvPr/>
        </p:nvSpPr>
        <p:spPr>
          <a:xfrm>
            <a:off x="4325112" y="2761488"/>
            <a:ext cx="7516368" cy="640080"/>
          </a:xfrm>
          <a:prstGeom prst="rect">
            <a:avLst/>
          </a:prstGeom>
          <a:noFill/>
        </p:spPr>
        <p:txBody>
          <a:bodyPr wrap="square">
            <a:spAutoFit/>
          </a:bodyPr>
          <a:lstStyle/>
          <a:p>
            <a:pPr algn="l"/>
            <a:r>
              <a:rPr sz="1000" b="0" i="0">
                <a:solidFill>
                  <a:srgbClr val="94A3B8"/>
                </a:solidFill>
              </a:rPr>
              <a:t>Works on my machine — cannot triage by platform/version</a:t>
            </a:r>
          </a:p>
        </p:txBody>
      </p:sp>
      <p:sp>
        <p:nvSpPr>
          <p:cNvPr id="23" name="Rounded Rectangle 22"/>
          <p:cNvSpPr/>
          <p:nvPr/>
        </p:nvSpPr>
        <p:spPr>
          <a:xfrm>
            <a:off x="4160520" y="3611880"/>
            <a:ext cx="7772400" cy="1115568"/>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160520" y="3611880"/>
            <a:ext cx="91440" cy="111556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25112" y="3703320"/>
            <a:ext cx="7516368" cy="320040"/>
          </a:xfrm>
          <a:prstGeom prst="rect">
            <a:avLst/>
          </a:prstGeom>
          <a:noFill/>
        </p:spPr>
        <p:txBody>
          <a:bodyPr wrap="square">
            <a:spAutoFit/>
          </a:bodyPr>
          <a:lstStyle/>
          <a:p>
            <a:pPr algn="l"/>
            <a:r>
              <a:rPr sz="1300" b="1" i="0">
                <a:solidFill>
                  <a:srgbClr val="FFFFFF"/>
                </a:solidFill>
              </a:rPr>
              <a:t>Vague language</a:t>
            </a:r>
          </a:p>
        </p:txBody>
      </p:sp>
      <p:sp>
        <p:nvSpPr>
          <p:cNvPr id="26" name="TextBox 25"/>
          <p:cNvSpPr txBox="1"/>
          <p:nvPr/>
        </p:nvSpPr>
        <p:spPr>
          <a:xfrm>
            <a:off x="4325112" y="3995928"/>
            <a:ext cx="7516368" cy="640080"/>
          </a:xfrm>
          <a:prstGeom prst="rect">
            <a:avLst/>
          </a:prstGeom>
          <a:noFill/>
        </p:spPr>
        <p:txBody>
          <a:bodyPr wrap="square">
            <a:spAutoFit/>
          </a:bodyPr>
          <a:lstStyle/>
          <a:p>
            <a:pPr algn="l"/>
            <a:r>
              <a:rPr sz="1000" b="0" i="0">
                <a:solidFill>
                  <a:srgbClr val="94A3B8"/>
                </a:solidFill>
              </a:rPr>
              <a:t>'It's broken' or 'doesn't work' — no specific evidence</a:t>
            </a:r>
          </a:p>
        </p:txBody>
      </p:sp>
      <p:sp>
        <p:nvSpPr>
          <p:cNvPr id="27" name="Rounded Rectangle 26"/>
          <p:cNvSpPr/>
          <p:nvPr/>
        </p:nvSpPr>
        <p:spPr>
          <a:xfrm>
            <a:off x="4160520" y="4846320"/>
            <a:ext cx="7772400" cy="1115568"/>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160520" y="4846320"/>
            <a:ext cx="91440" cy="11155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325112" y="4937760"/>
            <a:ext cx="7516368" cy="320040"/>
          </a:xfrm>
          <a:prstGeom prst="rect">
            <a:avLst/>
          </a:prstGeom>
          <a:noFill/>
        </p:spPr>
        <p:txBody>
          <a:bodyPr wrap="square">
            <a:spAutoFit/>
          </a:bodyPr>
          <a:lstStyle/>
          <a:p>
            <a:pPr algn="l"/>
            <a:r>
              <a:rPr sz="1300" b="1" i="0">
                <a:solidFill>
                  <a:srgbClr val="FFFFFF"/>
                </a:solidFill>
              </a:rPr>
              <a:t>Wrong severity</a:t>
            </a:r>
          </a:p>
        </p:txBody>
      </p:sp>
      <p:sp>
        <p:nvSpPr>
          <p:cNvPr id="30" name="TextBox 29"/>
          <p:cNvSpPr txBox="1"/>
          <p:nvPr/>
        </p:nvSpPr>
        <p:spPr>
          <a:xfrm>
            <a:off x="4325112" y="5230368"/>
            <a:ext cx="7516368" cy="640080"/>
          </a:xfrm>
          <a:prstGeom prst="rect">
            <a:avLst/>
          </a:prstGeom>
          <a:noFill/>
        </p:spPr>
        <p:txBody>
          <a:bodyPr wrap="square">
            <a:spAutoFit/>
          </a:bodyPr>
          <a:lstStyle/>
          <a:p>
            <a:pPr algn="l"/>
            <a:r>
              <a:rPr sz="1000" b="0" i="0">
                <a:solidFill>
                  <a:srgbClr val="94A3B8"/>
                </a:solidFill>
              </a:rPr>
              <a:t>Inflated priority causes wrong sprint ordering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Project Objectives</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What BugLens is designed to achieve</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04</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320040" y="1097280"/>
            <a:ext cx="5669280" cy="16002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0040" y="1097280"/>
            <a:ext cx="502920" cy="16002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600200"/>
            <a:ext cx="502920" cy="594360"/>
          </a:xfrm>
          <a:prstGeom prst="rect">
            <a:avLst/>
          </a:prstGeom>
          <a:noFill/>
        </p:spPr>
        <p:txBody>
          <a:bodyPr wrap="square">
            <a:spAutoFit/>
          </a:bodyPr>
          <a:lstStyle/>
          <a:p>
            <a:pPr algn="ctr"/>
            <a:r>
              <a:rPr sz="2000" b="1" i="0">
                <a:solidFill>
                  <a:srgbClr val="FFFFFF"/>
                </a:solidFill>
              </a:rPr>
              <a:t>1</a:t>
            </a:r>
          </a:p>
        </p:txBody>
      </p:sp>
      <p:sp>
        <p:nvSpPr>
          <p:cNvPr id="12" name="TextBox 11"/>
          <p:cNvSpPr txBox="1"/>
          <p:nvPr/>
        </p:nvSpPr>
        <p:spPr>
          <a:xfrm>
            <a:off x="914400" y="1188720"/>
            <a:ext cx="4937760" cy="384048"/>
          </a:xfrm>
          <a:prstGeom prst="rect">
            <a:avLst/>
          </a:prstGeom>
          <a:noFill/>
        </p:spPr>
        <p:txBody>
          <a:bodyPr wrap="square">
            <a:spAutoFit/>
          </a:bodyPr>
          <a:lstStyle/>
          <a:p>
            <a:pPr algn="l"/>
            <a:r>
              <a:rPr sz="1300" b="1" i="0">
                <a:solidFill>
                  <a:srgbClr val="FFFFFF"/>
                </a:solidFill>
              </a:rPr>
              <a:t>Validate defect reports</a:t>
            </a:r>
          </a:p>
        </p:txBody>
      </p:sp>
      <p:sp>
        <p:nvSpPr>
          <p:cNvPr id="13" name="TextBox 12"/>
          <p:cNvSpPr txBox="1"/>
          <p:nvPr/>
        </p:nvSpPr>
        <p:spPr>
          <a:xfrm>
            <a:off x="914400" y="1600200"/>
            <a:ext cx="4937760" cy="1005840"/>
          </a:xfrm>
          <a:prstGeom prst="rect">
            <a:avLst/>
          </a:prstGeom>
          <a:noFill/>
        </p:spPr>
        <p:txBody>
          <a:bodyPr wrap="square">
            <a:spAutoFit/>
          </a:bodyPr>
          <a:lstStyle/>
          <a:p>
            <a:pPr algn="l"/>
            <a:r>
              <a:rPr sz="950" b="0" i="0">
                <a:solidFill>
                  <a:srgbClr val="94A3B8"/>
                </a:solidFill>
              </a:rPr>
              <a:t>Detect missing fields, vague language, unnumbered steps, and environment gaps using a deterministic rule engine.</a:t>
            </a:r>
          </a:p>
        </p:txBody>
      </p:sp>
      <p:sp>
        <p:nvSpPr>
          <p:cNvPr id="14" name="Rounded Rectangle 13"/>
          <p:cNvSpPr/>
          <p:nvPr/>
        </p:nvSpPr>
        <p:spPr>
          <a:xfrm>
            <a:off x="6263640" y="1097280"/>
            <a:ext cx="5669280" cy="16002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63640" y="1097280"/>
            <a:ext cx="502920" cy="16002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63640" y="1600200"/>
            <a:ext cx="502920" cy="594360"/>
          </a:xfrm>
          <a:prstGeom prst="rect">
            <a:avLst/>
          </a:prstGeom>
          <a:noFill/>
        </p:spPr>
        <p:txBody>
          <a:bodyPr wrap="square">
            <a:spAutoFit/>
          </a:bodyPr>
          <a:lstStyle/>
          <a:p>
            <a:pPr algn="ctr"/>
            <a:r>
              <a:rPr sz="2000" b="1" i="0">
                <a:solidFill>
                  <a:srgbClr val="FFFFFF"/>
                </a:solidFill>
              </a:rPr>
              <a:t>2</a:t>
            </a:r>
          </a:p>
        </p:txBody>
      </p:sp>
      <p:sp>
        <p:nvSpPr>
          <p:cNvPr id="17" name="TextBox 16"/>
          <p:cNvSpPr txBox="1"/>
          <p:nvPr/>
        </p:nvSpPr>
        <p:spPr>
          <a:xfrm>
            <a:off x="6858000" y="1188720"/>
            <a:ext cx="4937760" cy="384048"/>
          </a:xfrm>
          <a:prstGeom prst="rect">
            <a:avLst/>
          </a:prstGeom>
          <a:noFill/>
        </p:spPr>
        <p:txBody>
          <a:bodyPr wrap="square">
            <a:spAutoFit/>
          </a:bodyPr>
          <a:lstStyle/>
          <a:p>
            <a:pPr algn="l"/>
            <a:r>
              <a:rPr sz="1300" b="1" i="0">
                <a:solidFill>
                  <a:srgbClr val="FFFFFF"/>
                </a:solidFill>
              </a:rPr>
              <a:t>Score quality 0–100</a:t>
            </a:r>
          </a:p>
        </p:txBody>
      </p:sp>
      <p:sp>
        <p:nvSpPr>
          <p:cNvPr id="18" name="TextBox 17"/>
          <p:cNvSpPr txBox="1"/>
          <p:nvPr/>
        </p:nvSpPr>
        <p:spPr>
          <a:xfrm>
            <a:off x="6858000" y="1600200"/>
            <a:ext cx="4937760" cy="1005840"/>
          </a:xfrm>
          <a:prstGeom prst="rect">
            <a:avLst/>
          </a:prstGeom>
          <a:noFill/>
        </p:spPr>
        <p:txBody>
          <a:bodyPr wrap="square">
            <a:spAutoFit/>
          </a:bodyPr>
          <a:lstStyle/>
          <a:p>
            <a:pPr algn="l"/>
            <a:r>
              <a:rPr sz="950" b="0" i="0">
                <a:solidFill>
                  <a:srgbClr val="94A3B8"/>
                </a:solidFill>
              </a:rPr>
              <a:t>Assign a weighted quality score across 6 sections with letter grade and human-readable rationale.</a:t>
            </a:r>
          </a:p>
        </p:txBody>
      </p:sp>
      <p:sp>
        <p:nvSpPr>
          <p:cNvPr id="19" name="Rounded Rectangle 18"/>
          <p:cNvSpPr/>
          <p:nvPr/>
        </p:nvSpPr>
        <p:spPr>
          <a:xfrm>
            <a:off x="320040" y="2834640"/>
            <a:ext cx="5669280" cy="16002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20040" y="2834640"/>
            <a:ext cx="502920" cy="16002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3337560"/>
            <a:ext cx="502920" cy="594360"/>
          </a:xfrm>
          <a:prstGeom prst="rect">
            <a:avLst/>
          </a:prstGeom>
          <a:noFill/>
        </p:spPr>
        <p:txBody>
          <a:bodyPr wrap="square">
            <a:spAutoFit/>
          </a:bodyPr>
          <a:lstStyle/>
          <a:p>
            <a:pPr algn="ctr"/>
            <a:r>
              <a:rPr sz="2000" b="1" i="0">
                <a:solidFill>
                  <a:srgbClr val="FFFFFF"/>
                </a:solidFill>
              </a:rPr>
              <a:t>3</a:t>
            </a:r>
          </a:p>
        </p:txBody>
      </p:sp>
      <p:sp>
        <p:nvSpPr>
          <p:cNvPr id="22" name="TextBox 21"/>
          <p:cNvSpPr txBox="1"/>
          <p:nvPr/>
        </p:nvSpPr>
        <p:spPr>
          <a:xfrm>
            <a:off x="914400" y="2926080"/>
            <a:ext cx="4937760" cy="384048"/>
          </a:xfrm>
          <a:prstGeom prst="rect">
            <a:avLst/>
          </a:prstGeom>
          <a:noFill/>
        </p:spPr>
        <p:txBody>
          <a:bodyPr wrap="square">
            <a:spAutoFit/>
          </a:bodyPr>
          <a:lstStyle/>
          <a:p>
            <a:pPr algn="l"/>
            <a:r>
              <a:rPr sz="1300" b="1" i="0">
                <a:solidFill>
                  <a:srgbClr val="FFFFFF"/>
                </a:solidFill>
              </a:rPr>
              <a:t>Surface actionable issues</a:t>
            </a:r>
          </a:p>
        </p:txBody>
      </p:sp>
      <p:sp>
        <p:nvSpPr>
          <p:cNvPr id="23" name="TextBox 22"/>
          <p:cNvSpPr txBox="1"/>
          <p:nvPr/>
        </p:nvSpPr>
        <p:spPr>
          <a:xfrm>
            <a:off x="914400" y="3337560"/>
            <a:ext cx="4937760" cy="1005840"/>
          </a:xfrm>
          <a:prstGeom prst="rect">
            <a:avLst/>
          </a:prstGeom>
          <a:noFill/>
        </p:spPr>
        <p:txBody>
          <a:bodyPr wrap="square">
            <a:spAutoFit/>
          </a:bodyPr>
          <a:lstStyle/>
          <a:p>
            <a:pPr algn="l"/>
            <a:r>
              <a:rPr sz="950" b="0" i="0">
                <a:solidFill>
                  <a:srgbClr val="94A3B8"/>
                </a:solidFill>
              </a:rPr>
              <a:t>Return per-field issues with severity (ERROR / WARNING / INFO) and a specific fix suggestion for each.</a:t>
            </a:r>
          </a:p>
        </p:txBody>
      </p:sp>
      <p:sp>
        <p:nvSpPr>
          <p:cNvPr id="24" name="Rounded Rectangle 23"/>
          <p:cNvSpPr/>
          <p:nvPr/>
        </p:nvSpPr>
        <p:spPr>
          <a:xfrm>
            <a:off x="6263640" y="2834640"/>
            <a:ext cx="5669280" cy="16002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263640" y="2834640"/>
            <a:ext cx="502920" cy="16002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63640" y="3337560"/>
            <a:ext cx="502920" cy="594360"/>
          </a:xfrm>
          <a:prstGeom prst="rect">
            <a:avLst/>
          </a:prstGeom>
          <a:noFill/>
        </p:spPr>
        <p:txBody>
          <a:bodyPr wrap="square">
            <a:spAutoFit/>
          </a:bodyPr>
          <a:lstStyle/>
          <a:p>
            <a:pPr algn="ctr"/>
            <a:r>
              <a:rPr sz="2000" b="1" i="0">
                <a:solidFill>
                  <a:srgbClr val="FFFFFF"/>
                </a:solidFill>
              </a:rPr>
              <a:t>4</a:t>
            </a:r>
          </a:p>
        </p:txBody>
      </p:sp>
      <p:sp>
        <p:nvSpPr>
          <p:cNvPr id="27" name="TextBox 26"/>
          <p:cNvSpPr txBox="1"/>
          <p:nvPr/>
        </p:nvSpPr>
        <p:spPr>
          <a:xfrm>
            <a:off x="6858000" y="2926080"/>
            <a:ext cx="4937760" cy="384048"/>
          </a:xfrm>
          <a:prstGeom prst="rect">
            <a:avLst/>
          </a:prstGeom>
          <a:noFill/>
        </p:spPr>
        <p:txBody>
          <a:bodyPr wrap="square">
            <a:spAutoFit/>
          </a:bodyPr>
          <a:lstStyle/>
          <a:p>
            <a:pPr algn="l"/>
            <a:r>
              <a:rPr sz="1300" b="1" i="0">
                <a:solidFill>
                  <a:srgbClr val="FFFFFF"/>
                </a:solidFill>
              </a:rPr>
              <a:t>Generate professional rewrites</a:t>
            </a:r>
          </a:p>
        </p:txBody>
      </p:sp>
      <p:sp>
        <p:nvSpPr>
          <p:cNvPr id="28" name="TextBox 27"/>
          <p:cNvSpPr txBox="1"/>
          <p:nvPr/>
        </p:nvSpPr>
        <p:spPr>
          <a:xfrm>
            <a:off x="6858000" y="3337560"/>
            <a:ext cx="4937760" cy="1005840"/>
          </a:xfrm>
          <a:prstGeom prst="rect">
            <a:avLst/>
          </a:prstGeom>
          <a:noFill/>
        </p:spPr>
        <p:txBody>
          <a:bodyPr wrap="square">
            <a:spAutoFit/>
          </a:bodyPr>
          <a:lstStyle/>
          <a:p>
            <a:pPr algn="l"/>
            <a:r>
              <a:rPr sz="950" b="0" i="0">
                <a:solidFill>
                  <a:srgbClr val="94A3B8"/>
                </a:solidFill>
              </a:rPr>
              <a:t>Produce a structured, developer-ready ticket using local rules or GPT-assisted rewrite.</a:t>
            </a:r>
          </a:p>
        </p:txBody>
      </p:sp>
      <p:sp>
        <p:nvSpPr>
          <p:cNvPr id="29" name="Rounded Rectangle 28"/>
          <p:cNvSpPr/>
          <p:nvPr/>
        </p:nvSpPr>
        <p:spPr>
          <a:xfrm>
            <a:off x="320040" y="4572000"/>
            <a:ext cx="5669280" cy="16002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320040" y="4572000"/>
            <a:ext cx="502920" cy="16002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0040" y="5074920"/>
            <a:ext cx="502920" cy="594360"/>
          </a:xfrm>
          <a:prstGeom prst="rect">
            <a:avLst/>
          </a:prstGeom>
          <a:noFill/>
        </p:spPr>
        <p:txBody>
          <a:bodyPr wrap="square">
            <a:spAutoFit/>
          </a:bodyPr>
          <a:lstStyle/>
          <a:p>
            <a:pPr algn="ctr"/>
            <a:r>
              <a:rPr sz="2000" b="1" i="0">
                <a:solidFill>
                  <a:srgbClr val="FFFFFF"/>
                </a:solidFill>
              </a:rPr>
              <a:t>5</a:t>
            </a:r>
          </a:p>
        </p:txBody>
      </p:sp>
      <p:sp>
        <p:nvSpPr>
          <p:cNvPr id="32" name="TextBox 31"/>
          <p:cNvSpPr txBox="1"/>
          <p:nvPr/>
        </p:nvSpPr>
        <p:spPr>
          <a:xfrm>
            <a:off x="914400" y="4663440"/>
            <a:ext cx="4937760" cy="384048"/>
          </a:xfrm>
          <a:prstGeom prst="rect">
            <a:avLst/>
          </a:prstGeom>
          <a:noFill/>
        </p:spPr>
        <p:txBody>
          <a:bodyPr wrap="square">
            <a:spAutoFit/>
          </a:bodyPr>
          <a:lstStyle/>
          <a:p>
            <a:pPr algn="l"/>
            <a:r>
              <a:rPr sz="1300" b="1" i="0">
                <a:solidFill>
                  <a:srgbClr val="FFFFFF"/>
                </a:solidFill>
              </a:rPr>
              <a:t>Expose REST API</a:t>
            </a:r>
          </a:p>
        </p:txBody>
      </p:sp>
      <p:sp>
        <p:nvSpPr>
          <p:cNvPr id="33" name="TextBox 32"/>
          <p:cNvSpPr txBox="1"/>
          <p:nvPr/>
        </p:nvSpPr>
        <p:spPr>
          <a:xfrm>
            <a:off x="914400" y="5074920"/>
            <a:ext cx="4937760" cy="1005840"/>
          </a:xfrm>
          <a:prstGeom prst="rect">
            <a:avLst/>
          </a:prstGeom>
          <a:noFill/>
        </p:spPr>
        <p:txBody>
          <a:bodyPr wrap="square">
            <a:spAutoFit/>
          </a:bodyPr>
          <a:lstStyle/>
          <a:p>
            <a:pPr algn="l"/>
            <a:r>
              <a:rPr sz="950" b="0" i="0">
                <a:solidFill>
                  <a:srgbClr val="94A3B8"/>
                </a:solidFill>
              </a:rPr>
              <a:t>Provide /validate, /score, /analyze, and /history endpoints consumable by any CI/CD pipeline or ITSM.</a:t>
            </a:r>
          </a:p>
        </p:txBody>
      </p:sp>
      <p:sp>
        <p:nvSpPr>
          <p:cNvPr id="34" name="Rounded Rectangle 33"/>
          <p:cNvSpPr/>
          <p:nvPr/>
        </p:nvSpPr>
        <p:spPr>
          <a:xfrm>
            <a:off x="6263640" y="4572000"/>
            <a:ext cx="5669280" cy="16002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263640" y="4572000"/>
            <a:ext cx="502920" cy="16002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263640" y="5074920"/>
            <a:ext cx="502920" cy="594360"/>
          </a:xfrm>
          <a:prstGeom prst="rect">
            <a:avLst/>
          </a:prstGeom>
          <a:noFill/>
        </p:spPr>
        <p:txBody>
          <a:bodyPr wrap="square">
            <a:spAutoFit/>
          </a:bodyPr>
          <a:lstStyle/>
          <a:p>
            <a:pPr algn="ctr"/>
            <a:r>
              <a:rPr sz="2000" b="1" i="0">
                <a:solidFill>
                  <a:srgbClr val="FFFFFF"/>
                </a:solidFill>
              </a:rPr>
              <a:t>6</a:t>
            </a:r>
          </a:p>
        </p:txBody>
      </p:sp>
      <p:sp>
        <p:nvSpPr>
          <p:cNvPr id="37" name="TextBox 36"/>
          <p:cNvSpPr txBox="1"/>
          <p:nvPr/>
        </p:nvSpPr>
        <p:spPr>
          <a:xfrm>
            <a:off x="6858000" y="4663440"/>
            <a:ext cx="4937760" cy="384048"/>
          </a:xfrm>
          <a:prstGeom prst="rect">
            <a:avLst/>
          </a:prstGeom>
          <a:noFill/>
        </p:spPr>
        <p:txBody>
          <a:bodyPr wrap="square">
            <a:spAutoFit/>
          </a:bodyPr>
          <a:lstStyle/>
          <a:p>
            <a:pPr algn="l"/>
            <a:r>
              <a:rPr sz="1300" b="1" i="0">
                <a:solidFill>
                  <a:srgbClr val="FFFFFF"/>
                </a:solidFill>
              </a:rPr>
              <a:t>Track history &amp; compare</a:t>
            </a:r>
          </a:p>
        </p:txBody>
      </p:sp>
      <p:sp>
        <p:nvSpPr>
          <p:cNvPr id="38" name="TextBox 37"/>
          <p:cNvSpPr txBox="1"/>
          <p:nvPr/>
        </p:nvSpPr>
        <p:spPr>
          <a:xfrm>
            <a:off x="6858000" y="5074920"/>
            <a:ext cx="4937760" cy="1005840"/>
          </a:xfrm>
          <a:prstGeom prst="rect">
            <a:avLst/>
          </a:prstGeom>
          <a:noFill/>
        </p:spPr>
        <p:txBody>
          <a:bodyPr wrap="square">
            <a:spAutoFit/>
          </a:bodyPr>
          <a:lstStyle/>
          <a:p>
            <a:pPr algn="l"/>
            <a:r>
              <a:rPr sz="950" b="0" i="0">
                <a:solidFill>
                  <a:srgbClr val="94A3B8"/>
                </a:solidFill>
              </a:rPr>
              <a:t>Persist analyses to SQLite, enable comparison of two reports side-by-side with delta metrics.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Requirements Analysis</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Functional and Non-Functional Requirements</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05</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320040" y="1051560"/>
            <a:ext cx="5577840" cy="52120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0040" y="1051560"/>
            <a:ext cx="5577840" cy="4572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078992"/>
            <a:ext cx="5394960" cy="411480"/>
          </a:xfrm>
          <a:prstGeom prst="rect">
            <a:avLst/>
          </a:prstGeom>
          <a:noFill/>
        </p:spPr>
        <p:txBody>
          <a:bodyPr wrap="square">
            <a:spAutoFit/>
          </a:bodyPr>
          <a:lstStyle/>
          <a:p>
            <a:pPr algn="l"/>
            <a:r>
              <a:rPr sz="1400" b="1" i="0">
                <a:solidFill>
                  <a:srgbClr val="FFFFFF"/>
                </a:solidFill>
              </a:rPr>
              <a:t>Functional Requirements</a:t>
            </a:r>
          </a:p>
        </p:txBody>
      </p:sp>
      <p:sp>
        <p:nvSpPr>
          <p:cNvPr id="12" name="Rounded Rectangle 11"/>
          <p:cNvSpPr/>
          <p:nvPr/>
        </p:nvSpPr>
        <p:spPr>
          <a:xfrm>
            <a:off x="457200" y="1600200"/>
            <a:ext cx="27432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1600200"/>
            <a:ext cx="4937760" cy="384048"/>
          </a:xfrm>
          <a:prstGeom prst="rect">
            <a:avLst/>
          </a:prstGeom>
          <a:noFill/>
        </p:spPr>
        <p:txBody>
          <a:bodyPr wrap="square">
            <a:spAutoFit/>
          </a:bodyPr>
          <a:lstStyle/>
          <a:p>
            <a:pPr algn="l"/>
            <a:r>
              <a:rPr sz="900" b="0" i="0">
                <a:solidFill>
                  <a:srgbClr val="F1F5F9"/>
                </a:solidFill>
              </a:rPr>
              <a:t>FR-01  7-field defect input form (title, description, steps, expected, actual, environment, severity)</a:t>
            </a:r>
          </a:p>
        </p:txBody>
      </p:sp>
      <p:sp>
        <p:nvSpPr>
          <p:cNvPr id="14" name="Rounded Rectangle 13"/>
          <p:cNvSpPr/>
          <p:nvPr/>
        </p:nvSpPr>
        <p:spPr>
          <a:xfrm>
            <a:off x="457200" y="2029968"/>
            <a:ext cx="27432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2029968"/>
            <a:ext cx="4937760" cy="384048"/>
          </a:xfrm>
          <a:prstGeom prst="rect">
            <a:avLst/>
          </a:prstGeom>
          <a:noFill/>
        </p:spPr>
        <p:txBody>
          <a:bodyPr wrap="square">
            <a:spAutoFit/>
          </a:bodyPr>
          <a:lstStyle/>
          <a:p>
            <a:pPr algn="l"/>
            <a:r>
              <a:rPr sz="900" b="0" i="0">
                <a:solidFill>
                  <a:srgbClr val="F1F5F9"/>
                </a:solidFill>
              </a:rPr>
              <a:t>FR-02  Real-time validation with field-level issues (ERROR / WARNING / INFO)</a:t>
            </a:r>
          </a:p>
        </p:txBody>
      </p:sp>
      <p:sp>
        <p:nvSpPr>
          <p:cNvPr id="16" name="Rounded Rectangle 15"/>
          <p:cNvSpPr/>
          <p:nvPr/>
        </p:nvSpPr>
        <p:spPr>
          <a:xfrm>
            <a:off x="457200" y="2459736"/>
            <a:ext cx="27432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2459736"/>
            <a:ext cx="4937760" cy="384048"/>
          </a:xfrm>
          <a:prstGeom prst="rect">
            <a:avLst/>
          </a:prstGeom>
          <a:noFill/>
        </p:spPr>
        <p:txBody>
          <a:bodyPr wrap="square">
            <a:spAutoFit/>
          </a:bodyPr>
          <a:lstStyle/>
          <a:p>
            <a:pPr algn="l"/>
            <a:r>
              <a:rPr sz="900" b="0" i="0">
                <a:solidFill>
                  <a:srgbClr val="F1F5F9"/>
                </a:solidFill>
              </a:rPr>
              <a:t>FR-03  Deterministic quality scoring — 6 weighted sections, 0–100 total</a:t>
            </a:r>
          </a:p>
        </p:txBody>
      </p:sp>
      <p:sp>
        <p:nvSpPr>
          <p:cNvPr id="18" name="Rounded Rectangle 17"/>
          <p:cNvSpPr/>
          <p:nvPr/>
        </p:nvSpPr>
        <p:spPr>
          <a:xfrm>
            <a:off x="457200" y="2889504"/>
            <a:ext cx="27432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2889504"/>
            <a:ext cx="4937760" cy="384048"/>
          </a:xfrm>
          <a:prstGeom prst="rect">
            <a:avLst/>
          </a:prstGeom>
          <a:noFill/>
        </p:spPr>
        <p:txBody>
          <a:bodyPr wrap="square">
            <a:spAutoFit/>
          </a:bodyPr>
          <a:lstStyle/>
          <a:p>
            <a:pPr algn="l"/>
            <a:r>
              <a:rPr sz="900" b="0" i="0">
                <a:solidFill>
                  <a:srgbClr val="F1F5F9"/>
                </a:solidFill>
              </a:rPr>
              <a:t>FR-04  Letter grade assignment (A–F) with verdict text</a:t>
            </a:r>
          </a:p>
        </p:txBody>
      </p:sp>
      <p:sp>
        <p:nvSpPr>
          <p:cNvPr id="20" name="Rounded Rectangle 19"/>
          <p:cNvSpPr/>
          <p:nvPr/>
        </p:nvSpPr>
        <p:spPr>
          <a:xfrm>
            <a:off x="457200" y="3319272"/>
            <a:ext cx="27432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3319272"/>
            <a:ext cx="4937760" cy="384048"/>
          </a:xfrm>
          <a:prstGeom prst="rect">
            <a:avLst/>
          </a:prstGeom>
          <a:noFill/>
        </p:spPr>
        <p:txBody>
          <a:bodyPr wrap="square">
            <a:spAutoFit/>
          </a:bodyPr>
          <a:lstStyle/>
          <a:p>
            <a:pPr algn="l"/>
            <a:r>
              <a:rPr sz="900" b="0" i="0">
                <a:solidFill>
                  <a:srgbClr val="F1F5F9"/>
                </a:solidFill>
              </a:rPr>
              <a:t>FR-05  Local + AI-assisted rewrite of the defect report</a:t>
            </a:r>
          </a:p>
        </p:txBody>
      </p:sp>
      <p:sp>
        <p:nvSpPr>
          <p:cNvPr id="22" name="Rounded Rectangle 21"/>
          <p:cNvSpPr/>
          <p:nvPr/>
        </p:nvSpPr>
        <p:spPr>
          <a:xfrm>
            <a:off x="457200" y="3749040"/>
            <a:ext cx="27432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3749040"/>
            <a:ext cx="4937760" cy="384048"/>
          </a:xfrm>
          <a:prstGeom prst="rect">
            <a:avLst/>
          </a:prstGeom>
          <a:noFill/>
        </p:spPr>
        <p:txBody>
          <a:bodyPr wrap="square">
            <a:spAutoFit/>
          </a:bodyPr>
          <a:lstStyle/>
          <a:p>
            <a:pPr algn="l"/>
            <a:r>
              <a:rPr sz="900" b="0" i="0">
                <a:solidFill>
                  <a:srgbClr val="F1F5F9"/>
                </a:solidFill>
              </a:rPr>
              <a:t>FR-06  Analysis history with SQLite persistence (save, list, get, delete)</a:t>
            </a:r>
          </a:p>
        </p:txBody>
      </p:sp>
      <p:sp>
        <p:nvSpPr>
          <p:cNvPr id="24" name="Rounded Rectangle 23"/>
          <p:cNvSpPr/>
          <p:nvPr/>
        </p:nvSpPr>
        <p:spPr>
          <a:xfrm>
            <a:off x="457200" y="4178808"/>
            <a:ext cx="27432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4178808"/>
            <a:ext cx="4937760" cy="384048"/>
          </a:xfrm>
          <a:prstGeom prst="rect">
            <a:avLst/>
          </a:prstGeom>
          <a:noFill/>
        </p:spPr>
        <p:txBody>
          <a:bodyPr wrap="square">
            <a:spAutoFit/>
          </a:bodyPr>
          <a:lstStyle/>
          <a:p>
            <a:pPr algn="l"/>
            <a:r>
              <a:rPr sz="900" b="0" i="0">
                <a:solidFill>
                  <a:srgbClr val="F1F5F9"/>
                </a:solidFill>
              </a:rPr>
              <a:t>FR-07  Side-by-side report comparison with score delta</a:t>
            </a:r>
          </a:p>
        </p:txBody>
      </p:sp>
      <p:sp>
        <p:nvSpPr>
          <p:cNvPr id="26" name="Rounded Rectangle 25"/>
          <p:cNvSpPr/>
          <p:nvPr/>
        </p:nvSpPr>
        <p:spPr>
          <a:xfrm>
            <a:off x="457200" y="4608576"/>
            <a:ext cx="27432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4608576"/>
            <a:ext cx="4937760" cy="384048"/>
          </a:xfrm>
          <a:prstGeom prst="rect">
            <a:avLst/>
          </a:prstGeom>
          <a:noFill/>
        </p:spPr>
        <p:txBody>
          <a:bodyPr wrap="square">
            <a:spAutoFit/>
          </a:bodyPr>
          <a:lstStyle/>
          <a:p>
            <a:pPr algn="l"/>
            <a:r>
              <a:rPr sz="900" b="0" i="0">
                <a:solidFill>
                  <a:srgbClr val="F1F5F9"/>
                </a:solidFill>
              </a:rPr>
              <a:t>FR-08  REST API: /validate, /score, /analyze, /history endpoints</a:t>
            </a:r>
          </a:p>
        </p:txBody>
      </p:sp>
      <p:sp>
        <p:nvSpPr>
          <p:cNvPr id="28" name="Rounded Rectangle 27"/>
          <p:cNvSpPr/>
          <p:nvPr/>
        </p:nvSpPr>
        <p:spPr>
          <a:xfrm>
            <a:off x="457200" y="5038344"/>
            <a:ext cx="27432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5038344"/>
            <a:ext cx="4937760" cy="384048"/>
          </a:xfrm>
          <a:prstGeom prst="rect">
            <a:avLst/>
          </a:prstGeom>
          <a:noFill/>
        </p:spPr>
        <p:txBody>
          <a:bodyPr wrap="square">
            <a:spAutoFit/>
          </a:bodyPr>
          <a:lstStyle/>
          <a:p>
            <a:pPr algn="l"/>
            <a:r>
              <a:rPr sz="900" b="0" i="0">
                <a:solidFill>
                  <a:srgbClr val="F1F5F9"/>
                </a:solidFill>
              </a:rPr>
              <a:t>FR-09  Email delivery via SMTP (configurable)</a:t>
            </a:r>
          </a:p>
        </p:txBody>
      </p:sp>
      <p:sp>
        <p:nvSpPr>
          <p:cNvPr id="30" name="Rounded Rectangle 29"/>
          <p:cNvSpPr/>
          <p:nvPr/>
        </p:nvSpPr>
        <p:spPr>
          <a:xfrm>
            <a:off x="457200" y="5468112"/>
            <a:ext cx="27432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5468112"/>
            <a:ext cx="4937760" cy="384048"/>
          </a:xfrm>
          <a:prstGeom prst="rect">
            <a:avLst/>
          </a:prstGeom>
          <a:noFill/>
        </p:spPr>
        <p:txBody>
          <a:bodyPr wrap="square">
            <a:spAutoFit/>
          </a:bodyPr>
          <a:lstStyle/>
          <a:p>
            <a:pPr algn="l"/>
            <a:r>
              <a:rPr sz="900" b="0" i="0">
                <a:solidFill>
                  <a:srgbClr val="F1F5F9"/>
                </a:solidFill>
              </a:rPr>
              <a:t>FR-10  Sample defect library for demo and onboarding</a:t>
            </a:r>
          </a:p>
        </p:txBody>
      </p:sp>
      <p:sp>
        <p:nvSpPr>
          <p:cNvPr id="32" name="Rounded Rectangle 31"/>
          <p:cNvSpPr/>
          <p:nvPr/>
        </p:nvSpPr>
        <p:spPr>
          <a:xfrm>
            <a:off x="6126480" y="1051560"/>
            <a:ext cx="5760720" cy="52120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6126480" y="1051560"/>
            <a:ext cx="5760720" cy="4572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17920" y="1078992"/>
            <a:ext cx="5577840" cy="411480"/>
          </a:xfrm>
          <a:prstGeom prst="rect">
            <a:avLst/>
          </a:prstGeom>
          <a:noFill/>
        </p:spPr>
        <p:txBody>
          <a:bodyPr wrap="square">
            <a:spAutoFit/>
          </a:bodyPr>
          <a:lstStyle/>
          <a:p>
            <a:pPr algn="l"/>
            <a:r>
              <a:rPr sz="1400" b="1" i="0">
                <a:solidFill>
                  <a:srgbClr val="FFFFFF"/>
                </a:solidFill>
              </a:rPr>
              <a:t>Non-Functional Requirements</a:t>
            </a:r>
          </a:p>
        </p:txBody>
      </p:sp>
      <p:sp>
        <p:nvSpPr>
          <p:cNvPr id="35" name="TextBox 34"/>
          <p:cNvSpPr txBox="1"/>
          <p:nvPr/>
        </p:nvSpPr>
        <p:spPr>
          <a:xfrm>
            <a:off x="6263640" y="1600200"/>
            <a:ext cx="1280160" cy="347472"/>
          </a:xfrm>
          <a:prstGeom prst="rect">
            <a:avLst/>
          </a:prstGeom>
          <a:noFill/>
        </p:spPr>
        <p:txBody>
          <a:bodyPr wrap="square">
            <a:spAutoFit/>
          </a:bodyPr>
          <a:lstStyle/>
          <a:p>
            <a:pPr algn="l"/>
            <a:r>
              <a:rPr sz="900" b="1" i="0">
                <a:solidFill>
                  <a:srgbClr val="C4B5FD"/>
                </a:solidFill>
              </a:rPr>
              <a:t>Performance</a:t>
            </a:r>
          </a:p>
        </p:txBody>
      </p:sp>
      <p:sp>
        <p:nvSpPr>
          <p:cNvPr id="36" name="TextBox 35"/>
          <p:cNvSpPr txBox="1"/>
          <p:nvPr/>
        </p:nvSpPr>
        <p:spPr>
          <a:xfrm>
            <a:off x="7589520" y="1600200"/>
            <a:ext cx="4114800" cy="502920"/>
          </a:xfrm>
          <a:prstGeom prst="rect">
            <a:avLst/>
          </a:prstGeom>
          <a:noFill/>
        </p:spPr>
        <p:txBody>
          <a:bodyPr wrap="square">
            <a:spAutoFit/>
          </a:bodyPr>
          <a:lstStyle/>
          <a:p>
            <a:pPr algn="l"/>
            <a:r>
              <a:rPr sz="900" b="0" i="0">
                <a:solidFill>
                  <a:srgbClr val="94A3B8"/>
                </a:solidFill>
              </a:rPr>
              <a:t>Analysis response ≤ 2 seconds in local mode; API p95 &lt; 1.5 s</a:t>
            </a:r>
          </a:p>
        </p:txBody>
      </p:sp>
      <p:sp>
        <p:nvSpPr>
          <p:cNvPr id="37" name="TextBox 36"/>
          <p:cNvSpPr txBox="1"/>
          <p:nvPr/>
        </p:nvSpPr>
        <p:spPr>
          <a:xfrm>
            <a:off x="6263640" y="2139696"/>
            <a:ext cx="1280160" cy="347472"/>
          </a:xfrm>
          <a:prstGeom prst="rect">
            <a:avLst/>
          </a:prstGeom>
          <a:noFill/>
        </p:spPr>
        <p:txBody>
          <a:bodyPr wrap="square">
            <a:spAutoFit/>
          </a:bodyPr>
          <a:lstStyle/>
          <a:p>
            <a:pPr algn="l"/>
            <a:r>
              <a:rPr sz="900" b="1" i="0">
                <a:solidFill>
                  <a:srgbClr val="C4B5FD"/>
                </a:solidFill>
              </a:rPr>
              <a:t>Reliability</a:t>
            </a:r>
          </a:p>
        </p:txBody>
      </p:sp>
      <p:sp>
        <p:nvSpPr>
          <p:cNvPr id="38" name="TextBox 37"/>
          <p:cNvSpPr txBox="1"/>
          <p:nvPr/>
        </p:nvSpPr>
        <p:spPr>
          <a:xfrm>
            <a:off x="7589520" y="2139696"/>
            <a:ext cx="4114800" cy="502920"/>
          </a:xfrm>
          <a:prstGeom prst="rect">
            <a:avLst/>
          </a:prstGeom>
          <a:noFill/>
        </p:spPr>
        <p:txBody>
          <a:bodyPr wrap="square">
            <a:spAutoFit/>
          </a:bodyPr>
          <a:lstStyle/>
          <a:p>
            <a:pPr algn="l"/>
            <a:r>
              <a:rPr sz="900" b="0" i="0">
                <a:solidFill>
                  <a:srgbClr val="94A3B8"/>
                </a:solidFill>
              </a:rPr>
              <a:t>Validation + scoring work fully offline — no external API dependency</a:t>
            </a:r>
          </a:p>
        </p:txBody>
      </p:sp>
      <p:sp>
        <p:nvSpPr>
          <p:cNvPr id="39" name="TextBox 38"/>
          <p:cNvSpPr txBox="1"/>
          <p:nvPr/>
        </p:nvSpPr>
        <p:spPr>
          <a:xfrm>
            <a:off x="6263640" y="2679192"/>
            <a:ext cx="1280160" cy="347472"/>
          </a:xfrm>
          <a:prstGeom prst="rect">
            <a:avLst/>
          </a:prstGeom>
          <a:noFill/>
        </p:spPr>
        <p:txBody>
          <a:bodyPr wrap="square">
            <a:spAutoFit/>
          </a:bodyPr>
          <a:lstStyle/>
          <a:p>
            <a:pPr algn="l"/>
            <a:r>
              <a:rPr sz="900" b="1" i="0">
                <a:solidFill>
                  <a:srgbClr val="C4B5FD"/>
                </a:solidFill>
              </a:rPr>
              <a:t>Scalability</a:t>
            </a:r>
          </a:p>
        </p:txBody>
      </p:sp>
      <p:sp>
        <p:nvSpPr>
          <p:cNvPr id="40" name="TextBox 39"/>
          <p:cNvSpPr txBox="1"/>
          <p:nvPr/>
        </p:nvSpPr>
        <p:spPr>
          <a:xfrm>
            <a:off x="7589520" y="2679192"/>
            <a:ext cx="4114800" cy="502920"/>
          </a:xfrm>
          <a:prstGeom prst="rect">
            <a:avLst/>
          </a:prstGeom>
          <a:noFill/>
        </p:spPr>
        <p:txBody>
          <a:bodyPr wrap="square">
            <a:spAutoFit/>
          </a:bodyPr>
          <a:lstStyle/>
          <a:p>
            <a:pPr algn="l"/>
            <a:r>
              <a:rPr sz="900" b="0" i="0">
                <a:solidFill>
                  <a:srgbClr val="94A3B8"/>
                </a:solidFill>
              </a:rPr>
              <a:t>REST API is stateless; SQLite can be swapped to PostgreSQL</a:t>
            </a:r>
          </a:p>
        </p:txBody>
      </p:sp>
      <p:sp>
        <p:nvSpPr>
          <p:cNvPr id="41" name="TextBox 40"/>
          <p:cNvSpPr txBox="1"/>
          <p:nvPr/>
        </p:nvSpPr>
        <p:spPr>
          <a:xfrm>
            <a:off x="6263640" y="3218688"/>
            <a:ext cx="1280160" cy="347472"/>
          </a:xfrm>
          <a:prstGeom prst="rect">
            <a:avLst/>
          </a:prstGeom>
          <a:noFill/>
        </p:spPr>
        <p:txBody>
          <a:bodyPr wrap="square">
            <a:spAutoFit/>
          </a:bodyPr>
          <a:lstStyle/>
          <a:p>
            <a:pPr algn="l"/>
            <a:r>
              <a:rPr sz="900" b="1" i="0">
                <a:solidFill>
                  <a:srgbClr val="C4B5FD"/>
                </a:solidFill>
              </a:rPr>
              <a:t>Usability</a:t>
            </a:r>
          </a:p>
        </p:txBody>
      </p:sp>
      <p:sp>
        <p:nvSpPr>
          <p:cNvPr id="42" name="TextBox 41"/>
          <p:cNvSpPr txBox="1"/>
          <p:nvPr/>
        </p:nvSpPr>
        <p:spPr>
          <a:xfrm>
            <a:off x="7589520" y="3218688"/>
            <a:ext cx="4114800" cy="502920"/>
          </a:xfrm>
          <a:prstGeom prst="rect">
            <a:avLst/>
          </a:prstGeom>
          <a:noFill/>
        </p:spPr>
        <p:txBody>
          <a:bodyPr wrap="square">
            <a:spAutoFit/>
          </a:bodyPr>
          <a:lstStyle/>
          <a:p>
            <a:pPr algn="l"/>
            <a:r>
              <a:rPr sz="900" b="0" i="0">
                <a:solidFill>
                  <a:srgbClr val="94A3B8"/>
                </a:solidFill>
              </a:rPr>
              <a:t>Streamlit UI with 5 pages; onboarding via pre-loaded sample defects</a:t>
            </a:r>
          </a:p>
        </p:txBody>
      </p:sp>
      <p:sp>
        <p:nvSpPr>
          <p:cNvPr id="43" name="TextBox 42"/>
          <p:cNvSpPr txBox="1"/>
          <p:nvPr/>
        </p:nvSpPr>
        <p:spPr>
          <a:xfrm>
            <a:off x="6263640" y="3758184"/>
            <a:ext cx="1280160" cy="347472"/>
          </a:xfrm>
          <a:prstGeom prst="rect">
            <a:avLst/>
          </a:prstGeom>
          <a:noFill/>
        </p:spPr>
        <p:txBody>
          <a:bodyPr wrap="square">
            <a:spAutoFit/>
          </a:bodyPr>
          <a:lstStyle/>
          <a:p>
            <a:pPr algn="l"/>
            <a:r>
              <a:rPr sz="900" b="1" i="0">
                <a:solidFill>
                  <a:srgbClr val="C4B5FD"/>
                </a:solidFill>
              </a:rPr>
              <a:t>Maintainability</a:t>
            </a:r>
          </a:p>
        </p:txBody>
      </p:sp>
      <p:sp>
        <p:nvSpPr>
          <p:cNvPr id="44" name="TextBox 43"/>
          <p:cNvSpPr txBox="1"/>
          <p:nvPr/>
        </p:nvSpPr>
        <p:spPr>
          <a:xfrm>
            <a:off x="7589520" y="3758184"/>
            <a:ext cx="4114800" cy="502920"/>
          </a:xfrm>
          <a:prstGeom prst="rect">
            <a:avLst/>
          </a:prstGeom>
          <a:noFill/>
        </p:spPr>
        <p:txBody>
          <a:bodyPr wrap="square">
            <a:spAutoFit/>
          </a:bodyPr>
          <a:lstStyle/>
          <a:p>
            <a:pPr algn="l"/>
            <a:r>
              <a:rPr sz="900" b="0" i="0">
                <a:solidFill>
                  <a:srgbClr val="94A3B8"/>
                </a:solidFill>
              </a:rPr>
              <a:t>Modular architecture — Validator, Scorer, Rewriter independently testable</a:t>
            </a:r>
          </a:p>
        </p:txBody>
      </p:sp>
      <p:sp>
        <p:nvSpPr>
          <p:cNvPr id="45" name="TextBox 44"/>
          <p:cNvSpPr txBox="1"/>
          <p:nvPr/>
        </p:nvSpPr>
        <p:spPr>
          <a:xfrm>
            <a:off x="6263640" y="4297680"/>
            <a:ext cx="1280160" cy="347472"/>
          </a:xfrm>
          <a:prstGeom prst="rect">
            <a:avLst/>
          </a:prstGeom>
          <a:noFill/>
        </p:spPr>
        <p:txBody>
          <a:bodyPr wrap="square">
            <a:spAutoFit/>
          </a:bodyPr>
          <a:lstStyle/>
          <a:p>
            <a:pPr algn="l"/>
            <a:r>
              <a:rPr sz="900" b="1" i="0">
                <a:solidFill>
                  <a:srgbClr val="C4B5FD"/>
                </a:solidFill>
              </a:rPr>
              <a:t>Security</a:t>
            </a:r>
          </a:p>
        </p:txBody>
      </p:sp>
      <p:sp>
        <p:nvSpPr>
          <p:cNvPr id="46" name="TextBox 45"/>
          <p:cNvSpPr txBox="1"/>
          <p:nvPr/>
        </p:nvSpPr>
        <p:spPr>
          <a:xfrm>
            <a:off x="7589520" y="4297680"/>
            <a:ext cx="4114800" cy="502920"/>
          </a:xfrm>
          <a:prstGeom prst="rect">
            <a:avLst/>
          </a:prstGeom>
          <a:noFill/>
        </p:spPr>
        <p:txBody>
          <a:bodyPr wrap="square">
            <a:spAutoFit/>
          </a:bodyPr>
          <a:lstStyle/>
          <a:p>
            <a:pPr algn="l"/>
            <a:r>
              <a:rPr sz="900" b="0" i="0">
                <a:solidFill>
                  <a:srgbClr val="94A3B8"/>
                </a:solidFill>
              </a:rPr>
              <a:t>No credentials stored in code; SMTP password only in env vars</a:t>
            </a:r>
          </a:p>
        </p:txBody>
      </p:sp>
      <p:sp>
        <p:nvSpPr>
          <p:cNvPr id="47" name="TextBox 46"/>
          <p:cNvSpPr txBox="1"/>
          <p:nvPr/>
        </p:nvSpPr>
        <p:spPr>
          <a:xfrm>
            <a:off x="6263640" y="4837176"/>
            <a:ext cx="1280160" cy="347472"/>
          </a:xfrm>
          <a:prstGeom prst="rect">
            <a:avLst/>
          </a:prstGeom>
          <a:noFill/>
        </p:spPr>
        <p:txBody>
          <a:bodyPr wrap="square">
            <a:spAutoFit/>
          </a:bodyPr>
          <a:lstStyle/>
          <a:p>
            <a:pPr algn="l"/>
            <a:r>
              <a:rPr sz="900" b="1" i="0">
                <a:solidFill>
                  <a:srgbClr val="C4B5FD"/>
                </a:solidFill>
              </a:rPr>
              <a:t>Testability</a:t>
            </a:r>
          </a:p>
        </p:txBody>
      </p:sp>
      <p:sp>
        <p:nvSpPr>
          <p:cNvPr id="48" name="TextBox 47"/>
          <p:cNvSpPr txBox="1"/>
          <p:nvPr/>
        </p:nvSpPr>
        <p:spPr>
          <a:xfrm>
            <a:off x="7589520" y="4837176"/>
            <a:ext cx="4114800" cy="502920"/>
          </a:xfrm>
          <a:prstGeom prst="rect">
            <a:avLst/>
          </a:prstGeom>
          <a:noFill/>
        </p:spPr>
        <p:txBody>
          <a:bodyPr wrap="square">
            <a:spAutoFit/>
          </a:bodyPr>
          <a:lstStyle/>
          <a:p>
            <a:pPr algn="l"/>
            <a:r>
              <a:rPr sz="900" b="0" i="0">
                <a:solidFill>
                  <a:srgbClr val="94A3B8"/>
                </a:solidFill>
              </a:rPr>
              <a:t>pytest suite with &gt;40 test cases across unit, smoke, and integration</a:t>
            </a:r>
          </a:p>
        </p:txBody>
      </p:sp>
      <p:sp>
        <p:nvSpPr>
          <p:cNvPr id="49" name="TextBox 48"/>
          <p:cNvSpPr txBox="1"/>
          <p:nvPr/>
        </p:nvSpPr>
        <p:spPr>
          <a:xfrm>
            <a:off x="6263640" y="5376672"/>
            <a:ext cx="1280160" cy="347472"/>
          </a:xfrm>
          <a:prstGeom prst="rect">
            <a:avLst/>
          </a:prstGeom>
          <a:noFill/>
        </p:spPr>
        <p:txBody>
          <a:bodyPr wrap="square">
            <a:spAutoFit/>
          </a:bodyPr>
          <a:lstStyle/>
          <a:p>
            <a:pPr algn="l"/>
            <a:r>
              <a:rPr sz="900" b="1" i="0">
                <a:solidFill>
                  <a:srgbClr val="C4B5FD"/>
                </a:solidFill>
              </a:rPr>
              <a:t>Portability</a:t>
            </a:r>
          </a:p>
        </p:txBody>
      </p:sp>
      <p:sp>
        <p:nvSpPr>
          <p:cNvPr id="50" name="TextBox 49"/>
          <p:cNvSpPr txBox="1"/>
          <p:nvPr/>
        </p:nvSpPr>
        <p:spPr>
          <a:xfrm>
            <a:off x="7589520" y="5376672"/>
            <a:ext cx="4114800" cy="502920"/>
          </a:xfrm>
          <a:prstGeom prst="rect">
            <a:avLst/>
          </a:prstGeom>
          <a:noFill/>
        </p:spPr>
        <p:txBody>
          <a:bodyPr wrap="square">
            <a:spAutoFit/>
          </a:bodyPr>
          <a:lstStyle/>
          <a:p>
            <a:pPr algn="l"/>
            <a:r>
              <a:rPr sz="900" b="0" i="0">
                <a:solidFill>
                  <a:srgbClr val="94A3B8"/>
                </a:solidFill>
              </a:rPr>
              <a:t>Runs on Windows / macOS / Linux; Docker-ready file structure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System Architecture</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Component flow from browser to storage</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06</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3520440" y="1097280"/>
            <a:ext cx="5120640" cy="59436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0" y="1143000"/>
            <a:ext cx="4846320" cy="320040"/>
          </a:xfrm>
          <a:prstGeom prst="rect">
            <a:avLst/>
          </a:prstGeom>
          <a:noFill/>
        </p:spPr>
        <p:txBody>
          <a:bodyPr wrap="square">
            <a:spAutoFit/>
          </a:bodyPr>
          <a:lstStyle/>
          <a:p>
            <a:pPr algn="ctr"/>
            <a:r>
              <a:rPr sz="1200" b="1" i="0">
                <a:solidFill>
                  <a:srgbClr val="FFFFFF"/>
                </a:solidFill>
              </a:rPr>
              <a:t>User / Browser</a:t>
            </a:r>
          </a:p>
        </p:txBody>
      </p:sp>
      <p:sp>
        <p:nvSpPr>
          <p:cNvPr id="11" name="TextBox 10"/>
          <p:cNvSpPr txBox="1"/>
          <p:nvPr/>
        </p:nvSpPr>
        <p:spPr>
          <a:xfrm>
            <a:off x="3657600" y="1444752"/>
            <a:ext cx="4846320" cy="219456"/>
          </a:xfrm>
          <a:prstGeom prst="rect">
            <a:avLst/>
          </a:prstGeom>
          <a:noFill/>
        </p:spPr>
        <p:txBody>
          <a:bodyPr wrap="square">
            <a:spAutoFit/>
          </a:bodyPr>
          <a:lstStyle/>
          <a:p>
            <a:pPr algn="ctr"/>
            <a:r>
              <a:rPr sz="850" b="0" i="0">
                <a:solidFill>
                  <a:srgbClr val="E2E8F0"/>
                </a:solidFill>
              </a:rPr>
              <a:t>Streamlit web interface</a:t>
            </a:r>
          </a:p>
        </p:txBody>
      </p:sp>
      <p:sp>
        <p:nvSpPr>
          <p:cNvPr id="12" name="Rectangle 11"/>
          <p:cNvSpPr/>
          <p:nvPr/>
        </p:nvSpPr>
        <p:spPr>
          <a:xfrm>
            <a:off x="6025896" y="1700784"/>
            <a:ext cx="109728" cy="14630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34456" y="1673352"/>
            <a:ext cx="292608" cy="201168"/>
          </a:xfrm>
          <a:prstGeom prst="rect">
            <a:avLst/>
          </a:prstGeom>
          <a:noFill/>
        </p:spPr>
        <p:txBody>
          <a:bodyPr wrap="square">
            <a:spAutoFit/>
          </a:bodyPr>
          <a:lstStyle/>
          <a:p>
            <a:pPr algn="ctr"/>
            <a:r>
              <a:rPr sz="900" b="0" i="0">
                <a:solidFill>
                  <a:srgbClr val="475569"/>
                </a:solidFill>
              </a:rPr>
              <a:t>▼</a:t>
            </a:r>
          </a:p>
        </p:txBody>
      </p:sp>
      <p:sp>
        <p:nvSpPr>
          <p:cNvPr id="14" name="Rounded Rectangle 13"/>
          <p:cNvSpPr/>
          <p:nvPr/>
        </p:nvSpPr>
        <p:spPr>
          <a:xfrm>
            <a:off x="3520440" y="1856232"/>
            <a:ext cx="5120640" cy="5943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0" y="1901952"/>
            <a:ext cx="4846320" cy="320040"/>
          </a:xfrm>
          <a:prstGeom prst="rect">
            <a:avLst/>
          </a:prstGeom>
          <a:noFill/>
        </p:spPr>
        <p:txBody>
          <a:bodyPr wrap="square">
            <a:spAutoFit/>
          </a:bodyPr>
          <a:lstStyle/>
          <a:p>
            <a:pPr algn="ctr"/>
            <a:r>
              <a:rPr sz="1200" b="1" i="0">
                <a:solidFill>
                  <a:srgbClr val="FFFFFF"/>
                </a:solidFill>
              </a:rPr>
              <a:t>Streamlit UI  (app.py)</a:t>
            </a:r>
          </a:p>
        </p:txBody>
      </p:sp>
      <p:sp>
        <p:nvSpPr>
          <p:cNvPr id="16" name="TextBox 15"/>
          <p:cNvSpPr txBox="1"/>
          <p:nvPr/>
        </p:nvSpPr>
        <p:spPr>
          <a:xfrm>
            <a:off x="3657600" y="2203704"/>
            <a:ext cx="4846320" cy="219456"/>
          </a:xfrm>
          <a:prstGeom prst="rect">
            <a:avLst/>
          </a:prstGeom>
          <a:noFill/>
        </p:spPr>
        <p:txBody>
          <a:bodyPr wrap="square">
            <a:spAutoFit/>
          </a:bodyPr>
          <a:lstStyle/>
          <a:p>
            <a:pPr algn="ctr"/>
            <a:r>
              <a:rPr sz="850" b="0" i="0">
                <a:solidFill>
                  <a:srgbClr val="E2E8F0"/>
                </a:solidFill>
              </a:rPr>
              <a:t>5 pages · session state · form → result</a:t>
            </a:r>
          </a:p>
        </p:txBody>
      </p:sp>
      <p:sp>
        <p:nvSpPr>
          <p:cNvPr id="17" name="Rectangle 16"/>
          <p:cNvSpPr/>
          <p:nvPr/>
        </p:nvSpPr>
        <p:spPr>
          <a:xfrm>
            <a:off x="6025896" y="2459736"/>
            <a:ext cx="109728" cy="14630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34456" y="2432304"/>
            <a:ext cx="292608" cy="201168"/>
          </a:xfrm>
          <a:prstGeom prst="rect">
            <a:avLst/>
          </a:prstGeom>
          <a:noFill/>
        </p:spPr>
        <p:txBody>
          <a:bodyPr wrap="square">
            <a:spAutoFit/>
          </a:bodyPr>
          <a:lstStyle/>
          <a:p>
            <a:pPr algn="ctr"/>
            <a:r>
              <a:rPr sz="900" b="0" i="0">
                <a:solidFill>
                  <a:srgbClr val="475569"/>
                </a:solidFill>
              </a:rPr>
              <a:t>▼</a:t>
            </a:r>
          </a:p>
        </p:txBody>
      </p:sp>
      <p:sp>
        <p:nvSpPr>
          <p:cNvPr id="19" name="Rounded Rectangle 18"/>
          <p:cNvSpPr/>
          <p:nvPr/>
        </p:nvSpPr>
        <p:spPr>
          <a:xfrm>
            <a:off x="3520440" y="2615184"/>
            <a:ext cx="5120640" cy="59436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0" y="2660904"/>
            <a:ext cx="4846320" cy="320040"/>
          </a:xfrm>
          <a:prstGeom prst="rect">
            <a:avLst/>
          </a:prstGeom>
          <a:noFill/>
        </p:spPr>
        <p:txBody>
          <a:bodyPr wrap="square">
            <a:spAutoFit/>
          </a:bodyPr>
          <a:lstStyle/>
          <a:p>
            <a:pPr algn="ctr"/>
            <a:r>
              <a:rPr sz="1200" b="1" i="0">
                <a:solidFill>
                  <a:srgbClr val="FFFFFF"/>
                </a:solidFill>
              </a:rPr>
              <a:t>FastAPI Backend  (api.py)</a:t>
            </a:r>
          </a:p>
        </p:txBody>
      </p:sp>
      <p:sp>
        <p:nvSpPr>
          <p:cNvPr id="21" name="TextBox 20"/>
          <p:cNvSpPr txBox="1"/>
          <p:nvPr/>
        </p:nvSpPr>
        <p:spPr>
          <a:xfrm>
            <a:off x="3657600" y="2962656"/>
            <a:ext cx="4846320" cy="219456"/>
          </a:xfrm>
          <a:prstGeom prst="rect">
            <a:avLst/>
          </a:prstGeom>
          <a:noFill/>
        </p:spPr>
        <p:txBody>
          <a:bodyPr wrap="square">
            <a:spAutoFit/>
          </a:bodyPr>
          <a:lstStyle/>
          <a:p>
            <a:pPr algn="ctr"/>
            <a:r>
              <a:rPr sz="850" b="0" i="0">
                <a:solidFill>
                  <a:srgbClr val="E2E8F0"/>
                </a:solidFill>
              </a:rPr>
              <a:t>8 REST endpoints · CORS · JSON</a:t>
            </a:r>
          </a:p>
        </p:txBody>
      </p:sp>
      <p:sp>
        <p:nvSpPr>
          <p:cNvPr id="22" name="Rectangle 21"/>
          <p:cNvSpPr/>
          <p:nvPr/>
        </p:nvSpPr>
        <p:spPr>
          <a:xfrm>
            <a:off x="6025896" y="3218688"/>
            <a:ext cx="109728" cy="14630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34456" y="3191256"/>
            <a:ext cx="292608" cy="201168"/>
          </a:xfrm>
          <a:prstGeom prst="rect">
            <a:avLst/>
          </a:prstGeom>
          <a:noFill/>
        </p:spPr>
        <p:txBody>
          <a:bodyPr wrap="square">
            <a:spAutoFit/>
          </a:bodyPr>
          <a:lstStyle/>
          <a:p>
            <a:pPr algn="ctr"/>
            <a:r>
              <a:rPr sz="900" b="0" i="0">
                <a:solidFill>
                  <a:srgbClr val="475569"/>
                </a:solidFill>
              </a:rPr>
              <a:t>▼</a:t>
            </a:r>
          </a:p>
        </p:txBody>
      </p:sp>
      <p:sp>
        <p:nvSpPr>
          <p:cNvPr id="24" name="Rounded Rectangle 23"/>
          <p:cNvSpPr/>
          <p:nvPr/>
        </p:nvSpPr>
        <p:spPr>
          <a:xfrm>
            <a:off x="3520440" y="3374136"/>
            <a:ext cx="5120640" cy="5943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600" y="3419856"/>
            <a:ext cx="4846320" cy="320040"/>
          </a:xfrm>
          <a:prstGeom prst="rect">
            <a:avLst/>
          </a:prstGeom>
          <a:noFill/>
        </p:spPr>
        <p:txBody>
          <a:bodyPr wrap="square">
            <a:spAutoFit/>
          </a:bodyPr>
          <a:lstStyle/>
          <a:p>
            <a:pPr algn="ctr"/>
            <a:r>
              <a:rPr sz="1200" b="1" i="0">
                <a:solidFill>
                  <a:srgbClr val="FFFFFF"/>
                </a:solidFill>
              </a:rPr>
              <a:t>DefectAnalyzer  (analyzer.py)</a:t>
            </a:r>
          </a:p>
        </p:txBody>
      </p:sp>
      <p:sp>
        <p:nvSpPr>
          <p:cNvPr id="26" name="TextBox 25"/>
          <p:cNvSpPr txBox="1"/>
          <p:nvPr/>
        </p:nvSpPr>
        <p:spPr>
          <a:xfrm>
            <a:off x="3657600" y="3721608"/>
            <a:ext cx="4846320" cy="219456"/>
          </a:xfrm>
          <a:prstGeom prst="rect">
            <a:avLst/>
          </a:prstGeom>
          <a:noFill/>
        </p:spPr>
        <p:txBody>
          <a:bodyPr wrap="square">
            <a:spAutoFit/>
          </a:bodyPr>
          <a:lstStyle/>
          <a:p>
            <a:pPr algn="ctr"/>
            <a:r>
              <a:rPr sz="850" b="0" i="0">
                <a:solidFill>
                  <a:srgbClr val="E2E8F0"/>
                </a:solidFill>
              </a:rPr>
              <a:t>Orchestrates the full pipeline</a:t>
            </a:r>
          </a:p>
        </p:txBody>
      </p:sp>
      <p:sp>
        <p:nvSpPr>
          <p:cNvPr id="27" name="Rectangle 26"/>
          <p:cNvSpPr/>
          <p:nvPr/>
        </p:nvSpPr>
        <p:spPr>
          <a:xfrm>
            <a:off x="6025896" y="3977640"/>
            <a:ext cx="109728" cy="14630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34456" y="3950208"/>
            <a:ext cx="292608" cy="201168"/>
          </a:xfrm>
          <a:prstGeom prst="rect">
            <a:avLst/>
          </a:prstGeom>
          <a:noFill/>
        </p:spPr>
        <p:txBody>
          <a:bodyPr wrap="square">
            <a:spAutoFit/>
          </a:bodyPr>
          <a:lstStyle/>
          <a:p>
            <a:pPr algn="ctr"/>
            <a:r>
              <a:rPr sz="900" b="0" i="0">
                <a:solidFill>
                  <a:srgbClr val="475569"/>
                </a:solidFill>
              </a:rPr>
              <a:t>▼</a:t>
            </a:r>
          </a:p>
        </p:txBody>
      </p:sp>
      <p:sp>
        <p:nvSpPr>
          <p:cNvPr id="29" name="Rounded Rectangle 28"/>
          <p:cNvSpPr/>
          <p:nvPr/>
        </p:nvSpPr>
        <p:spPr>
          <a:xfrm>
            <a:off x="3520440" y="4133088"/>
            <a:ext cx="5120640" cy="59436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0" y="4178808"/>
            <a:ext cx="4846320" cy="320040"/>
          </a:xfrm>
          <a:prstGeom prst="rect">
            <a:avLst/>
          </a:prstGeom>
          <a:noFill/>
        </p:spPr>
        <p:txBody>
          <a:bodyPr wrap="square">
            <a:spAutoFit/>
          </a:bodyPr>
          <a:lstStyle/>
          <a:p>
            <a:pPr algn="ctr"/>
            <a:r>
              <a:rPr sz="1200" b="1" i="0">
                <a:solidFill>
                  <a:srgbClr val="FFFFFF"/>
                </a:solidFill>
              </a:rPr>
              <a:t>Validator → Scorer → Rewriter</a:t>
            </a:r>
          </a:p>
        </p:txBody>
      </p:sp>
      <p:sp>
        <p:nvSpPr>
          <p:cNvPr id="31" name="TextBox 30"/>
          <p:cNvSpPr txBox="1"/>
          <p:nvPr/>
        </p:nvSpPr>
        <p:spPr>
          <a:xfrm>
            <a:off x="3657600" y="4480560"/>
            <a:ext cx="4846320" cy="219456"/>
          </a:xfrm>
          <a:prstGeom prst="rect">
            <a:avLst/>
          </a:prstGeom>
          <a:noFill/>
        </p:spPr>
        <p:txBody>
          <a:bodyPr wrap="square">
            <a:spAutoFit/>
          </a:bodyPr>
          <a:lstStyle/>
          <a:p>
            <a:pPr algn="ctr"/>
            <a:r>
              <a:rPr sz="850" b="0" i="0">
                <a:solidFill>
                  <a:srgbClr val="E2E8F0"/>
                </a:solidFill>
              </a:rPr>
              <a:t>3 independent, testable modules</a:t>
            </a:r>
          </a:p>
        </p:txBody>
      </p:sp>
      <p:sp>
        <p:nvSpPr>
          <p:cNvPr id="32" name="Rectangle 31"/>
          <p:cNvSpPr/>
          <p:nvPr/>
        </p:nvSpPr>
        <p:spPr>
          <a:xfrm>
            <a:off x="6025896" y="4736592"/>
            <a:ext cx="109728" cy="14630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34456" y="4709160"/>
            <a:ext cx="292608" cy="201168"/>
          </a:xfrm>
          <a:prstGeom prst="rect">
            <a:avLst/>
          </a:prstGeom>
          <a:noFill/>
        </p:spPr>
        <p:txBody>
          <a:bodyPr wrap="square">
            <a:spAutoFit/>
          </a:bodyPr>
          <a:lstStyle/>
          <a:p>
            <a:pPr algn="ctr"/>
            <a:r>
              <a:rPr sz="900" b="0" i="0">
                <a:solidFill>
                  <a:srgbClr val="475569"/>
                </a:solidFill>
              </a:rPr>
              <a:t>▼</a:t>
            </a:r>
          </a:p>
        </p:txBody>
      </p:sp>
      <p:sp>
        <p:nvSpPr>
          <p:cNvPr id="34" name="Rounded Rectangle 33"/>
          <p:cNvSpPr/>
          <p:nvPr/>
        </p:nvSpPr>
        <p:spPr>
          <a:xfrm>
            <a:off x="3520440" y="4892040"/>
            <a:ext cx="5120640" cy="59436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657600" y="4937760"/>
            <a:ext cx="4846320" cy="320040"/>
          </a:xfrm>
          <a:prstGeom prst="rect">
            <a:avLst/>
          </a:prstGeom>
          <a:noFill/>
        </p:spPr>
        <p:txBody>
          <a:bodyPr wrap="square">
            <a:spAutoFit/>
          </a:bodyPr>
          <a:lstStyle/>
          <a:p>
            <a:pPr algn="ctr"/>
            <a:r>
              <a:rPr sz="1200" b="1" i="0">
                <a:solidFill>
                  <a:srgbClr val="FFFFFF"/>
                </a:solidFill>
              </a:rPr>
              <a:t>BugLensStore  (storage.py)</a:t>
            </a:r>
          </a:p>
        </p:txBody>
      </p:sp>
      <p:sp>
        <p:nvSpPr>
          <p:cNvPr id="36" name="TextBox 35"/>
          <p:cNvSpPr txBox="1"/>
          <p:nvPr/>
        </p:nvSpPr>
        <p:spPr>
          <a:xfrm>
            <a:off x="3657600" y="5239512"/>
            <a:ext cx="4846320" cy="219456"/>
          </a:xfrm>
          <a:prstGeom prst="rect">
            <a:avLst/>
          </a:prstGeom>
          <a:noFill/>
        </p:spPr>
        <p:txBody>
          <a:bodyPr wrap="square">
            <a:spAutoFit/>
          </a:bodyPr>
          <a:lstStyle/>
          <a:p>
            <a:pPr algn="ctr"/>
            <a:r>
              <a:rPr sz="850" b="0" i="0">
                <a:solidFill>
                  <a:srgbClr val="E2E8F0"/>
                </a:solidFill>
              </a:rPr>
              <a:t>SQLite · save · list · get · delete</a:t>
            </a:r>
          </a:p>
        </p:txBody>
      </p:sp>
      <p:sp>
        <p:nvSpPr>
          <p:cNvPr id="37" name="Rounded Rectangle 36"/>
          <p:cNvSpPr/>
          <p:nvPr/>
        </p:nvSpPr>
        <p:spPr>
          <a:xfrm>
            <a:off x="274320" y="1097280"/>
            <a:ext cx="2926080" cy="52578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11480" y="1188720"/>
            <a:ext cx="2651760" cy="347472"/>
          </a:xfrm>
          <a:prstGeom prst="rect">
            <a:avLst/>
          </a:prstGeom>
          <a:noFill/>
        </p:spPr>
        <p:txBody>
          <a:bodyPr wrap="square">
            <a:spAutoFit/>
          </a:bodyPr>
          <a:lstStyle/>
          <a:p>
            <a:pPr algn="l"/>
            <a:r>
              <a:rPr sz="1200" b="1" i="0">
                <a:solidFill>
                  <a:srgbClr val="A5F3FC"/>
                </a:solidFill>
              </a:rPr>
              <a:t>Architecture Notes</a:t>
            </a:r>
          </a:p>
        </p:txBody>
      </p:sp>
      <p:sp>
        <p:nvSpPr>
          <p:cNvPr id="39" name="Rectangle 38"/>
          <p:cNvSpPr/>
          <p:nvPr/>
        </p:nvSpPr>
        <p:spPr>
          <a:xfrm>
            <a:off x="384048" y="1627632"/>
            <a:ext cx="73152" cy="6400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48640" y="1600200"/>
            <a:ext cx="2560320" cy="1005840"/>
          </a:xfrm>
          <a:prstGeom prst="rect">
            <a:avLst/>
          </a:prstGeom>
          <a:noFill/>
        </p:spPr>
        <p:txBody>
          <a:bodyPr wrap="square">
            <a:spAutoFit/>
          </a:bodyPr>
          <a:lstStyle/>
          <a:p>
            <a:pPr algn="l"/>
            <a:r>
              <a:rPr sz="950" b="0" i="0">
                <a:solidFill>
                  <a:srgbClr val="94A3B8"/>
                </a:solidFill>
              </a:rPr>
              <a:t>Streamlit UI can operate
independently (in-process
DefectAnalyzer call).</a:t>
            </a:r>
          </a:p>
        </p:txBody>
      </p:sp>
      <p:sp>
        <p:nvSpPr>
          <p:cNvPr id="41" name="Rectangle 40"/>
          <p:cNvSpPr/>
          <p:nvPr/>
        </p:nvSpPr>
        <p:spPr>
          <a:xfrm>
            <a:off x="384048" y="2724912"/>
            <a:ext cx="73152" cy="6400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48640" y="2697480"/>
            <a:ext cx="2560320" cy="1005840"/>
          </a:xfrm>
          <a:prstGeom prst="rect">
            <a:avLst/>
          </a:prstGeom>
          <a:noFill/>
        </p:spPr>
        <p:txBody>
          <a:bodyPr wrap="square">
            <a:spAutoFit/>
          </a:bodyPr>
          <a:lstStyle/>
          <a:p>
            <a:pPr algn="l"/>
            <a:r>
              <a:rPr sz="950" b="0" i="0">
                <a:solidFill>
                  <a:srgbClr val="94A3B8"/>
                </a:solidFill>
              </a:rPr>
              <a:t>FastAPI backend provides
the same pipeline via REST
for CI/CD integration.</a:t>
            </a:r>
          </a:p>
        </p:txBody>
      </p:sp>
      <p:sp>
        <p:nvSpPr>
          <p:cNvPr id="43" name="Rectangle 42"/>
          <p:cNvSpPr/>
          <p:nvPr/>
        </p:nvSpPr>
        <p:spPr>
          <a:xfrm>
            <a:off x="384048" y="3822192"/>
            <a:ext cx="73152" cy="6400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48640" y="3794760"/>
            <a:ext cx="2560320" cy="1005840"/>
          </a:xfrm>
          <a:prstGeom prst="rect">
            <a:avLst/>
          </a:prstGeom>
          <a:noFill/>
        </p:spPr>
        <p:txBody>
          <a:bodyPr wrap="square">
            <a:spAutoFit/>
          </a:bodyPr>
          <a:lstStyle/>
          <a:p>
            <a:pPr algn="l"/>
            <a:r>
              <a:rPr sz="950" b="0" i="0">
                <a:solidFill>
                  <a:srgbClr val="94A3B8"/>
                </a:solidFill>
              </a:rPr>
              <a:t>All modules are stateless
— Analyzer, Validator,
Scorer, Rewriter.</a:t>
            </a:r>
          </a:p>
        </p:txBody>
      </p:sp>
      <p:sp>
        <p:nvSpPr>
          <p:cNvPr id="45" name="Rectangle 44"/>
          <p:cNvSpPr/>
          <p:nvPr/>
        </p:nvSpPr>
        <p:spPr>
          <a:xfrm>
            <a:off x="384048" y="4919472"/>
            <a:ext cx="73152" cy="6400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8640" y="4892040"/>
            <a:ext cx="2560320" cy="1005840"/>
          </a:xfrm>
          <a:prstGeom prst="rect">
            <a:avLst/>
          </a:prstGeom>
          <a:noFill/>
        </p:spPr>
        <p:txBody>
          <a:bodyPr wrap="square">
            <a:spAutoFit/>
          </a:bodyPr>
          <a:lstStyle/>
          <a:p>
            <a:pPr algn="l"/>
            <a:r>
              <a:rPr sz="950" b="0" i="0">
                <a:solidFill>
                  <a:srgbClr val="94A3B8"/>
                </a:solidFill>
              </a:rPr>
              <a:t>SQLite auto-creates on
first run; path overridable
via BUGLENS_DB_PATH env.</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Technology Stack</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Tools, frameworks, and libraries</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07</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274320" y="1097280"/>
            <a:ext cx="2834640" cy="237744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97280"/>
            <a:ext cx="283464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344168" y="1261872"/>
            <a:ext cx="694944" cy="694944"/>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44168" y="1298448"/>
            <a:ext cx="694944" cy="566928"/>
          </a:xfrm>
          <a:prstGeom prst="rect">
            <a:avLst/>
          </a:prstGeom>
          <a:noFill/>
        </p:spPr>
        <p:txBody>
          <a:bodyPr wrap="square">
            <a:spAutoFit/>
          </a:bodyPr>
          <a:lstStyle/>
          <a:p>
            <a:pPr algn="ctr"/>
            <a:r>
              <a:rPr sz="1600" b="1" i="0">
                <a:solidFill>
                  <a:srgbClr val="FFFFFF"/>
                </a:solidFill>
              </a:rPr>
              <a:t>ST</a:t>
            </a:r>
          </a:p>
        </p:txBody>
      </p:sp>
      <p:sp>
        <p:nvSpPr>
          <p:cNvPr id="13" name="TextBox 12"/>
          <p:cNvSpPr txBox="1"/>
          <p:nvPr/>
        </p:nvSpPr>
        <p:spPr>
          <a:xfrm>
            <a:off x="365760" y="2011680"/>
            <a:ext cx="2651760" cy="365760"/>
          </a:xfrm>
          <a:prstGeom prst="rect">
            <a:avLst/>
          </a:prstGeom>
          <a:noFill/>
        </p:spPr>
        <p:txBody>
          <a:bodyPr wrap="square">
            <a:spAutoFit/>
          </a:bodyPr>
          <a:lstStyle/>
          <a:p>
            <a:pPr algn="ctr"/>
            <a:r>
              <a:rPr sz="1300" b="1" i="0">
                <a:solidFill>
                  <a:srgbClr val="FFFFFF"/>
                </a:solidFill>
              </a:rPr>
              <a:t>Streamlit</a:t>
            </a:r>
          </a:p>
        </p:txBody>
      </p:sp>
      <p:sp>
        <p:nvSpPr>
          <p:cNvPr id="14" name="TextBox 13"/>
          <p:cNvSpPr txBox="1"/>
          <p:nvPr/>
        </p:nvSpPr>
        <p:spPr>
          <a:xfrm>
            <a:off x="365760" y="2395728"/>
            <a:ext cx="2651760" cy="201168"/>
          </a:xfrm>
          <a:prstGeom prst="rect">
            <a:avLst/>
          </a:prstGeom>
          <a:noFill/>
        </p:spPr>
        <p:txBody>
          <a:bodyPr wrap="square">
            <a:spAutoFit/>
          </a:bodyPr>
          <a:lstStyle/>
          <a:p>
            <a:pPr algn="ctr"/>
            <a:r>
              <a:rPr sz="800" b="1" i="0">
                <a:solidFill>
                  <a:srgbClr val="06B6D4"/>
                </a:solidFill>
              </a:rPr>
              <a:t>FRONTEND</a:t>
            </a:r>
          </a:p>
        </p:txBody>
      </p:sp>
      <p:sp>
        <p:nvSpPr>
          <p:cNvPr id="15" name="TextBox 14"/>
          <p:cNvSpPr txBox="1"/>
          <p:nvPr/>
        </p:nvSpPr>
        <p:spPr>
          <a:xfrm>
            <a:off x="365760" y="2615184"/>
            <a:ext cx="2651760" cy="777240"/>
          </a:xfrm>
          <a:prstGeom prst="rect">
            <a:avLst/>
          </a:prstGeom>
          <a:noFill/>
        </p:spPr>
        <p:txBody>
          <a:bodyPr wrap="square">
            <a:spAutoFit/>
          </a:bodyPr>
          <a:lstStyle/>
          <a:p>
            <a:pPr algn="ctr"/>
            <a:r>
              <a:rPr sz="800" b="0" i="0">
                <a:solidFill>
                  <a:srgbClr val="94A3B8"/>
                </a:solidFill>
              </a:rPr>
              <a:t>Python-native UI framework; 5 pages, session state, Plotly charts</a:t>
            </a:r>
          </a:p>
        </p:txBody>
      </p:sp>
      <p:sp>
        <p:nvSpPr>
          <p:cNvPr id="16" name="Rounded Rectangle 15"/>
          <p:cNvSpPr/>
          <p:nvPr/>
        </p:nvSpPr>
        <p:spPr>
          <a:xfrm>
            <a:off x="3310128" y="1097280"/>
            <a:ext cx="2834640" cy="237744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310128" y="1097280"/>
            <a:ext cx="283464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379976" y="1261872"/>
            <a:ext cx="694944" cy="69494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79976" y="1298448"/>
            <a:ext cx="694944" cy="566928"/>
          </a:xfrm>
          <a:prstGeom prst="rect">
            <a:avLst/>
          </a:prstGeom>
          <a:noFill/>
        </p:spPr>
        <p:txBody>
          <a:bodyPr wrap="square">
            <a:spAutoFit/>
          </a:bodyPr>
          <a:lstStyle/>
          <a:p>
            <a:pPr algn="ctr"/>
            <a:r>
              <a:rPr sz="1600" b="1" i="0">
                <a:solidFill>
                  <a:srgbClr val="FFFFFF"/>
                </a:solidFill>
              </a:rPr>
              <a:t>FA</a:t>
            </a:r>
          </a:p>
        </p:txBody>
      </p:sp>
      <p:sp>
        <p:nvSpPr>
          <p:cNvPr id="20" name="TextBox 19"/>
          <p:cNvSpPr txBox="1"/>
          <p:nvPr/>
        </p:nvSpPr>
        <p:spPr>
          <a:xfrm>
            <a:off x="3401568" y="2011680"/>
            <a:ext cx="2651760" cy="365760"/>
          </a:xfrm>
          <a:prstGeom prst="rect">
            <a:avLst/>
          </a:prstGeom>
          <a:noFill/>
        </p:spPr>
        <p:txBody>
          <a:bodyPr wrap="square">
            <a:spAutoFit/>
          </a:bodyPr>
          <a:lstStyle/>
          <a:p>
            <a:pPr algn="ctr"/>
            <a:r>
              <a:rPr sz="1300" b="1" i="0">
                <a:solidFill>
                  <a:srgbClr val="FFFFFF"/>
                </a:solidFill>
              </a:rPr>
              <a:t>FastAPI</a:t>
            </a:r>
          </a:p>
        </p:txBody>
      </p:sp>
      <p:sp>
        <p:nvSpPr>
          <p:cNvPr id="21" name="TextBox 20"/>
          <p:cNvSpPr txBox="1"/>
          <p:nvPr/>
        </p:nvSpPr>
        <p:spPr>
          <a:xfrm>
            <a:off x="3401568" y="2395728"/>
            <a:ext cx="2651760" cy="201168"/>
          </a:xfrm>
          <a:prstGeom prst="rect">
            <a:avLst/>
          </a:prstGeom>
          <a:noFill/>
        </p:spPr>
        <p:txBody>
          <a:bodyPr wrap="square">
            <a:spAutoFit/>
          </a:bodyPr>
          <a:lstStyle/>
          <a:p>
            <a:pPr algn="ctr"/>
            <a:r>
              <a:rPr sz="800" b="1" i="0">
                <a:solidFill>
                  <a:srgbClr val="2563EB"/>
                </a:solidFill>
              </a:rPr>
              <a:t>BACKEND</a:t>
            </a:r>
          </a:p>
        </p:txBody>
      </p:sp>
      <p:sp>
        <p:nvSpPr>
          <p:cNvPr id="22" name="TextBox 21"/>
          <p:cNvSpPr txBox="1"/>
          <p:nvPr/>
        </p:nvSpPr>
        <p:spPr>
          <a:xfrm>
            <a:off x="3401568" y="2615184"/>
            <a:ext cx="2651760" cy="777240"/>
          </a:xfrm>
          <a:prstGeom prst="rect">
            <a:avLst/>
          </a:prstGeom>
          <a:noFill/>
        </p:spPr>
        <p:txBody>
          <a:bodyPr wrap="square">
            <a:spAutoFit/>
          </a:bodyPr>
          <a:lstStyle/>
          <a:p>
            <a:pPr algn="ctr"/>
            <a:r>
              <a:rPr sz="800" b="0" i="0">
                <a:solidFill>
                  <a:srgbClr val="94A3B8"/>
                </a:solidFill>
              </a:rPr>
              <a:t>Async REST framework; auto Swagger docs at /docs; CORS support</a:t>
            </a:r>
          </a:p>
        </p:txBody>
      </p:sp>
      <p:sp>
        <p:nvSpPr>
          <p:cNvPr id="23" name="Rounded Rectangle 22"/>
          <p:cNvSpPr/>
          <p:nvPr/>
        </p:nvSpPr>
        <p:spPr>
          <a:xfrm>
            <a:off x="6345936" y="1097280"/>
            <a:ext cx="2834640" cy="237744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345936" y="1097280"/>
            <a:ext cx="283464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415784" y="1261872"/>
            <a:ext cx="694944" cy="69494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15784" y="1298448"/>
            <a:ext cx="694944" cy="566928"/>
          </a:xfrm>
          <a:prstGeom prst="rect">
            <a:avLst/>
          </a:prstGeom>
          <a:noFill/>
        </p:spPr>
        <p:txBody>
          <a:bodyPr wrap="square">
            <a:spAutoFit/>
          </a:bodyPr>
          <a:lstStyle/>
          <a:p>
            <a:pPr algn="ctr"/>
            <a:r>
              <a:rPr sz="1600" b="1" i="0">
                <a:solidFill>
                  <a:srgbClr val="FFFFFF"/>
                </a:solidFill>
              </a:rPr>
              <a:t>PY</a:t>
            </a:r>
          </a:p>
        </p:txBody>
      </p:sp>
      <p:sp>
        <p:nvSpPr>
          <p:cNvPr id="27" name="TextBox 26"/>
          <p:cNvSpPr txBox="1"/>
          <p:nvPr/>
        </p:nvSpPr>
        <p:spPr>
          <a:xfrm>
            <a:off x="6437376" y="2011680"/>
            <a:ext cx="2651760" cy="365760"/>
          </a:xfrm>
          <a:prstGeom prst="rect">
            <a:avLst/>
          </a:prstGeom>
          <a:noFill/>
        </p:spPr>
        <p:txBody>
          <a:bodyPr wrap="square">
            <a:spAutoFit/>
          </a:bodyPr>
          <a:lstStyle/>
          <a:p>
            <a:pPr algn="ctr"/>
            <a:r>
              <a:rPr sz="1300" b="1" i="0">
                <a:solidFill>
                  <a:srgbClr val="FFFFFF"/>
                </a:solidFill>
              </a:rPr>
              <a:t>Python 3.14</a:t>
            </a:r>
          </a:p>
        </p:txBody>
      </p:sp>
      <p:sp>
        <p:nvSpPr>
          <p:cNvPr id="28" name="TextBox 27"/>
          <p:cNvSpPr txBox="1"/>
          <p:nvPr/>
        </p:nvSpPr>
        <p:spPr>
          <a:xfrm>
            <a:off x="6437376" y="2395728"/>
            <a:ext cx="2651760" cy="201168"/>
          </a:xfrm>
          <a:prstGeom prst="rect">
            <a:avLst/>
          </a:prstGeom>
          <a:noFill/>
        </p:spPr>
        <p:txBody>
          <a:bodyPr wrap="square">
            <a:spAutoFit/>
          </a:bodyPr>
          <a:lstStyle/>
          <a:p>
            <a:pPr algn="ctr"/>
            <a:r>
              <a:rPr sz="800" b="1" i="0">
                <a:solidFill>
                  <a:srgbClr val="7C3AED"/>
                </a:solidFill>
              </a:rPr>
              <a:t>LANGUAGE</a:t>
            </a:r>
          </a:p>
        </p:txBody>
      </p:sp>
      <p:sp>
        <p:nvSpPr>
          <p:cNvPr id="29" name="TextBox 28"/>
          <p:cNvSpPr txBox="1"/>
          <p:nvPr/>
        </p:nvSpPr>
        <p:spPr>
          <a:xfrm>
            <a:off x="6437376" y="2615184"/>
            <a:ext cx="2651760" cy="777240"/>
          </a:xfrm>
          <a:prstGeom prst="rect">
            <a:avLst/>
          </a:prstGeom>
          <a:noFill/>
        </p:spPr>
        <p:txBody>
          <a:bodyPr wrap="square">
            <a:spAutoFit/>
          </a:bodyPr>
          <a:lstStyle/>
          <a:p>
            <a:pPr algn="ctr"/>
            <a:r>
              <a:rPr sz="800" b="0" i="0">
                <a:solidFill>
                  <a:srgbClr val="94A3B8"/>
                </a:solidFill>
              </a:rPr>
              <a:t>Type hints, dataclasses, f-strings, pathlib throughout</a:t>
            </a:r>
          </a:p>
        </p:txBody>
      </p:sp>
      <p:sp>
        <p:nvSpPr>
          <p:cNvPr id="30" name="Rounded Rectangle 29"/>
          <p:cNvSpPr/>
          <p:nvPr/>
        </p:nvSpPr>
        <p:spPr>
          <a:xfrm>
            <a:off x="9306927" y="1097280"/>
            <a:ext cx="2834640" cy="237744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381744" y="1097280"/>
            <a:ext cx="283464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10451592" y="1261872"/>
            <a:ext cx="694944" cy="6949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451592" y="1298448"/>
            <a:ext cx="694944" cy="566928"/>
          </a:xfrm>
          <a:prstGeom prst="rect">
            <a:avLst/>
          </a:prstGeom>
          <a:noFill/>
        </p:spPr>
        <p:txBody>
          <a:bodyPr wrap="square">
            <a:spAutoFit/>
          </a:bodyPr>
          <a:lstStyle/>
          <a:p>
            <a:pPr algn="ctr"/>
            <a:r>
              <a:rPr sz="1600" b="1" i="0">
                <a:solidFill>
                  <a:srgbClr val="FFFFFF"/>
                </a:solidFill>
              </a:rPr>
              <a:t>PY</a:t>
            </a:r>
          </a:p>
        </p:txBody>
      </p:sp>
      <p:sp>
        <p:nvSpPr>
          <p:cNvPr id="34" name="TextBox 33"/>
          <p:cNvSpPr txBox="1"/>
          <p:nvPr/>
        </p:nvSpPr>
        <p:spPr>
          <a:xfrm>
            <a:off x="9473184" y="2011680"/>
            <a:ext cx="2651760" cy="365760"/>
          </a:xfrm>
          <a:prstGeom prst="rect">
            <a:avLst/>
          </a:prstGeom>
          <a:noFill/>
        </p:spPr>
        <p:txBody>
          <a:bodyPr wrap="square">
            <a:spAutoFit/>
          </a:bodyPr>
          <a:lstStyle/>
          <a:p>
            <a:pPr algn="ctr"/>
            <a:r>
              <a:rPr sz="1300" b="1" i="0">
                <a:solidFill>
                  <a:srgbClr val="FFFFFF"/>
                </a:solidFill>
              </a:rPr>
              <a:t>Pytest</a:t>
            </a:r>
          </a:p>
        </p:txBody>
      </p:sp>
      <p:sp>
        <p:nvSpPr>
          <p:cNvPr id="35" name="TextBox 34"/>
          <p:cNvSpPr txBox="1"/>
          <p:nvPr/>
        </p:nvSpPr>
        <p:spPr>
          <a:xfrm>
            <a:off x="9473184" y="2395728"/>
            <a:ext cx="2651760" cy="201168"/>
          </a:xfrm>
          <a:prstGeom prst="rect">
            <a:avLst/>
          </a:prstGeom>
          <a:noFill/>
        </p:spPr>
        <p:txBody>
          <a:bodyPr wrap="square">
            <a:spAutoFit/>
          </a:bodyPr>
          <a:lstStyle/>
          <a:p>
            <a:pPr algn="ctr"/>
            <a:r>
              <a:rPr sz="800" b="1" i="0">
                <a:solidFill>
                  <a:srgbClr val="059669"/>
                </a:solidFill>
              </a:rPr>
              <a:t>TESTING</a:t>
            </a:r>
          </a:p>
        </p:txBody>
      </p:sp>
      <p:sp>
        <p:nvSpPr>
          <p:cNvPr id="36" name="TextBox 35"/>
          <p:cNvSpPr txBox="1"/>
          <p:nvPr/>
        </p:nvSpPr>
        <p:spPr>
          <a:xfrm>
            <a:off x="9473184" y="2615184"/>
            <a:ext cx="2651760" cy="777240"/>
          </a:xfrm>
          <a:prstGeom prst="rect">
            <a:avLst/>
          </a:prstGeom>
          <a:noFill/>
        </p:spPr>
        <p:txBody>
          <a:bodyPr wrap="square">
            <a:spAutoFit/>
          </a:bodyPr>
          <a:lstStyle/>
          <a:p>
            <a:pPr algn="ctr"/>
            <a:r>
              <a:rPr sz="800" b="0" i="0">
                <a:solidFill>
                  <a:srgbClr val="94A3B8"/>
                </a:solidFill>
              </a:rPr>
              <a:t>Unit, smoke, integration, mailer tests; 4 test modules, 40+ cases</a:t>
            </a:r>
          </a:p>
        </p:txBody>
      </p:sp>
      <p:sp>
        <p:nvSpPr>
          <p:cNvPr id="37" name="Rounded Rectangle 36"/>
          <p:cNvSpPr/>
          <p:nvPr/>
        </p:nvSpPr>
        <p:spPr>
          <a:xfrm>
            <a:off x="274320" y="3639312"/>
            <a:ext cx="2834640" cy="237744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74320" y="3639312"/>
            <a:ext cx="2834640"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344168" y="3803904"/>
            <a:ext cx="694944" cy="69494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344168" y="3840480"/>
            <a:ext cx="694944" cy="566928"/>
          </a:xfrm>
          <a:prstGeom prst="rect">
            <a:avLst/>
          </a:prstGeom>
          <a:noFill/>
        </p:spPr>
        <p:txBody>
          <a:bodyPr wrap="square">
            <a:spAutoFit/>
          </a:bodyPr>
          <a:lstStyle/>
          <a:p>
            <a:pPr algn="ctr"/>
            <a:r>
              <a:rPr sz="1600" b="1" i="0">
                <a:solidFill>
                  <a:srgbClr val="FFFFFF"/>
                </a:solidFill>
              </a:rPr>
              <a:t>SQ</a:t>
            </a:r>
          </a:p>
        </p:txBody>
      </p:sp>
      <p:sp>
        <p:nvSpPr>
          <p:cNvPr id="41" name="TextBox 40"/>
          <p:cNvSpPr txBox="1"/>
          <p:nvPr/>
        </p:nvSpPr>
        <p:spPr>
          <a:xfrm>
            <a:off x="365760" y="4553712"/>
            <a:ext cx="2651760" cy="365760"/>
          </a:xfrm>
          <a:prstGeom prst="rect">
            <a:avLst/>
          </a:prstGeom>
          <a:noFill/>
        </p:spPr>
        <p:txBody>
          <a:bodyPr wrap="square">
            <a:spAutoFit/>
          </a:bodyPr>
          <a:lstStyle/>
          <a:p>
            <a:pPr algn="ctr"/>
            <a:r>
              <a:rPr sz="1300" b="1" i="0">
                <a:solidFill>
                  <a:srgbClr val="FFFFFF"/>
                </a:solidFill>
              </a:rPr>
              <a:t>SQLite</a:t>
            </a:r>
          </a:p>
        </p:txBody>
      </p:sp>
      <p:sp>
        <p:nvSpPr>
          <p:cNvPr id="42" name="TextBox 41"/>
          <p:cNvSpPr txBox="1"/>
          <p:nvPr/>
        </p:nvSpPr>
        <p:spPr>
          <a:xfrm>
            <a:off x="365760" y="4937760"/>
            <a:ext cx="2651760" cy="201168"/>
          </a:xfrm>
          <a:prstGeom prst="rect">
            <a:avLst/>
          </a:prstGeom>
          <a:noFill/>
        </p:spPr>
        <p:txBody>
          <a:bodyPr wrap="square">
            <a:spAutoFit/>
          </a:bodyPr>
          <a:lstStyle/>
          <a:p>
            <a:pPr algn="ctr"/>
            <a:r>
              <a:rPr sz="800" b="1" i="0">
                <a:solidFill>
                  <a:srgbClr val="D97706"/>
                </a:solidFill>
              </a:rPr>
              <a:t>STORAGE</a:t>
            </a:r>
          </a:p>
        </p:txBody>
      </p:sp>
      <p:sp>
        <p:nvSpPr>
          <p:cNvPr id="43" name="TextBox 42"/>
          <p:cNvSpPr txBox="1"/>
          <p:nvPr/>
        </p:nvSpPr>
        <p:spPr>
          <a:xfrm>
            <a:off x="365760" y="5157216"/>
            <a:ext cx="2651760" cy="777240"/>
          </a:xfrm>
          <a:prstGeom prst="rect">
            <a:avLst/>
          </a:prstGeom>
          <a:noFill/>
        </p:spPr>
        <p:txBody>
          <a:bodyPr wrap="square">
            <a:spAutoFit/>
          </a:bodyPr>
          <a:lstStyle/>
          <a:p>
            <a:pPr algn="ctr"/>
            <a:r>
              <a:rPr sz="800" b="0" i="0">
                <a:solidFill>
                  <a:srgbClr val="94A3B8"/>
                </a:solidFill>
              </a:rPr>
              <a:t>Zero-config embedded DB; auto-schema; env-overridable path</a:t>
            </a:r>
          </a:p>
        </p:txBody>
      </p:sp>
      <p:sp>
        <p:nvSpPr>
          <p:cNvPr id="44" name="Rounded Rectangle 43"/>
          <p:cNvSpPr/>
          <p:nvPr/>
        </p:nvSpPr>
        <p:spPr>
          <a:xfrm>
            <a:off x="3310128" y="3639312"/>
            <a:ext cx="2834640" cy="237744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3310128" y="3639312"/>
            <a:ext cx="283464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4379976" y="3803904"/>
            <a:ext cx="694944" cy="694944"/>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379976" y="3840480"/>
            <a:ext cx="694944" cy="566928"/>
          </a:xfrm>
          <a:prstGeom prst="rect">
            <a:avLst/>
          </a:prstGeom>
          <a:noFill/>
        </p:spPr>
        <p:txBody>
          <a:bodyPr wrap="square">
            <a:spAutoFit/>
          </a:bodyPr>
          <a:lstStyle/>
          <a:p>
            <a:pPr algn="ctr"/>
            <a:r>
              <a:rPr sz="1600" b="1" i="0">
                <a:solidFill>
                  <a:srgbClr val="FFFFFF"/>
                </a:solidFill>
              </a:rPr>
              <a:t>OP</a:t>
            </a:r>
          </a:p>
        </p:txBody>
      </p:sp>
      <p:sp>
        <p:nvSpPr>
          <p:cNvPr id="48" name="TextBox 47"/>
          <p:cNvSpPr txBox="1"/>
          <p:nvPr/>
        </p:nvSpPr>
        <p:spPr>
          <a:xfrm>
            <a:off x="3401568" y="4553712"/>
            <a:ext cx="2651760" cy="365760"/>
          </a:xfrm>
          <a:prstGeom prst="rect">
            <a:avLst/>
          </a:prstGeom>
          <a:noFill/>
        </p:spPr>
        <p:txBody>
          <a:bodyPr wrap="square">
            <a:spAutoFit/>
          </a:bodyPr>
          <a:lstStyle/>
          <a:p>
            <a:pPr algn="ctr"/>
            <a:r>
              <a:rPr sz="1300" b="1" i="0">
                <a:solidFill>
                  <a:srgbClr val="FFFFFF"/>
                </a:solidFill>
              </a:rPr>
              <a:t>OpenAI API</a:t>
            </a:r>
          </a:p>
        </p:txBody>
      </p:sp>
      <p:sp>
        <p:nvSpPr>
          <p:cNvPr id="49" name="TextBox 48"/>
          <p:cNvSpPr txBox="1"/>
          <p:nvPr/>
        </p:nvSpPr>
        <p:spPr>
          <a:xfrm>
            <a:off x="3401568" y="4937760"/>
            <a:ext cx="2651760" cy="201168"/>
          </a:xfrm>
          <a:prstGeom prst="rect">
            <a:avLst/>
          </a:prstGeom>
          <a:noFill/>
        </p:spPr>
        <p:txBody>
          <a:bodyPr wrap="square">
            <a:spAutoFit/>
          </a:bodyPr>
          <a:lstStyle/>
          <a:p>
            <a:pPr algn="ctr"/>
            <a:r>
              <a:rPr sz="800" b="1" i="0">
                <a:solidFill>
                  <a:srgbClr val="EA580C"/>
                </a:solidFill>
              </a:rPr>
              <a:t>AI / REWRITE</a:t>
            </a:r>
          </a:p>
        </p:txBody>
      </p:sp>
      <p:sp>
        <p:nvSpPr>
          <p:cNvPr id="50" name="TextBox 49"/>
          <p:cNvSpPr txBox="1"/>
          <p:nvPr/>
        </p:nvSpPr>
        <p:spPr>
          <a:xfrm>
            <a:off x="3401568" y="5157216"/>
            <a:ext cx="2651760" cy="777240"/>
          </a:xfrm>
          <a:prstGeom prst="rect">
            <a:avLst/>
          </a:prstGeom>
          <a:noFill/>
        </p:spPr>
        <p:txBody>
          <a:bodyPr wrap="square">
            <a:spAutoFit/>
          </a:bodyPr>
          <a:lstStyle/>
          <a:p>
            <a:pPr algn="ctr"/>
            <a:r>
              <a:rPr sz="800" b="0" i="0">
                <a:solidFill>
                  <a:srgbClr val="94A3B8"/>
                </a:solidFill>
              </a:rPr>
              <a:t>Optional GPT-4o-mini rewrite; local fallback always available</a:t>
            </a:r>
          </a:p>
        </p:txBody>
      </p:sp>
      <p:sp>
        <p:nvSpPr>
          <p:cNvPr id="51" name="Rounded Rectangle 50"/>
          <p:cNvSpPr/>
          <p:nvPr/>
        </p:nvSpPr>
        <p:spPr>
          <a:xfrm>
            <a:off x="6345936" y="3639312"/>
            <a:ext cx="2834640" cy="237744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6345936" y="3639312"/>
            <a:ext cx="283464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7415784" y="3803904"/>
            <a:ext cx="694944" cy="69494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415784" y="3840480"/>
            <a:ext cx="694944" cy="566928"/>
          </a:xfrm>
          <a:prstGeom prst="rect">
            <a:avLst/>
          </a:prstGeom>
          <a:noFill/>
        </p:spPr>
        <p:txBody>
          <a:bodyPr wrap="square">
            <a:spAutoFit/>
          </a:bodyPr>
          <a:lstStyle/>
          <a:p>
            <a:pPr algn="ctr"/>
            <a:r>
              <a:rPr sz="1600" b="1" i="0">
                <a:solidFill>
                  <a:srgbClr val="FFFFFF"/>
                </a:solidFill>
              </a:rPr>
              <a:t>PL</a:t>
            </a:r>
          </a:p>
        </p:txBody>
      </p:sp>
      <p:sp>
        <p:nvSpPr>
          <p:cNvPr id="55" name="TextBox 54"/>
          <p:cNvSpPr txBox="1"/>
          <p:nvPr/>
        </p:nvSpPr>
        <p:spPr>
          <a:xfrm>
            <a:off x="6437376" y="4553712"/>
            <a:ext cx="2651760" cy="365760"/>
          </a:xfrm>
          <a:prstGeom prst="rect">
            <a:avLst/>
          </a:prstGeom>
          <a:noFill/>
        </p:spPr>
        <p:txBody>
          <a:bodyPr wrap="square">
            <a:spAutoFit/>
          </a:bodyPr>
          <a:lstStyle/>
          <a:p>
            <a:pPr algn="ctr"/>
            <a:r>
              <a:rPr sz="1300" b="1" i="0">
                <a:solidFill>
                  <a:srgbClr val="FFFFFF"/>
                </a:solidFill>
              </a:rPr>
              <a:t>Plotly Express</a:t>
            </a:r>
          </a:p>
        </p:txBody>
      </p:sp>
      <p:sp>
        <p:nvSpPr>
          <p:cNvPr id="56" name="TextBox 55"/>
          <p:cNvSpPr txBox="1"/>
          <p:nvPr/>
        </p:nvSpPr>
        <p:spPr>
          <a:xfrm>
            <a:off x="6437376" y="4937760"/>
            <a:ext cx="2651760" cy="201168"/>
          </a:xfrm>
          <a:prstGeom prst="rect">
            <a:avLst/>
          </a:prstGeom>
          <a:noFill/>
        </p:spPr>
        <p:txBody>
          <a:bodyPr wrap="square">
            <a:spAutoFit/>
          </a:bodyPr>
          <a:lstStyle/>
          <a:p>
            <a:pPr algn="ctr"/>
            <a:r>
              <a:rPr sz="800" b="1" i="0">
                <a:solidFill>
                  <a:srgbClr val="7C3AED"/>
                </a:solidFill>
              </a:rPr>
              <a:t>CHARTS</a:t>
            </a:r>
          </a:p>
        </p:txBody>
      </p:sp>
      <p:sp>
        <p:nvSpPr>
          <p:cNvPr id="57" name="TextBox 56"/>
          <p:cNvSpPr txBox="1"/>
          <p:nvPr/>
        </p:nvSpPr>
        <p:spPr>
          <a:xfrm>
            <a:off x="6437376" y="5157216"/>
            <a:ext cx="2651760" cy="777240"/>
          </a:xfrm>
          <a:prstGeom prst="rect">
            <a:avLst/>
          </a:prstGeom>
          <a:noFill/>
        </p:spPr>
        <p:txBody>
          <a:bodyPr wrap="square">
            <a:spAutoFit/>
          </a:bodyPr>
          <a:lstStyle/>
          <a:p>
            <a:pPr algn="ctr"/>
            <a:r>
              <a:rPr sz="800" b="0" i="0">
                <a:solidFill>
                  <a:srgbClr val="94A3B8"/>
                </a:solidFill>
              </a:rPr>
              <a:t>Score trend, section bars, history snapshots, compare grouped bars</a:t>
            </a:r>
          </a:p>
        </p:txBody>
      </p:sp>
      <p:sp>
        <p:nvSpPr>
          <p:cNvPr id="58" name="Rounded Rectangle 57"/>
          <p:cNvSpPr/>
          <p:nvPr/>
        </p:nvSpPr>
        <p:spPr>
          <a:xfrm>
            <a:off x="9331866" y="3639312"/>
            <a:ext cx="2834640" cy="237744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9381744" y="3639312"/>
            <a:ext cx="283464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10451592" y="3803904"/>
            <a:ext cx="694944" cy="694944"/>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0451592" y="3840480"/>
            <a:ext cx="694944" cy="566928"/>
          </a:xfrm>
          <a:prstGeom prst="rect">
            <a:avLst/>
          </a:prstGeom>
          <a:noFill/>
        </p:spPr>
        <p:txBody>
          <a:bodyPr wrap="square">
            <a:spAutoFit/>
          </a:bodyPr>
          <a:lstStyle/>
          <a:p>
            <a:pPr algn="ctr"/>
            <a:r>
              <a:rPr sz="1600" b="1" i="0">
                <a:solidFill>
                  <a:srgbClr val="FFFFFF"/>
                </a:solidFill>
              </a:rPr>
              <a:t>FA</a:t>
            </a:r>
          </a:p>
        </p:txBody>
      </p:sp>
      <p:sp>
        <p:nvSpPr>
          <p:cNvPr id="62" name="TextBox 61"/>
          <p:cNvSpPr txBox="1"/>
          <p:nvPr/>
        </p:nvSpPr>
        <p:spPr>
          <a:xfrm>
            <a:off x="9473184" y="4553712"/>
            <a:ext cx="2651760" cy="365760"/>
          </a:xfrm>
          <a:prstGeom prst="rect">
            <a:avLst/>
          </a:prstGeom>
          <a:noFill/>
        </p:spPr>
        <p:txBody>
          <a:bodyPr wrap="square">
            <a:spAutoFit/>
          </a:bodyPr>
          <a:lstStyle/>
          <a:p>
            <a:pPr algn="ctr"/>
            <a:r>
              <a:rPr sz="1300" b="1" i="0">
                <a:solidFill>
                  <a:srgbClr val="FFFFFF"/>
                </a:solidFill>
              </a:rPr>
              <a:t>FastAPI Swagger</a:t>
            </a:r>
          </a:p>
        </p:txBody>
      </p:sp>
      <p:sp>
        <p:nvSpPr>
          <p:cNvPr id="63" name="TextBox 62"/>
          <p:cNvSpPr txBox="1"/>
          <p:nvPr/>
        </p:nvSpPr>
        <p:spPr>
          <a:xfrm>
            <a:off x="9473184" y="4937760"/>
            <a:ext cx="2651760" cy="201168"/>
          </a:xfrm>
          <a:prstGeom prst="rect">
            <a:avLst/>
          </a:prstGeom>
          <a:noFill/>
        </p:spPr>
        <p:txBody>
          <a:bodyPr wrap="square">
            <a:spAutoFit/>
          </a:bodyPr>
          <a:lstStyle/>
          <a:p>
            <a:pPr algn="ctr"/>
            <a:r>
              <a:rPr sz="800" b="1" i="0">
                <a:solidFill>
                  <a:srgbClr val="06B6D4"/>
                </a:solidFill>
              </a:rPr>
              <a:t>API DOCS</a:t>
            </a:r>
          </a:p>
        </p:txBody>
      </p:sp>
      <p:sp>
        <p:nvSpPr>
          <p:cNvPr id="64" name="TextBox 63"/>
          <p:cNvSpPr txBox="1"/>
          <p:nvPr/>
        </p:nvSpPr>
        <p:spPr>
          <a:xfrm>
            <a:off x="9473184" y="5157216"/>
            <a:ext cx="2651760" cy="777240"/>
          </a:xfrm>
          <a:prstGeom prst="rect">
            <a:avLst/>
          </a:prstGeom>
          <a:noFill/>
        </p:spPr>
        <p:txBody>
          <a:bodyPr wrap="square">
            <a:spAutoFit/>
          </a:bodyPr>
          <a:lstStyle/>
          <a:p>
            <a:pPr algn="ctr"/>
            <a:r>
              <a:rPr sz="800" b="0" i="0">
                <a:solidFill>
                  <a:srgbClr val="94A3B8"/>
                </a:solidFill>
              </a:rPr>
              <a:t>Auto-generated OpenAPI spec at /docs; Postman compatible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320040" y="73152"/>
            <a:ext cx="9144000" cy="492443"/>
          </a:xfrm>
          <a:prstGeom prst="rect">
            <a:avLst/>
          </a:prstGeom>
          <a:noFill/>
        </p:spPr>
        <p:txBody>
          <a:bodyPr wrap="square">
            <a:spAutoFit/>
          </a:bodyPr>
          <a:lstStyle/>
          <a:p>
            <a:pPr algn="l"/>
            <a:r>
              <a:rPr sz="2600" b="1" i="0">
                <a:solidFill>
                  <a:srgbClr val="FFFFFF"/>
                </a:solidFill>
                <a:latin typeface="Times New Roman" panose="02020603050405020304" pitchFamily="18" charset="0"/>
                <a:cs typeface="Times New Roman" panose="02020603050405020304" pitchFamily="18" charset="0"/>
              </a:rPr>
              <a:t>SDLC – Software Development Lifecycle</a:t>
            </a:r>
          </a:p>
        </p:txBody>
      </p:sp>
      <p:sp>
        <p:nvSpPr>
          <p:cNvPr id="5" name="TextBox 4"/>
          <p:cNvSpPr txBox="1"/>
          <p:nvPr/>
        </p:nvSpPr>
        <p:spPr>
          <a:xfrm>
            <a:off x="320040" y="512064"/>
            <a:ext cx="9144000" cy="276999"/>
          </a:xfrm>
          <a:prstGeom prst="rect">
            <a:avLst/>
          </a:prstGeom>
          <a:noFill/>
        </p:spPr>
        <p:txBody>
          <a:bodyPr wrap="square">
            <a:spAutoFit/>
          </a:bodyPr>
          <a:lstStyle/>
          <a:p>
            <a:pPr algn="l"/>
            <a:r>
              <a:rPr sz="1200" b="0" i="0">
                <a:solidFill>
                  <a:srgbClr val="94A3B8"/>
                </a:solidFill>
                <a:latin typeface="Times New Roman" panose="02020603050405020304" pitchFamily="18" charset="0"/>
                <a:cs typeface="Times New Roman" panose="02020603050405020304" pitchFamily="18" charset="0"/>
              </a:rPr>
              <a:t>Iterative model applied to BugLens</a:t>
            </a:r>
          </a:p>
        </p:txBody>
      </p:sp>
      <p:sp>
        <p:nvSpPr>
          <p:cNvPr id="6" name="TextBox 5"/>
          <p:cNvSpPr txBox="1"/>
          <p:nvPr/>
        </p:nvSpPr>
        <p:spPr>
          <a:xfrm>
            <a:off x="11430000" y="274320"/>
            <a:ext cx="731520" cy="261610"/>
          </a:xfrm>
          <a:prstGeom prst="rect">
            <a:avLst/>
          </a:prstGeom>
          <a:noFill/>
        </p:spPr>
        <p:txBody>
          <a:bodyPr wrap="square">
            <a:spAutoFit/>
          </a:bodyPr>
          <a:lstStyle/>
          <a:p>
            <a:pPr algn="r"/>
            <a:r>
              <a:rPr sz="1100" b="0" i="0">
                <a:solidFill>
                  <a:srgbClr val="475569"/>
                </a:solidFill>
                <a:latin typeface="Times New Roman" panose="02020603050405020304" pitchFamily="18" charset="0"/>
                <a:cs typeface="Times New Roman" panose="02020603050405020304" pitchFamily="18" charset="0"/>
              </a:rPr>
              <a:t>08</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latin typeface="Times New Roman" panose="02020603050405020304" pitchFamily="18" charset="0"/>
                <a:cs typeface="Times New Roman" panose="02020603050405020304" pitchFamily="18" charset="0"/>
              </a:rPr>
              <a:t>BugLens – Defect Quality Checker</a:t>
            </a:r>
          </a:p>
        </p:txBody>
      </p:sp>
      <p:sp>
        <p:nvSpPr>
          <p:cNvPr id="9" name="Rounded Rectangle 8"/>
          <p:cNvSpPr/>
          <p:nvPr/>
        </p:nvSpPr>
        <p:spPr>
          <a:xfrm>
            <a:off x="486003" y="1737360"/>
            <a:ext cx="1508760" cy="43891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Rounded Rectangle 9"/>
          <p:cNvSpPr/>
          <p:nvPr/>
        </p:nvSpPr>
        <p:spPr>
          <a:xfrm>
            <a:off x="966063" y="1097280"/>
            <a:ext cx="548640"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TextBox 10"/>
          <p:cNvSpPr txBox="1"/>
          <p:nvPr/>
        </p:nvSpPr>
        <p:spPr>
          <a:xfrm>
            <a:off x="966063" y="1115568"/>
            <a:ext cx="548640" cy="338554"/>
          </a:xfrm>
          <a:prstGeom prst="rect">
            <a:avLst/>
          </a:prstGeom>
          <a:noFill/>
        </p:spPr>
        <p:txBody>
          <a:bodyPr wrap="square">
            <a:spAutoFit/>
          </a:bodyPr>
          <a:lstStyle/>
          <a:p>
            <a:pPr algn="ctr"/>
            <a:r>
              <a:rPr sz="1600" b="1" i="0">
                <a:solidFill>
                  <a:srgbClr val="FFFFFF"/>
                </a:solidFill>
                <a:latin typeface="Times New Roman" panose="02020603050405020304" pitchFamily="18" charset="0"/>
                <a:cs typeface="Times New Roman" panose="02020603050405020304" pitchFamily="18" charset="0"/>
              </a:rPr>
              <a:t>1</a:t>
            </a:r>
          </a:p>
        </p:txBody>
      </p:sp>
      <p:sp>
        <p:nvSpPr>
          <p:cNvPr id="12" name="TextBox 11"/>
          <p:cNvSpPr txBox="1"/>
          <p:nvPr/>
        </p:nvSpPr>
        <p:spPr>
          <a:xfrm>
            <a:off x="531723" y="1874520"/>
            <a:ext cx="1417320" cy="384721"/>
          </a:xfrm>
          <a:prstGeom prst="rect">
            <a:avLst/>
          </a:prstGeom>
          <a:noFill/>
        </p:spPr>
        <p:txBody>
          <a:bodyPr wrap="square">
            <a:spAutoFit/>
          </a:bodyPr>
          <a:lstStyle/>
          <a:p>
            <a:pPr algn="ctr"/>
            <a:r>
              <a:rPr sz="950" b="1" i="0">
                <a:solidFill>
                  <a:srgbClr val="FFFFFF"/>
                </a:solidFill>
                <a:latin typeface="Times New Roman" panose="02020603050405020304" pitchFamily="18" charset="0"/>
                <a:cs typeface="Times New Roman" panose="02020603050405020304" pitchFamily="18" charset="0"/>
              </a:rPr>
              <a:t>Requirements
Analysis</a:t>
            </a:r>
          </a:p>
        </p:txBody>
      </p:sp>
      <p:sp>
        <p:nvSpPr>
          <p:cNvPr id="13" name="TextBox 12"/>
          <p:cNvSpPr txBox="1"/>
          <p:nvPr/>
        </p:nvSpPr>
        <p:spPr>
          <a:xfrm>
            <a:off x="540867" y="2606040"/>
            <a:ext cx="1399032" cy="323165"/>
          </a:xfrm>
          <a:prstGeom prst="rect">
            <a:avLst/>
          </a:prstGeom>
          <a:noFill/>
        </p:spPr>
        <p:txBody>
          <a:bodyPr wrap="square">
            <a:spAutoFit/>
          </a:bodyPr>
          <a:lstStyle/>
          <a:p>
            <a:pPr algn="ctr"/>
            <a:r>
              <a:rPr sz="750" b="0" i="0" dirty="0">
                <a:solidFill>
                  <a:srgbClr val="E2E8F0"/>
                </a:solidFill>
                <a:latin typeface="Times New Roman" panose="02020603050405020304" pitchFamily="18" charset="0"/>
                <a:cs typeface="Times New Roman" panose="02020603050405020304" pitchFamily="18" charset="0"/>
              </a:rPr>
              <a:t>Define FR, NFR, scope from BRD</a:t>
            </a:r>
          </a:p>
        </p:txBody>
      </p:sp>
      <p:sp>
        <p:nvSpPr>
          <p:cNvPr id="14" name="Rounded Rectangle 13"/>
          <p:cNvSpPr/>
          <p:nvPr/>
        </p:nvSpPr>
        <p:spPr>
          <a:xfrm>
            <a:off x="2104491" y="1965960"/>
            <a:ext cx="1508760" cy="41605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ounded Rectangle 14"/>
          <p:cNvSpPr/>
          <p:nvPr/>
        </p:nvSpPr>
        <p:spPr>
          <a:xfrm>
            <a:off x="2584551" y="1325880"/>
            <a:ext cx="548640" cy="54864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p:cNvSpPr txBox="1"/>
          <p:nvPr/>
        </p:nvSpPr>
        <p:spPr>
          <a:xfrm>
            <a:off x="2584551" y="1344168"/>
            <a:ext cx="548640" cy="338554"/>
          </a:xfrm>
          <a:prstGeom prst="rect">
            <a:avLst/>
          </a:prstGeom>
          <a:noFill/>
        </p:spPr>
        <p:txBody>
          <a:bodyPr wrap="square">
            <a:spAutoFit/>
          </a:bodyPr>
          <a:lstStyle/>
          <a:p>
            <a:pPr algn="ctr"/>
            <a:r>
              <a:rPr sz="1600" b="1" i="0">
                <a:solidFill>
                  <a:srgbClr val="FFFFFF"/>
                </a:solidFill>
                <a:latin typeface="Times New Roman" panose="02020603050405020304" pitchFamily="18" charset="0"/>
                <a:cs typeface="Times New Roman" panose="02020603050405020304" pitchFamily="18" charset="0"/>
              </a:rPr>
              <a:t>2</a:t>
            </a:r>
          </a:p>
        </p:txBody>
      </p:sp>
      <p:sp>
        <p:nvSpPr>
          <p:cNvPr id="17" name="TextBox 16"/>
          <p:cNvSpPr txBox="1"/>
          <p:nvPr/>
        </p:nvSpPr>
        <p:spPr>
          <a:xfrm>
            <a:off x="2150211" y="2103120"/>
            <a:ext cx="1417320" cy="384721"/>
          </a:xfrm>
          <a:prstGeom prst="rect">
            <a:avLst/>
          </a:prstGeom>
          <a:noFill/>
        </p:spPr>
        <p:txBody>
          <a:bodyPr wrap="square">
            <a:spAutoFit/>
          </a:bodyPr>
          <a:lstStyle/>
          <a:p>
            <a:pPr algn="ctr"/>
            <a:r>
              <a:rPr sz="950" b="1" i="0">
                <a:solidFill>
                  <a:srgbClr val="FFFFFF"/>
                </a:solidFill>
                <a:latin typeface="Times New Roman" panose="02020603050405020304" pitchFamily="18" charset="0"/>
                <a:cs typeface="Times New Roman" panose="02020603050405020304" pitchFamily="18" charset="0"/>
              </a:rPr>
              <a:t>System
Planning</a:t>
            </a:r>
          </a:p>
        </p:txBody>
      </p:sp>
      <p:sp>
        <p:nvSpPr>
          <p:cNvPr id="18" name="TextBox 17"/>
          <p:cNvSpPr txBox="1"/>
          <p:nvPr/>
        </p:nvSpPr>
        <p:spPr>
          <a:xfrm>
            <a:off x="2159355" y="2834640"/>
            <a:ext cx="1399032" cy="323165"/>
          </a:xfrm>
          <a:prstGeom prst="rect">
            <a:avLst/>
          </a:prstGeom>
          <a:noFill/>
        </p:spPr>
        <p:txBody>
          <a:bodyPr wrap="square">
            <a:spAutoFit/>
          </a:bodyPr>
          <a:lstStyle/>
          <a:p>
            <a:pPr algn="ctr"/>
            <a:r>
              <a:rPr sz="750" b="0" i="0">
                <a:solidFill>
                  <a:srgbClr val="E2E8F0"/>
                </a:solidFill>
                <a:latin typeface="Times New Roman" panose="02020603050405020304" pitchFamily="18" charset="0"/>
                <a:cs typeface="Times New Roman" panose="02020603050405020304" pitchFamily="18" charset="0"/>
              </a:rPr>
              <a:t>Architecture, module design, DB schema</a:t>
            </a:r>
          </a:p>
        </p:txBody>
      </p:sp>
      <p:sp>
        <p:nvSpPr>
          <p:cNvPr id="19" name="Rounded Rectangle 18"/>
          <p:cNvSpPr/>
          <p:nvPr/>
        </p:nvSpPr>
        <p:spPr>
          <a:xfrm>
            <a:off x="3722979" y="2194560"/>
            <a:ext cx="1508760" cy="39319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Rounded Rectangle 19"/>
          <p:cNvSpPr/>
          <p:nvPr/>
        </p:nvSpPr>
        <p:spPr>
          <a:xfrm>
            <a:off x="4203039" y="1554480"/>
            <a:ext cx="548640" cy="5486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TextBox 20"/>
          <p:cNvSpPr txBox="1"/>
          <p:nvPr/>
        </p:nvSpPr>
        <p:spPr>
          <a:xfrm>
            <a:off x="4203039" y="1572768"/>
            <a:ext cx="548640" cy="338554"/>
          </a:xfrm>
          <a:prstGeom prst="rect">
            <a:avLst/>
          </a:prstGeom>
          <a:noFill/>
        </p:spPr>
        <p:txBody>
          <a:bodyPr wrap="square">
            <a:spAutoFit/>
          </a:bodyPr>
          <a:lstStyle/>
          <a:p>
            <a:pPr algn="ctr"/>
            <a:r>
              <a:rPr sz="1600" b="1" i="0">
                <a:solidFill>
                  <a:srgbClr val="FFFFFF"/>
                </a:solidFill>
                <a:latin typeface="Times New Roman" panose="02020603050405020304" pitchFamily="18" charset="0"/>
                <a:cs typeface="Times New Roman" panose="02020603050405020304" pitchFamily="18" charset="0"/>
              </a:rPr>
              <a:t>3</a:t>
            </a:r>
          </a:p>
        </p:txBody>
      </p:sp>
      <p:sp>
        <p:nvSpPr>
          <p:cNvPr id="22" name="TextBox 21"/>
          <p:cNvSpPr txBox="1"/>
          <p:nvPr/>
        </p:nvSpPr>
        <p:spPr>
          <a:xfrm>
            <a:off x="3768699" y="2331720"/>
            <a:ext cx="1417320" cy="384721"/>
          </a:xfrm>
          <a:prstGeom prst="rect">
            <a:avLst/>
          </a:prstGeom>
          <a:noFill/>
        </p:spPr>
        <p:txBody>
          <a:bodyPr wrap="square">
            <a:spAutoFit/>
          </a:bodyPr>
          <a:lstStyle/>
          <a:p>
            <a:pPr algn="ctr"/>
            <a:r>
              <a:rPr sz="950" b="1" i="0">
                <a:solidFill>
                  <a:srgbClr val="FFFFFF"/>
                </a:solidFill>
                <a:latin typeface="Times New Roman" panose="02020603050405020304" pitchFamily="18" charset="0"/>
                <a:cs typeface="Times New Roman" panose="02020603050405020304" pitchFamily="18" charset="0"/>
              </a:rPr>
              <a:t>UI / API
Design</a:t>
            </a:r>
          </a:p>
        </p:txBody>
      </p:sp>
      <p:sp>
        <p:nvSpPr>
          <p:cNvPr id="23" name="TextBox 22"/>
          <p:cNvSpPr txBox="1"/>
          <p:nvPr/>
        </p:nvSpPr>
        <p:spPr>
          <a:xfrm>
            <a:off x="3777843" y="3063240"/>
            <a:ext cx="1399032" cy="323165"/>
          </a:xfrm>
          <a:prstGeom prst="rect">
            <a:avLst/>
          </a:prstGeom>
          <a:noFill/>
        </p:spPr>
        <p:txBody>
          <a:bodyPr wrap="square">
            <a:spAutoFit/>
          </a:bodyPr>
          <a:lstStyle/>
          <a:p>
            <a:pPr algn="ctr"/>
            <a:r>
              <a:rPr sz="750" b="0" i="0">
                <a:solidFill>
                  <a:srgbClr val="E2E8F0"/>
                </a:solidFill>
                <a:latin typeface="Times New Roman" panose="02020603050405020304" pitchFamily="18" charset="0"/>
                <a:cs typeface="Times New Roman" panose="02020603050405020304" pitchFamily="18" charset="0"/>
              </a:rPr>
              <a:t>Streamlit pages, FastAPI endpoints, data models</a:t>
            </a:r>
          </a:p>
        </p:txBody>
      </p:sp>
      <p:sp>
        <p:nvSpPr>
          <p:cNvPr id="24" name="Rounded Rectangle 23"/>
          <p:cNvSpPr/>
          <p:nvPr/>
        </p:nvSpPr>
        <p:spPr>
          <a:xfrm>
            <a:off x="5341467" y="2423160"/>
            <a:ext cx="1508760" cy="37033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 name="Rounded Rectangle 24"/>
          <p:cNvSpPr/>
          <p:nvPr/>
        </p:nvSpPr>
        <p:spPr>
          <a:xfrm>
            <a:off x="5821527" y="1783080"/>
            <a:ext cx="548640" cy="54864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6" name="TextBox 25"/>
          <p:cNvSpPr txBox="1"/>
          <p:nvPr/>
        </p:nvSpPr>
        <p:spPr>
          <a:xfrm>
            <a:off x="5821527" y="1801368"/>
            <a:ext cx="548640" cy="338554"/>
          </a:xfrm>
          <a:prstGeom prst="rect">
            <a:avLst/>
          </a:prstGeom>
          <a:noFill/>
        </p:spPr>
        <p:txBody>
          <a:bodyPr wrap="square">
            <a:spAutoFit/>
          </a:bodyPr>
          <a:lstStyle/>
          <a:p>
            <a:pPr algn="ctr"/>
            <a:r>
              <a:rPr sz="1600" b="1" i="0">
                <a:solidFill>
                  <a:srgbClr val="FFFFFF"/>
                </a:solidFill>
                <a:latin typeface="Times New Roman" panose="02020603050405020304" pitchFamily="18" charset="0"/>
                <a:cs typeface="Times New Roman" panose="02020603050405020304" pitchFamily="18" charset="0"/>
              </a:rPr>
              <a:t>4</a:t>
            </a:r>
          </a:p>
        </p:txBody>
      </p:sp>
      <p:sp>
        <p:nvSpPr>
          <p:cNvPr id="27" name="TextBox 26"/>
          <p:cNvSpPr txBox="1"/>
          <p:nvPr/>
        </p:nvSpPr>
        <p:spPr>
          <a:xfrm>
            <a:off x="5387187" y="2560320"/>
            <a:ext cx="1417320" cy="238527"/>
          </a:xfrm>
          <a:prstGeom prst="rect">
            <a:avLst/>
          </a:prstGeom>
          <a:noFill/>
        </p:spPr>
        <p:txBody>
          <a:bodyPr wrap="square">
            <a:spAutoFit/>
          </a:bodyPr>
          <a:lstStyle/>
          <a:p>
            <a:pPr algn="ctr"/>
            <a:r>
              <a:rPr sz="950" b="1" i="0">
                <a:solidFill>
                  <a:srgbClr val="FFFFFF"/>
                </a:solidFill>
                <a:latin typeface="Times New Roman" panose="02020603050405020304" pitchFamily="18" charset="0"/>
                <a:cs typeface="Times New Roman" panose="02020603050405020304" pitchFamily="18" charset="0"/>
              </a:rPr>
              <a:t>Development</a:t>
            </a:r>
          </a:p>
        </p:txBody>
      </p:sp>
      <p:sp>
        <p:nvSpPr>
          <p:cNvPr id="28" name="TextBox 27"/>
          <p:cNvSpPr txBox="1"/>
          <p:nvPr/>
        </p:nvSpPr>
        <p:spPr>
          <a:xfrm>
            <a:off x="5396331" y="3291840"/>
            <a:ext cx="1399032" cy="323165"/>
          </a:xfrm>
          <a:prstGeom prst="rect">
            <a:avLst/>
          </a:prstGeom>
          <a:noFill/>
        </p:spPr>
        <p:txBody>
          <a:bodyPr wrap="square">
            <a:spAutoFit/>
          </a:bodyPr>
          <a:lstStyle/>
          <a:p>
            <a:pPr algn="ctr"/>
            <a:r>
              <a:rPr sz="750" b="0" i="0">
                <a:solidFill>
                  <a:srgbClr val="E2E8F0"/>
                </a:solidFill>
                <a:latin typeface="Times New Roman" panose="02020603050405020304" pitchFamily="18" charset="0"/>
                <a:cs typeface="Times New Roman" panose="02020603050405020304" pitchFamily="18" charset="0"/>
              </a:rPr>
              <a:t>Validator, Scorer, Rewriter, Storage, App, API</a:t>
            </a:r>
          </a:p>
        </p:txBody>
      </p:sp>
      <p:sp>
        <p:nvSpPr>
          <p:cNvPr id="29" name="Rounded Rectangle 28"/>
          <p:cNvSpPr/>
          <p:nvPr/>
        </p:nvSpPr>
        <p:spPr>
          <a:xfrm>
            <a:off x="6959955" y="2194560"/>
            <a:ext cx="1508760" cy="39319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Rounded Rectangle 29"/>
          <p:cNvSpPr/>
          <p:nvPr/>
        </p:nvSpPr>
        <p:spPr>
          <a:xfrm>
            <a:off x="7440015" y="1554480"/>
            <a:ext cx="548640" cy="5486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TextBox 30"/>
          <p:cNvSpPr txBox="1"/>
          <p:nvPr/>
        </p:nvSpPr>
        <p:spPr>
          <a:xfrm>
            <a:off x="7440015" y="1572768"/>
            <a:ext cx="548640" cy="338554"/>
          </a:xfrm>
          <a:prstGeom prst="rect">
            <a:avLst/>
          </a:prstGeom>
          <a:noFill/>
        </p:spPr>
        <p:txBody>
          <a:bodyPr wrap="square">
            <a:spAutoFit/>
          </a:bodyPr>
          <a:lstStyle/>
          <a:p>
            <a:pPr algn="ctr"/>
            <a:r>
              <a:rPr sz="1600" b="1" i="0">
                <a:solidFill>
                  <a:srgbClr val="FFFFFF"/>
                </a:solidFill>
                <a:latin typeface="Times New Roman" panose="02020603050405020304" pitchFamily="18" charset="0"/>
                <a:cs typeface="Times New Roman" panose="02020603050405020304" pitchFamily="18" charset="0"/>
              </a:rPr>
              <a:t>5</a:t>
            </a:r>
          </a:p>
        </p:txBody>
      </p:sp>
      <p:sp>
        <p:nvSpPr>
          <p:cNvPr id="32" name="TextBox 31"/>
          <p:cNvSpPr txBox="1"/>
          <p:nvPr/>
        </p:nvSpPr>
        <p:spPr>
          <a:xfrm>
            <a:off x="7005675" y="2331720"/>
            <a:ext cx="1417320" cy="238527"/>
          </a:xfrm>
          <a:prstGeom prst="rect">
            <a:avLst/>
          </a:prstGeom>
          <a:noFill/>
        </p:spPr>
        <p:txBody>
          <a:bodyPr wrap="square">
            <a:spAutoFit/>
          </a:bodyPr>
          <a:lstStyle/>
          <a:p>
            <a:pPr algn="ctr"/>
            <a:r>
              <a:rPr sz="950" b="1" i="0">
                <a:solidFill>
                  <a:srgbClr val="FFFFFF"/>
                </a:solidFill>
                <a:latin typeface="Times New Roman" panose="02020603050405020304" pitchFamily="18" charset="0"/>
                <a:cs typeface="Times New Roman" panose="02020603050405020304" pitchFamily="18" charset="0"/>
              </a:rPr>
              <a:t>Testing</a:t>
            </a:r>
          </a:p>
        </p:txBody>
      </p:sp>
      <p:sp>
        <p:nvSpPr>
          <p:cNvPr id="33" name="TextBox 32"/>
          <p:cNvSpPr txBox="1"/>
          <p:nvPr/>
        </p:nvSpPr>
        <p:spPr>
          <a:xfrm>
            <a:off x="7014819" y="3063240"/>
            <a:ext cx="1399032" cy="323165"/>
          </a:xfrm>
          <a:prstGeom prst="rect">
            <a:avLst/>
          </a:prstGeom>
          <a:noFill/>
        </p:spPr>
        <p:txBody>
          <a:bodyPr wrap="square">
            <a:spAutoFit/>
          </a:bodyPr>
          <a:lstStyle/>
          <a:p>
            <a:pPr algn="ctr"/>
            <a:r>
              <a:rPr sz="750" b="0" i="0">
                <a:solidFill>
                  <a:srgbClr val="E2E8F0"/>
                </a:solidFill>
                <a:latin typeface="Times New Roman" panose="02020603050405020304" pitchFamily="18" charset="0"/>
                <a:cs typeface="Times New Roman" panose="02020603050405020304" pitchFamily="18" charset="0"/>
              </a:rPr>
              <a:t>Unit · Smoke · Integration · System · UAT</a:t>
            </a:r>
          </a:p>
        </p:txBody>
      </p:sp>
      <p:sp>
        <p:nvSpPr>
          <p:cNvPr id="34" name="Rounded Rectangle 33"/>
          <p:cNvSpPr/>
          <p:nvPr/>
        </p:nvSpPr>
        <p:spPr>
          <a:xfrm>
            <a:off x="8578443" y="1965960"/>
            <a:ext cx="1508760" cy="416052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Rounded Rectangle 34"/>
          <p:cNvSpPr/>
          <p:nvPr/>
        </p:nvSpPr>
        <p:spPr>
          <a:xfrm>
            <a:off x="9058503" y="1325880"/>
            <a:ext cx="548640" cy="5486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6" name="TextBox 35"/>
          <p:cNvSpPr txBox="1"/>
          <p:nvPr/>
        </p:nvSpPr>
        <p:spPr>
          <a:xfrm>
            <a:off x="9058503" y="1344168"/>
            <a:ext cx="548640" cy="338554"/>
          </a:xfrm>
          <a:prstGeom prst="rect">
            <a:avLst/>
          </a:prstGeom>
          <a:noFill/>
        </p:spPr>
        <p:txBody>
          <a:bodyPr wrap="square">
            <a:spAutoFit/>
          </a:bodyPr>
          <a:lstStyle/>
          <a:p>
            <a:pPr algn="ctr"/>
            <a:r>
              <a:rPr sz="1600" b="1" i="0">
                <a:solidFill>
                  <a:srgbClr val="FFFFFF"/>
                </a:solidFill>
                <a:latin typeface="Times New Roman" panose="02020603050405020304" pitchFamily="18" charset="0"/>
                <a:cs typeface="Times New Roman" panose="02020603050405020304" pitchFamily="18" charset="0"/>
              </a:rPr>
              <a:t>6</a:t>
            </a:r>
          </a:p>
        </p:txBody>
      </p:sp>
      <p:sp>
        <p:nvSpPr>
          <p:cNvPr id="37" name="TextBox 36"/>
          <p:cNvSpPr txBox="1"/>
          <p:nvPr/>
        </p:nvSpPr>
        <p:spPr>
          <a:xfrm>
            <a:off x="8624163" y="2103120"/>
            <a:ext cx="1417320" cy="384721"/>
          </a:xfrm>
          <a:prstGeom prst="rect">
            <a:avLst/>
          </a:prstGeom>
          <a:noFill/>
        </p:spPr>
        <p:txBody>
          <a:bodyPr wrap="square">
            <a:spAutoFit/>
          </a:bodyPr>
          <a:lstStyle/>
          <a:p>
            <a:pPr algn="ctr"/>
            <a:r>
              <a:rPr sz="950" b="1" i="0">
                <a:solidFill>
                  <a:srgbClr val="FFFFFF"/>
                </a:solidFill>
                <a:latin typeface="Times New Roman" panose="02020603050405020304" pitchFamily="18" charset="0"/>
                <a:cs typeface="Times New Roman" panose="02020603050405020304" pitchFamily="18" charset="0"/>
              </a:rPr>
              <a:t>Review &amp;
Deployment</a:t>
            </a:r>
          </a:p>
        </p:txBody>
      </p:sp>
      <p:sp>
        <p:nvSpPr>
          <p:cNvPr id="38" name="TextBox 37"/>
          <p:cNvSpPr txBox="1"/>
          <p:nvPr/>
        </p:nvSpPr>
        <p:spPr>
          <a:xfrm>
            <a:off x="8633307" y="2834640"/>
            <a:ext cx="1399032" cy="323165"/>
          </a:xfrm>
          <a:prstGeom prst="rect">
            <a:avLst/>
          </a:prstGeom>
          <a:noFill/>
        </p:spPr>
        <p:txBody>
          <a:bodyPr wrap="square">
            <a:spAutoFit/>
          </a:bodyPr>
          <a:lstStyle/>
          <a:p>
            <a:pPr algn="ctr"/>
            <a:r>
              <a:rPr sz="750" b="0" i="0">
                <a:solidFill>
                  <a:srgbClr val="E2E8F0"/>
                </a:solidFill>
                <a:latin typeface="Times New Roman" panose="02020603050405020304" pitchFamily="18" charset="0"/>
                <a:cs typeface="Times New Roman" panose="02020603050405020304" pitchFamily="18" charset="0"/>
              </a:rPr>
              <a:t>Code review, pytest CI, local deployment</a:t>
            </a:r>
          </a:p>
        </p:txBody>
      </p:sp>
      <p:sp>
        <p:nvSpPr>
          <p:cNvPr id="39" name="Rounded Rectangle 38"/>
          <p:cNvSpPr/>
          <p:nvPr/>
        </p:nvSpPr>
        <p:spPr>
          <a:xfrm>
            <a:off x="10196931" y="1737360"/>
            <a:ext cx="1508760" cy="43891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0" name="Rounded Rectangle 39"/>
          <p:cNvSpPr/>
          <p:nvPr/>
        </p:nvSpPr>
        <p:spPr>
          <a:xfrm>
            <a:off x="10676991" y="1097280"/>
            <a:ext cx="548640" cy="54864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1" name="TextBox 40"/>
          <p:cNvSpPr txBox="1"/>
          <p:nvPr/>
        </p:nvSpPr>
        <p:spPr>
          <a:xfrm>
            <a:off x="10676991" y="1115568"/>
            <a:ext cx="548640" cy="338554"/>
          </a:xfrm>
          <a:prstGeom prst="rect">
            <a:avLst/>
          </a:prstGeom>
          <a:noFill/>
        </p:spPr>
        <p:txBody>
          <a:bodyPr wrap="square">
            <a:spAutoFit/>
          </a:bodyPr>
          <a:lstStyle/>
          <a:p>
            <a:pPr algn="ctr"/>
            <a:r>
              <a:rPr sz="1600" b="1" i="0">
                <a:solidFill>
                  <a:srgbClr val="FFFFFF"/>
                </a:solidFill>
                <a:latin typeface="Times New Roman" panose="02020603050405020304" pitchFamily="18" charset="0"/>
                <a:cs typeface="Times New Roman" panose="02020603050405020304" pitchFamily="18" charset="0"/>
              </a:rPr>
              <a:t>7</a:t>
            </a:r>
          </a:p>
        </p:txBody>
      </p:sp>
      <p:sp>
        <p:nvSpPr>
          <p:cNvPr id="42" name="TextBox 41"/>
          <p:cNvSpPr txBox="1"/>
          <p:nvPr/>
        </p:nvSpPr>
        <p:spPr>
          <a:xfrm>
            <a:off x="10242651" y="1874520"/>
            <a:ext cx="1417320" cy="238527"/>
          </a:xfrm>
          <a:prstGeom prst="rect">
            <a:avLst/>
          </a:prstGeom>
          <a:noFill/>
        </p:spPr>
        <p:txBody>
          <a:bodyPr wrap="square">
            <a:spAutoFit/>
          </a:bodyPr>
          <a:lstStyle/>
          <a:p>
            <a:pPr algn="ctr"/>
            <a:r>
              <a:rPr sz="950" b="1" i="0">
                <a:solidFill>
                  <a:srgbClr val="FFFFFF"/>
                </a:solidFill>
                <a:latin typeface="Times New Roman" panose="02020603050405020304" pitchFamily="18" charset="0"/>
                <a:cs typeface="Times New Roman" panose="02020603050405020304" pitchFamily="18" charset="0"/>
              </a:rPr>
              <a:t>Maintenance</a:t>
            </a:r>
          </a:p>
        </p:txBody>
      </p:sp>
      <p:sp>
        <p:nvSpPr>
          <p:cNvPr id="43" name="TextBox 42"/>
          <p:cNvSpPr txBox="1"/>
          <p:nvPr/>
        </p:nvSpPr>
        <p:spPr>
          <a:xfrm>
            <a:off x="10251795" y="2606040"/>
            <a:ext cx="1399032" cy="323165"/>
          </a:xfrm>
          <a:prstGeom prst="rect">
            <a:avLst/>
          </a:prstGeom>
          <a:noFill/>
        </p:spPr>
        <p:txBody>
          <a:bodyPr wrap="square">
            <a:spAutoFit/>
          </a:bodyPr>
          <a:lstStyle/>
          <a:p>
            <a:pPr algn="ctr"/>
            <a:r>
              <a:rPr sz="750" b="0" i="0">
                <a:solidFill>
                  <a:srgbClr val="E2E8F0"/>
                </a:solidFill>
                <a:latin typeface="Times New Roman" panose="02020603050405020304" pitchFamily="18" charset="0"/>
                <a:cs typeface="Times New Roman" panose="02020603050405020304" pitchFamily="18" charset="0"/>
              </a:rPr>
              <a:t>Bug fixes, enhancements, documentation update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SDLC Applied to BugLens</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Phase-by-phase activities and deliverables</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09</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ectangle 8"/>
          <p:cNvSpPr/>
          <p:nvPr/>
        </p:nvSpPr>
        <p:spPr>
          <a:xfrm>
            <a:off x="274320" y="1051560"/>
            <a:ext cx="11795760" cy="3474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106424"/>
            <a:ext cx="1554480" cy="274320"/>
          </a:xfrm>
          <a:prstGeom prst="rect">
            <a:avLst/>
          </a:prstGeom>
          <a:noFill/>
        </p:spPr>
        <p:txBody>
          <a:bodyPr wrap="square">
            <a:spAutoFit/>
          </a:bodyPr>
          <a:lstStyle/>
          <a:p>
            <a:pPr algn="l"/>
            <a:r>
              <a:rPr sz="1000" b="1" i="0">
                <a:solidFill>
                  <a:srgbClr val="FFFFFF"/>
                </a:solidFill>
              </a:rPr>
              <a:t>Phase</a:t>
            </a:r>
          </a:p>
        </p:txBody>
      </p:sp>
      <p:sp>
        <p:nvSpPr>
          <p:cNvPr id="11" name="TextBox 10"/>
          <p:cNvSpPr txBox="1"/>
          <p:nvPr/>
        </p:nvSpPr>
        <p:spPr>
          <a:xfrm>
            <a:off x="1993392" y="1106424"/>
            <a:ext cx="4937760" cy="274320"/>
          </a:xfrm>
          <a:prstGeom prst="rect">
            <a:avLst/>
          </a:prstGeom>
          <a:noFill/>
        </p:spPr>
        <p:txBody>
          <a:bodyPr wrap="square">
            <a:spAutoFit/>
          </a:bodyPr>
          <a:lstStyle/>
          <a:p>
            <a:pPr algn="l"/>
            <a:r>
              <a:rPr sz="1000" b="1" i="0">
                <a:solidFill>
                  <a:srgbClr val="FFFFFF"/>
                </a:solidFill>
              </a:rPr>
              <a:t>Activities Performed</a:t>
            </a:r>
          </a:p>
        </p:txBody>
      </p:sp>
      <p:sp>
        <p:nvSpPr>
          <p:cNvPr id="12" name="TextBox 11"/>
          <p:cNvSpPr txBox="1"/>
          <p:nvPr/>
        </p:nvSpPr>
        <p:spPr>
          <a:xfrm>
            <a:off x="7022592" y="1106424"/>
            <a:ext cx="5029200" cy="274320"/>
          </a:xfrm>
          <a:prstGeom prst="rect">
            <a:avLst/>
          </a:prstGeom>
          <a:noFill/>
        </p:spPr>
        <p:txBody>
          <a:bodyPr wrap="square">
            <a:spAutoFit/>
          </a:bodyPr>
          <a:lstStyle/>
          <a:p>
            <a:pPr algn="l"/>
            <a:r>
              <a:rPr sz="1000" b="1" i="0">
                <a:solidFill>
                  <a:srgbClr val="FFFFFF"/>
                </a:solidFill>
              </a:rPr>
              <a:t>Key Deliverables</a:t>
            </a:r>
          </a:p>
        </p:txBody>
      </p:sp>
      <p:sp>
        <p:nvSpPr>
          <p:cNvPr id="13" name="Rectangle 12"/>
          <p:cNvSpPr/>
          <p:nvPr/>
        </p:nvSpPr>
        <p:spPr>
          <a:xfrm>
            <a:off x="274320" y="1399032"/>
            <a:ext cx="1179576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453896"/>
            <a:ext cx="1554480" cy="274320"/>
          </a:xfrm>
          <a:prstGeom prst="rect">
            <a:avLst/>
          </a:prstGeom>
          <a:noFill/>
        </p:spPr>
        <p:txBody>
          <a:bodyPr wrap="square">
            <a:spAutoFit/>
          </a:bodyPr>
          <a:lstStyle/>
          <a:p>
            <a:pPr algn="l"/>
            <a:r>
              <a:rPr sz="900" b="0" i="0">
                <a:solidFill>
                  <a:srgbClr val="94A3B8"/>
                </a:solidFill>
              </a:rPr>
              <a:t>Requirements</a:t>
            </a:r>
          </a:p>
        </p:txBody>
      </p:sp>
      <p:sp>
        <p:nvSpPr>
          <p:cNvPr id="15" name="TextBox 14"/>
          <p:cNvSpPr txBox="1"/>
          <p:nvPr/>
        </p:nvSpPr>
        <p:spPr>
          <a:xfrm>
            <a:off x="1993392" y="1453896"/>
            <a:ext cx="4937760" cy="274320"/>
          </a:xfrm>
          <a:prstGeom prst="rect">
            <a:avLst/>
          </a:prstGeom>
          <a:noFill/>
        </p:spPr>
        <p:txBody>
          <a:bodyPr wrap="square">
            <a:spAutoFit/>
          </a:bodyPr>
          <a:lstStyle/>
          <a:p>
            <a:pPr algn="l"/>
            <a:r>
              <a:rPr sz="900" b="0" i="0">
                <a:solidFill>
                  <a:srgbClr val="94A3B8"/>
                </a:solidFill>
              </a:rPr>
              <a:t>Stakeholder interviews, problem analysis, FR/NFR definition</a:t>
            </a:r>
          </a:p>
        </p:txBody>
      </p:sp>
      <p:sp>
        <p:nvSpPr>
          <p:cNvPr id="16" name="TextBox 15"/>
          <p:cNvSpPr txBox="1"/>
          <p:nvPr/>
        </p:nvSpPr>
        <p:spPr>
          <a:xfrm>
            <a:off x="7022592" y="1453896"/>
            <a:ext cx="5029200" cy="274320"/>
          </a:xfrm>
          <a:prstGeom prst="rect">
            <a:avLst/>
          </a:prstGeom>
          <a:noFill/>
        </p:spPr>
        <p:txBody>
          <a:bodyPr wrap="square">
            <a:spAutoFit/>
          </a:bodyPr>
          <a:lstStyle/>
          <a:p>
            <a:pPr algn="l"/>
            <a:r>
              <a:rPr sz="900" b="0" i="0">
                <a:solidFill>
                  <a:srgbClr val="94A3B8"/>
                </a:solidFill>
              </a:rPr>
              <a:t>BRD (09_brd.md), FR list, NFR list</a:t>
            </a:r>
          </a:p>
        </p:txBody>
      </p:sp>
      <p:sp>
        <p:nvSpPr>
          <p:cNvPr id="17" name="Rectangle 16"/>
          <p:cNvSpPr/>
          <p:nvPr/>
        </p:nvSpPr>
        <p:spPr>
          <a:xfrm>
            <a:off x="274320" y="1746504"/>
            <a:ext cx="11795760" cy="347472"/>
          </a:xfrm>
          <a:prstGeom prst="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7472" y="1801368"/>
            <a:ext cx="1554480" cy="274320"/>
          </a:xfrm>
          <a:prstGeom prst="rect">
            <a:avLst/>
          </a:prstGeom>
          <a:noFill/>
        </p:spPr>
        <p:txBody>
          <a:bodyPr wrap="square">
            <a:spAutoFit/>
          </a:bodyPr>
          <a:lstStyle/>
          <a:p>
            <a:pPr algn="l"/>
            <a:r>
              <a:rPr sz="900" b="0" i="0">
                <a:solidFill>
                  <a:srgbClr val="F1F5F9"/>
                </a:solidFill>
              </a:rPr>
              <a:t>Planning</a:t>
            </a:r>
          </a:p>
        </p:txBody>
      </p:sp>
      <p:sp>
        <p:nvSpPr>
          <p:cNvPr id="19" name="TextBox 18"/>
          <p:cNvSpPr txBox="1"/>
          <p:nvPr/>
        </p:nvSpPr>
        <p:spPr>
          <a:xfrm>
            <a:off x="1993392" y="1801368"/>
            <a:ext cx="4937760" cy="274320"/>
          </a:xfrm>
          <a:prstGeom prst="rect">
            <a:avLst/>
          </a:prstGeom>
          <a:noFill/>
        </p:spPr>
        <p:txBody>
          <a:bodyPr wrap="square">
            <a:spAutoFit/>
          </a:bodyPr>
          <a:lstStyle/>
          <a:p>
            <a:pPr algn="l"/>
            <a:r>
              <a:rPr sz="900" b="0" i="0">
                <a:solidFill>
                  <a:srgbClr val="F1F5F9"/>
                </a:solidFill>
              </a:rPr>
              <a:t>Architecture decisions, module breakdown, sprint planning</a:t>
            </a:r>
          </a:p>
        </p:txBody>
      </p:sp>
      <p:sp>
        <p:nvSpPr>
          <p:cNvPr id="20" name="TextBox 19"/>
          <p:cNvSpPr txBox="1"/>
          <p:nvPr/>
        </p:nvSpPr>
        <p:spPr>
          <a:xfrm>
            <a:off x="7022592" y="1801368"/>
            <a:ext cx="5029200" cy="274320"/>
          </a:xfrm>
          <a:prstGeom prst="rect">
            <a:avLst/>
          </a:prstGeom>
          <a:noFill/>
        </p:spPr>
        <p:txBody>
          <a:bodyPr wrap="square">
            <a:spAutoFit/>
          </a:bodyPr>
          <a:lstStyle/>
          <a:p>
            <a:pPr algn="l"/>
            <a:r>
              <a:rPr sz="900" b="0" i="0">
                <a:solidFill>
                  <a:srgbClr val="F1F5F9"/>
                </a:solidFill>
              </a:rPr>
              <a:t>Architecture diagram, module spec</a:t>
            </a:r>
          </a:p>
        </p:txBody>
      </p:sp>
      <p:sp>
        <p:nvSpPr>
          <p:cNvPr id="21" name="Rectangle 20"/>
          <p:cNvSpPr/>
          <p:nvPr/>
        </p:nvSpPr>
        <p:spPr>
          <a:xfrm>
            <a:off x="274320" y="2093976"/>
            <a:ext cx="1179576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7472" y="2148840"/>
            <a:ext cx="1554480" cy="274320"/>
          </a:xfrm>
          <a:prstGeom prst="rect">
            <a:avLst/>
          </a:prstGeom>
          <a:noFill/>
        </p:spPr>
        <p:txBody>
          <a:bodyPr wrap="square">
            <a:spAutoFit/>
          </a:bodyPr>
          <a:lstStyle/>
          <a:p>
            <a:pPr algn="l"/>
            <a:r>
              <a:rPr sz="900" b="0" i="0">
                <a:solidFill>
                  <a:srgbClr val="94A3B8"/>
                </a:solidFill>
              </a:rPr>
              <a:t>Design</a:t>
            </a:r>
          </a:p>
        </p:txBody>
      </p:sp>
      <p:sp>
        <p:nvSpPr>
          <p:cNvPr id="23" name="TextBox 22"/>
          <p:cNvSpPr txBox="1"/>
          <p:nvPr/>
        </p:nvSpPr>
        <p:spPr>
          <a:xfrm>
            <a:off x="1993392" y="2148840"/>
            <a:ext cx="4937760" cy="274320"/>
          </a:xfrm>
          <a:prstGeom prst="rect">
            <a:avLst/>
          </a:prstGeom>
          <a:noFill/>
        </p:spPr>
        <p:txBody>
          <a:bodyPr wrap="square">
            <a:spAutoFit/>
          </a:bodyPr>
          <a:lstStyle/>
          <a:p>
            <a:pPr algn="l"/>
            <a:r>
              <a:rPr sz="900" b="0" i="0">
                <a:solidFill>
                  <a:srgbClr val="94A3B8"/>
                </a:solidFill>
              </a:rPr>
              <a:t>Streamlit UI wireframes, FastAPI endpoint contracts, DB schema</a:t>
            </a:r>
          </a:p>
        </p:txBody>
      </p:sp>
      <p:sp>
        <p:nvSpPr>
          <p:cNvPr id="24" name="TextBox 23"/>
          <p:cNvSpPr txBox="1"/>
          <p:nvPr/>
        </p:nvSpPr>
        <p:spPr>
          <a:xfrm>
            <a:off x="7022592" y="2148840"/>
            <a:ext cx="5029200" cy="274320"/>
          </a:xfrm>
          <a:prstGeom prst="rect">
            <a:avLst/>
          </a:prstGeom>
          <a:noFill/>
        </p:spPr>
        <p:txBody>
          <a:bodyPr wrap="square">
            <a:spAutoFit/>
          </a:bodyPr>
          <a:lstStyle/>
          <a:p>
            <a:pPr algn="l"/>
            <a:r>
              <a:rPr sz="900" b="0" i="0">
                <a:solidFill>
                  <a:srgbClr val="94A3B8"/>
                </a:solidFill>
              </a:rPr>
              <a:t>UI mockups, API contract, DB schema</a:t>
            </a:r>
          </a:p>
        </p:txBody>
      </p:sp>
      <p:sp>
        <p:nvSpPr>
          <p:cNvPr id="25" name="Rectangle 24"/>
          <p:cNvSpPr/>
          <p:nvPr/>
        </p:nvSpPr>
        <p:spPr>
          <a:xfrm>
            <a:off x="274320" y="2441448"/>
            <a:ext cx="11795760" cy="347472"/>
          </a:xfrm>
          <a:prstGeom prst="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47472" y="2496312"/>
            <a:ext cx="1554480" cy="274320"/>
          </a:xfrm>
          <a:prstGeom prst="rect">
            <a:avLst/>
          </a:prstGeom>
          <a:noFill/>
        </p:spPr>
        <p:txBody>
          <a:bodyPr wrap="square">
            <a:spAutoFit/>
          </a:bodyPr>
          <a:lstStyle/>
          <a:p>
            <a:pPr algn="l"/>
            <a:r>
              <a:rPr sz="900" b="0" i="0">
                <a:solidFill>
                  <a:srgbClr val="F1F5F9"/>
                </a:solidFill>
              </a:rPr>
              <a:t>Development</a:t>
            </a:r>
          </a:p>
        </p:txBody>
      </p:sp>
      <p:sp>
        <p:nvSpPr>
          <p:cNvPr id="27" name="TextBox 26"/>
          <p:cNvSpPr txBox="1"/>
          <p:nvPr/>
        </p:nvSpPr>
        <p:spPr>
          <a:xfrm>
            <a:off x="1993392" y="2496312"/>
            <a:ext cx="4937760" cy="274320"/>
          </a:xfrm>
          <a:prstGeom prst="rect">
            <a:avLst/>
          </a:prstGeom>
          <a:noFill/>
        </p:spPr>
        <p:txBody>
          <a:bodyPr wrap="square">
            <a:spAutoFit/>
          </a:bodyPr>
          <a:lstStyle/>
          <a:p>
            <a:pPr algn="l"/>
            <a:r>
              <a:rPr sz="900" b="0" i="0">
                <a:solidFill>
                  <a:srgbClr val="F1F5F9"/>
                </a:solidFill>
              </a:rPr>
              <a:t>Validator, Scorer, Rewriter, Analyzer, Storage, App, API coding</a:t>
            </a:r>
          </a:p>
        </p:txBody>
      </p:sp>
      <p:sp>
        <p:nvSpPr>
          <p:cNvPr id="28" name="TextBox 27"/>
          <p:cNvSpPr txBox="1"/>
          <p:nvPr/>
        </p:nvSpPr>
        <p:spPr>
          <a:xfrm>
            <a:off x="7022592" y="2496312"/>
            <a:ext cx="5029200" cy="274320"/>
          </a:xfrm>
          <a:prstGeom prst="rect">
            <a:avLst/>
          </a:prstGeom>
          <a:noFill/>
        </p:spPr>
        <p:txBody>
          <a:bodyPr wrap="square">
            <a:spAutoFit/>
          </a:bodyPr>
          <a:lstStyle/>
          <a:p>
            <a:pPr algn="l"/>
            <a:r>
              <a:rPr sz="900" b="0" i="0">
                <a:solidFill>
                  <a:srgbClr val="F1F5F9"/>
                </a:solidFill>
              </a:rPr>
              <a:t>Python source (8 modules), SQLite DB</a:t>
            </a:r>
          </a:p>
        </p:txBody>
      </p:sp>
      <p:sp>
        <p:nvSpPr>
          <p:cNvPr id="29" name="Rectangle 28"/>
          <p:cNvSpPr/>
          <p:nvPr/>
        </p:nvSpPr>
        <p:spPr>
          <a:xfrm>
            <a:off x="274320" y="2788920"/>
            <a:ext cx="1179576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47472" y="2843784"/>
            <a:ext cx="1554480" cy="274320"/>
          </a:xfrm>
          <a:prstGeom prst="rect">
            <a:avLst/>
          </a:prstGeom>
          <a:noFill/>
        </p:spPr>
        <p:txBody>
          <a:bodyPr wrap="square">
            <a:spAutoFit/>
          </a:bodyPr>
          <a:lstStyle/>
          <a:p>
            <a:pPr algn="l"/>
            <a:r>
              <a:rPr sz="900" b="0" i="0">
                <a:solidFill>
                  <a:srgbClr val="94A3B8"/>
                </a:solidFill>
              </a:rPr>
              <a:t>Testing</a:t>
            </a:r>
          </a:p>
        </p:txBody>
      </p:sp>
      <p:sp>
        <p:nvSpPr>
          <p:cNvPr id="31" name="TextBox 30"/>
          <p:cNvSpPr txBox="1"/>
          <p:nvPr/>
        </p:nvSpPr>
        <p:spPr>
          <a:xfrm>
            <a:off x="1993392" y="2843784"/>
            <a:ext cx="4937760" cy="274320"/>
          </a:xfrm>
          <a:prstGeom prst="rect">
            <a:avLst/>
          </a:prstGeom>
          <a:noFill/>
        </p:spPr>
        <p:txBody>
          <a:bodyPr wrap="square">
            <a:spAutoFit/>
          </a:bodyPr>
          <a:lstStyle/>
          <a:p>
            <a:pPr algn="l"/>
            <a:r>
              <a:rPr sz="900" b="0" i="0">
                <a:solidFill>
                  <a:srgbClr val="94A3B8"/>
                </a:solidFill>
              </a:rPr>
              <a:t>Unit, Smoke, Integration, System, Regression, UAT (72+ cases)</a:t>
            </a:r>
          </a:p>
        </p:txBody>
      </p:sp>
      <p:sp>
        <p:nvSpPr>
          <p:cNvPr id="32" name="TextBox 31"/>
          <p:cNvSpPr txBox="1"/>
          <p:nvPr/>
        </p:nvSpPr>
        <p:spPr>
          <a:xfrm>
            <a:off x="7022592" y="2843784"/>
            <a:ext cx="5029200" cy="274320"/>
          </a:xfrm>
          <a:prstGeom prst="rect">
            <a:avLst/>
          </a:prstGeom>
          <a:noFill/>
        </p:spPr>
        <p:txBody>
          <a:bodyPr wrap="square">
            <a:spAutoFit/>
          </a:bodyPr>
          <a:lstStyle/>
          <a:p>
            <a:pPr algn="l"/>
            <a:r>
              <a:rPr sz="900" b="0" i="0">
                <a:solidFill>
                  <a:srgbClr val="94A3B8"/>
                </a:solidFill>
              </a:rPr>
              <a:t>4 test files, 5 test reports (.md)</a:t>
            </a:r>
          </a:p>
        </p:txBody>
      </p:sp>
      <p:sp>
        <p:nvSpPr>
          <p:cNvPr id="33" name="Rectangle 32"/>
          <p:cNvSpPr/>
          <p:nvPr/>
        </p:nvSpPr>
        <p:spPr>
          <a:xfrm>
            <a:off x="274320" y="3136392"/>
            <a:ext cx="11795760" cy="347472"/>
          </a:xfrm>
          <a:prstGeom prst="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7472" y="3191256"/>
            <a:ext cx="1554480" cy="274320"/>
          </a:xfrm>
          <a:prstGeom prst="rect">
            <a:avLst/>
          </a:prstGeom>
          <a:noFill/>
        </p:spPr>
        <p:txBody>
          <a:bodyPr wrap="square">
            <a:spAutoFit/>
          </a:bodyPr>
          <a:lstStyle/>
          <a:p>
            <a:pPr algn="l"/>
            <a:r>
              <a:rPr sz="900" b="0" i="0">
                <a:solidFill>
                  <a:srgbClr val="F1F5F9"/>
                </a:solidFill>
              </a:rPr>
              <a:t>Review</a:t>
            </a:r>
          </a:p>
        </p:txBody>
      </p:sp>
      <p:sp>
        <p:nvSpPr>
          <p:cNvPr id="35" name="TextBox 34"/>
          <p:cNvSpPr txBox="1"/>
          <p:nvPr/>
        </p:nvSpPr>
        <p:spPr>
          <a:xfrm>
            <a:off x="1993392" y="3191256"/>
            <a:ext cx="4937760" cy="274320"/>
          </a:xfrm>
          <a:prstGeom prst="rect">
            <a:avLst/>
          </a:prstGeom>
          <a:noFill/>
        </p:spPr>
        <p:txBody>
          <a:bodyPr wrap="square">
            <a:spAutoFit/>
          </a:bodyPr>
          <a:lstStyle/>
          <a:p>
            <a:pPr algn="l"/>
            <a:r>
              <a:rPr sz="900" b="0" i="0">
                <a:solidFill>
                  <a:srgbClr val="F1F5F9"/>
                </a:solidFill>
              </a:rPr>
              <a:t>Code review checklist, security check, performance benchmarking</a:t>
            </a:r>
          </a:p>
        </p:txBody>
      </p:sp>
      <p:sp>
        <p:nvSpPr>
          <p:cNvPr id="36" name="TextBox 35"/>
          <p:cNvSpPr txBox="1"/>
          <p:nvPr/>
        </p:nvSpPr>
        <p:spPr>
          <a:xfrm>
            <a:off x="7022592" y="3191256"/>
            <a:ext cx="5029200" cy="274320"/>
          </a:xfrm>
          <a:prstGeom prst="rect">
            <a:avLst/>
          </a:prstGeom>
          <a:noFill/>
        </p:spPr>
        <p:txBody>
          <a:bodyPr wrap="square">
            <a:spAutoFit/>
          </a:bodyPr>
          <a:lstStyle/>
          <a:p>
            <a:pPr algn="l"/>
            <a:r>
              <a:rPr sz="900" b="0" i="0">
                <a:solidFill>
                  <a:srgbClr val="F1F5F9"/>
                </a:solidFill>
              </a:rPr>
              <a:t>Reviewed source, test results</a:t>
            </a:r>
          </a:p>
        </p:txBody>
      </p:sp>
      <p:sp>
        <p:nvSpPr>
          <p:cNvPr id="37" name="Rectangle 36"/>
          <p:cNvSpPr/>
          <p:nvPr/>
        </p:nvSpPr>
        <p:spPr>
          <a:xfrm>
            <a:off x="274320" y="3483864"/>
            <a:ext cx="1179576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47472" y="3538728"/>
            <a:ext cx="1554480" cy="274320"/>
          </a:xfrm>
          <a:prstGeom prst="rect">
            <a:avLst/>
          </a:prstGeom>
          <a:noFill/>
        </p:spPr>
        <p:txBody>
          <a:bodyPr wrap="square">
            <a:spAutoFit/>
          </a:bodyPr>
          <a:lstStyle/>
          <a:p>
            <a:pPr algn="l"/>
            <a:r>
              <a:rPr sz="900" b="0" i="0">
                <a:solidFill>
                  <a:srgbClr val="94A3B8"/>
                </a:solidFill>
              </a:rPr>
              <a:t>Deployment</a:t>
            </a:r>
          </a:p>
        </p:txBody>
      </p:sp>
      <p:sp>
        <p:nvSpPr>
          <p:cNvPr id="39" name="TextBox 38"/>
          <p:cNvSpPr txBox="1"/>
          <p:nvPr/>
        </p:nvSpPr>
        <p:spPr>
          <a:xfrm>
            <a:off x="1993392" y="3538728"/>
            <a:ext cx="4937760" cy="274320"/>
          </a:xfrm>
          <a:prstGeom prst="rect">
            <a:avLst/>
          </a:prstGeom>
          <a:noFill/>
        </p:spPr>
        <p:txBody>
          <a:bodyPr wrap="square">
            <a:spAutoFit/>
          </a:bodyPr>
          <a:lstStyle/>
          <a:p>
            <a:pPr algn="l"/>
            <a:r>
              <a:rPr sz="900" b="0" i="0">
                <a:solidFill>
                  <a:srgbClr val="94A3B8"/>
                </a:solidFill>
              </a:rPr>
              <a:t>Local deployment, configuration guide, sample defects loaded</a:t>
            </a:r>
          </a:p>
        </p:txBody>
      </p:sp>
      <p:sp>
        <p:nvSpPr>
          <p:cNvPr id="40" name="TextBox 39"/>
          <p:cNvSpPr txBox="1"/>
          <p:nvPr/>
        </p:nvSpPr>
        <p:spPr>
          <a:xfrm>
            <a:off x="7022592" y="3538728"/>
            <a:ext cx="5029200" cy="274320"/>
          </a:xfrm>
          <a:prstGeom prst="rect">
            <a:avLst/>
          </a:prstGeom>
          <a:noFill/>
        </p:spPr>
        <p:txBody>
          <a:bodyPr wrap="square">
            <a:spAutoFit/>
          </a:bodyPr>
          <a:lstStyle/>
          <a:p>
            <a:pPr algn="l"/>
            <a:r>
              <a:rPr sz="900" b="0" i="0">
                <a:solidFill>
                  <a:srgbClr val="94A3B8"/>
                </a:solidFill>
              </a:rPr>
              <a:t>Running app, README, smtp_config</a:t>
            </a:r>
          </a:p>
        </p:txBody>
      </p:sp>
      <p:sp>
        <p:nvSpPr>
          <p:cNvPr id="41" name="Rectangle 40"/>
          <p:cNvSpPr/>
          <p:nvPr/>
        </p:nvSpPr>
        <p:spPr>
          <a:xfrm>
            <a:off x="274320" y="3831336"/>
            <a:ext cx="11795760" cy="347472"/>
          </a:xfrm>
          <a:prstGeom prst="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47472" y="3886200"/>
            <a:ext cx="1554480" cy="274320"/>
          </a:xfrm>
          <a:prstGeom prst="rect">
            <a:avLst/>
          </a:prstGeom>
          <a:noFill/>
        </p:spPr>
        <p:txBody>
          <a:bodyPr wrap="square">
            <a:spAutoFit/>
          </a:bodyPr>
          <a:lstStyle/>
          <a:p>
            <a:pPr algn="l"/>
            <a:r>
              <a:rPr sz="900" b="0" i="0">
                <a:solidFill>
                  <a:srgbClr val="F1F5F9"/>
                </a:solidFill>
              </a:rPr>
              <a:t>Maintenance</a:t>
            </a:r>
          </a:p>
        </p:txBody>
      </p:sp>
      <p:sp>
        <p:nvSpPr>
          <p:cNvPr id="43" name="TextBox 42"/>
          <p:cNvSpPr txBox="1"/>
          <p:nvPr/>
        </p:nvSpPr>
        <p:spPr>
          <a:xfrm>
            <a:off x="1993392" y="3886200"/>
            <a:ext cx="4937760" cy="274320"/>
          </a:xfrm>
          <a:prstGeom prst="rect">
            <a:avLst/>
          </a:prstGeom>
          <a:noFill/>
        </p:spPr>
        <p:txBody>
          <a:bodyPr wrap="square">
            <a:spAutoFit/>
          </a:bodyPr>
          <a:lstStyle/>
          <a:p>
            <a:pPr algn="l"/>
            <a:r>
              <a:rPr sz="900" b="0" i="0">
                <a:solidFill>
                  <a:srgbClr val="F1F5F9"/>
                </a:solidFill>
              </a:rPr>
              <a:t>Defect log review, UI redesign, scoring weight tuning</a:t>
            </a:r>
          </a:p>
        </p:txBody>
      </p:sp>
      <p:sp>
        <p:nvSpPr>
          <p:cNvPr id="44" name="TextBox 43"/>
          <p:cNvSpPr txBox="1"/>
          <p:nvPr/>
        </p:nvSpPr>
        <p:spPr>
          <a:xfrm>
            <a:off x="7022592" y="3886200"/>
            <a:ext cx="5029200" cy="274320"/>
          </a:xfrm>
          <a:prstGeom prst="rect">
            <a:avLst/>
          </a:prstGeom>
          <a:noFill/>
        </p:spPr>
        <p:txBody>
          <a:bodyPr wrap="square">
            <a:spAutoFit/>
          </a:bodyPr>
          <a:lstStyle/>
          <a:p>
            <a:pPr algn="l"/>
            <a:r>
              <a:rPr sz="900" b="0" i="0">
                <a:solidFill>
                  <a:srgbClr val="F1F5F9"/>
                </a:solidFill>
              </a:rPr>
              <a:t>Defect fixes, updated UI (ui.py)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V-Model – Verification &amp; Validation</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How BugLens testing phases map to development phases</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10</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274320" y="1097280"/>
            <a:ext cx="2377440" cy="65836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133856"/>
            <a:ext cx="2194560" cy="384048"/>
          </a:xfrm>
          <a:prstGeom prst="rect">
            <a:avLst/>
          </a:prstGeom>
          <a:noFill/>
        </p:spPr>
        <p:txBody>
          <a:bodyPr wrap="square">
            <a:spAutoFit/>
          </a:bodyPr>
          <a:lstStyle/>
          <a:p>
            <a:pPr algn="ctr"/>
            <a:r>
              <a:rPr sz="1000" b="1" i="0">
                <a:solidFill>
                  <a:srgbClr val="FFFFFF"/>
                </a:solidFill>
              </a:rPr>
              <a:t>Requirements
Analysis</a:t>
            </a:r>
          </a:p>
        </p:txBody>
      </p:sp>
      <p:sp>
        <p:nvSpPr>
          <p:cNvPr id="11" name="TextBox 10"/>
          <p:cNvSpPr txBox="1"/>
          <p:nvPr/>
        </p:nvSpPr>
        <p:spPr>
          <a:xfrm>
            <a:off x="365760" y="1517904"/>
            <a:ext cx="2194560" cy="219456"/>
          </a:xfrm>
          <a:prstGeom prst="rect">
            <a:avLst/>
          </a:prstGeom>
          <a:noFill/>
        </p:spPr>
        <p:txBody>
          <a:bodyPr wrap="square">
            <a:spAutoFit/>
          </a:bodyPr>
          <a:lstStyle/>
          <a:p>
            <a:pPr algn="ctr"/>
            <a:r>
              <a:rPr sz="750" b="0" i="0">
                <a:solidFill>
                  <a:srgbClr val="E2E8F0"/>
                </a:solidFill>
              </a:rPr>
              <a:t>BRD, FR/NFR defined</a:t>
            </a:r>
          </a:p>
        </p:txBody>
      </p:sp>
      <p:sp>
        <p:nvSpPr>
          <p:cNvPr id="12" name="Rectangle 11"/>
          <p:cNvSpPr/>
          <p:nvPr/>
        </p:nvSpPr>
        <p:spPr>
          <a:xfrm flipV="1">
            <a:off x="2706624" y="1335025"/>
            <a:ext cx="5431536" cy="45719"/>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371600" y="1901952"/>
            <a:ext cx="2377440" cy="65836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463040" y="1938528"/>
            <a:ext cx="2194560" cy="384048"/>
          </a:xfrm>
          <a:prstGeom prst="rect">
            <a:avLst/>
          </a:prstGeom>
          <a:noFill/>
        </p:spPr>
        <p:txBody>
          <a:bodyPr wrap="square">
            <a:spAutoFit/>
          </a:bodyPr>
          <a:lstStyle/>
          <a:p>
            <a:pPr algn="ctr"/>
            <a:r>
              <a:rPr sz="1000" b="1" i="0">
                <a:solidFill>
                  <a:srgbClr val="FFFFFF"/>
                </a:solidFill>
              </a:rPr>
              <a:t>System
Design</a:t>
            </a:r>
          </a:p>
        </p:txBody>
      </p:sp>
      <p:sp>
        <p:nvSpPr>
          <p:cNvPr id="15" name="TextBox 14"/>
          <p:cNvSpPr txBox="1"/>
          <p:nvPr/>
        </p:nvSpPr>
        <p:spPr>
          <a:xfrm>
            <a:off x="1463040" y="2322576"/>
            <a:ext cx="2194560" cy="219456"/>
          </a:xfrm>
          <a:prstGeom prst="rect">
            <a:avLst/>
          </a:prstGeom>
          <a:noFill/>
        </p:spPr>
        <p:txBody>
          <a:bodyPr wrap="square">
            <a:spAutoFit/>
          </a:bodyPr>
          <a:lstStyle/>
          <a:p>
            <a:pPr algn="ctr"/>
            <a:r>
              <a:rPr sz="750" b="0" i="0">
                <a:solidFill>
                  <a:srgbClr val="E2E8F0"/>
                </a:solidFill>
              </a:rPr>
              <a:t>Architecture &amp; endpoints</a:t>
            </a:r>
          </a:p>
        </p:txBody>
      </p:sp>
      <p:sp>
        <p:nvSpPr>
          <p:cNvPr id="16" name="Rectangle 15"/>
          <p:cNvSpPr/>
          <p:nvPr/>
        </p:nvSpPr>
        <p:spPr>
          <a:xfrm flipV="1">
            <a:off x="3803904" y="2130552"/>
            <a:ext cx="3374136"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468880" y="2706624"/>
            <a:ext cx="2377440" cy="658368"/>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60320" y="2743200"/>
            <a:ext cx="2194560" cy="384048"/>
          </a:xfrm>
          <a:prstGeom prst="rect">
            <a:avLst/>
          </a:prstGeom>
          <a:noFill/>
        </p:spPr>
        <p:txBody>
          <a:bodyPr wrap="square">
            <a:spAutoFit/>
          </a:bodyPr>
          <a:lstStyle/>
          <a:p>
            <a:pPr algn="ctr"/>
            <a:r>
              <a:rPr sz="1000" b="1" i="0">
                <a:solidFill>
                  <a:srgbClr val="FFFFFF"/>
                </a:solidFill>
              </a:rPr>
              <a:t>Architecture
Design</a:t>
            </a:r>
          </a:p>
        </p:txBody>
      </p:sp>
      <p:sp>
        <p:nvSpPr>
          <p:cNvPr id="19" name="TextBox 18"/>
          <p:cNvSpPr txBox="1"/>
          <p:nvPr/>
        </p:nvSpPr>
        <p:spPr>
          <a:xfrm>
            <a:off x="2560320" y="3127248"/>
            <a:ext cx="2194560" cy="219456"/>
          </a:xfrm>
          <a:prstGeom prst="rect">
            <a:avLst/>
          </a:prstGeom>
          <a:noFill/>
        </p:spPr>
        <p:txBody>
          <a:bodyPr wrap="square">
            <a:spAutoFit/>
          </a:bodyPr>
          <a:lstStyle/>
          <a:p>
            <a:pPr algn="ctr"/>
            <a:r>
              <a:rPr sz="750" b="0" i="0">
                <a:solidFill>
                  <a:srgbClr val="E2E8F0"/>
                </a:solidFill>
              </a:rPr>
              <a:t>Module decomposition</a:t>
            </a:r>
          </a:p>
        </p:txBody>
      </p:sp>
      <p:sp>
        <p:nvSpPr>
          <p:cNvPr id="20" name="Rectangle 19"/>
          <p:cNvSpPr/>
          <p:nvPr/>
        </p:nvSpPr>
        <p:spPr>
          <a:xfrm>
            <a:off x="4901184" y="2990088"/>
            <a:ext cx="1133856"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566160" y="3511296"/>
            <a:ext cx="2377440" cy="658368"/>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0" y="3547872"/>
            <a:ext cx="2194560" cy="384048"/>
          </a:xfrm>
          <a:prstGeom prst="rect">
            <a:avLst/>
          </a:prstGeom>
          <a:noFill/>
        </p:spPr>
        <p:txBody>
          <a:bodyPr wrap="square">
            <a:spAutoFit/>
          </a:bodyPr>
          <a:lstStyle/>
          <a:p>
            <a:pPr algn="ctr"/>
            <a:r>
              <a:rPr sz="1000" b="1" i="0">
                <a:solidFill>
                  <a:srgbClr val="FFFFFF"/>
                </a:solidFill>
              </a:rPr>
              <a:t>Module
Design</a:t>
            </a:r>
          </a:p>
        </p:txBody>
      </p:sp>
      <p:sp>
        <p:nvSpPr>
          <p:cNvPr id="23" name="TextBox 22"/>
          <p:cNvSpPr txBox="1"/>
          <p:nvPr/>
        </p:nvSpPr>
        <p:spPr>
          <a:xfrm>
            <a:off x="3657600" y="3931920"/>
            <a:ext cx="2194560" cy="219456"/>
          </a:xfrm>
          <a:prstGeom prst="rect">
            <a:avLst/>
          </a:prstGeom>
          <a:noFill/>
        </p:spPr>
        <p:txBody>
          <a:bodyPr wrap="square">
            <a:spAutoFit/>
          </a:bodyPr>
          <a:lstStyle/>
          <a:p>
            <a:pPr algn="ctr"/>
            <a:r>
              <a:rPr sz="750" b="0" i="0">
                <a:solidFill>
                  <a:srgbClr val="E2E8F0"/>
                </a:solidFill>
              </a:rPr>
              <a:t>Class &amp; method specs</a:t>
            </a:r>
          </a:p>
        </p:txBody>
      </p:sp>
      <p:sp>
        <p:nvSpPr>
          <p:cNvPr id="24" name="Rounded Rectangle 23"/>
          <p:cNvSpPr/>
          <p:nvPr/>
        </p:nvSpPr>
        <p:spPr>
          <a:xfrm>
            <a:off x="4347972" y="4430268"/>
            <a:ext cx="2148840" cy="84124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39412" y="4563272"/>
            <a:ext cx="1965960" cy="731520"/>
          </a:xfrm>
          <a:prstGeom prst="rect">
            <a:avLst/>
          </a:prstGeom>
          <a:noFill/>
        </p:spPr>
        <p:txBody>
          <a:bodyPr wrap="square">
            <a:spAutoFit/>
          </a:bodyPr>
          <a:lstStyle/>
          <a:p>
            <a:pPr algn="ctr"/>
            <a:r>
              <a:rPr sz="1100" b="1" i="0" dirty="0">
                <a:solidFill>
                  <a:srgbClr val="FFFFFF"/>
                </a:solidFill>
              </a:rPr>
              <a:t>Coding
Implementation</a:t>
            </a:r>
          </a:p>
        </p:txBody>
      </p:sp>
      <p:sp>
        <p:nvSpPr>
          <p:cNvPr id="26" name="Rounded Rectangle 25"/>
          <p:cNvSpPr/>
          <p:nvPr/>
        </p:nvSpPr>
        <p:spPr>
          <a:xfrm>
            <a:off x="8229600" y="1097280"/>
            <a:ext cx="2377440" cy="65836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21040" y="1133856"/>
            <a:ext cx="2194560" cy="384048"/>
          </a:xfrm>
          <a:prstGeom prst="rect">
            <a:avLst/>
          </a:prstGeom>
          <a:noFill/>
        </p:spPr>
        <p:txBody>
          <a:bodyPr wrap="square">
            <a:spAutoFit/>
          </a:bodyPr>
          <a:lstStyle/>
          <a:p>
            <a:pPr algn="ctr"/>
            <a:r>
              <a:rPr sz="1000" b="1" i="0">
                <a:solidFill>
                  <a:srgbClr val="FFFFFF"/>
                </a:solidFill>
              </a:rPr>
              <a:t>User Acceptance
Testing</a:t>
            </a:r>
          </a:p>
        </p:txBody>
      </p:sp>
      <p:sp>
        <p:nvSpPr>
          <p:cNvPr id="28" name="TextBox 27"/>
          <p:cNvSpPr txBox="1"/>
          <p:nvPr/>
        </p:nvSpPr>
        <p:spPr>
          <a:xfrm>
            <a:off x="8321040" y="1517904"/>
            <a:ext cx="2194560" cy="219456"/>
          </a:xfrm>
          <a:prstGeom prst="rect">
            <a:avLst/>
          </a:prstGeom>
          <a:noFill/>
        </p:spPr>
        <p:txBody>
          <a:bodyPr wrap="square">
            <a:spAutoFit/>
          </a:bodyPr>
          <a:lstStyle/>
          <a:p>
            <a:pPr algn="ctr"/>
            <a:r>
              <a:rPr sz="750" b="0" i="0">
                <a:solidFill>
                  <a:srgbClr val="E2E8F0"/>
                </a:solidFill>
              </a:rPr>
              <a:t>28 UAT test cases</a:t>
            </a:r>
          </a:p>
        </p:txBody>
      </p:sp>
      <p:sp>
        <p:nvSpPr>
          <p:cNvPr id="29" name="Rounded Rectangle 28"/>
          <p:cNvSpPr/>
          <p:nvPr/>
        </p:nvSpPr>
        <p:spPr>
          <a:xfrm>
            <a:off x="7132320" y="1901952"/>
            <a:ext cx="2377440" cy="65836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23760" y="1938528"/>
            <a:ext cx="2194560" cy="384048"/>
          </a:xfrm>
          <a:prstGeom prst="rect">
            <a:avLst/>
          </a:prstGeom>
          <a:noFill/>
        </p:spPr>
        <p:txBody>
          <a:bodyPr wrap="square">
            <a:spAutoFit/>
          </a:bodyPr>
          <a:lstStyle/>
          <a:p>
            <a:pPr algn="ctr"/>
            <a:r>
              <a:rPr sz="1000" b="1" i="0">
                <a:solidFill>
                  <a:srgbClr val="FFFFFF"/>
                </a:solidFill>
              </a:rPr>
              <a:t>System
Testing</a:t>
            </a:r>
          </a:p>
        </p:txBody>
      </p:sp>
      <p:sp>
        <p:nvSpPr>
          <p:cNvPr id="31" name="TextBox 30"/>
          <p:cNvSpPr txBox="1"/>
          <p:nvPr/>
        </p:nvSpPr>
        <p:spPr>
          <a:xfrm>
            <a:off x="7223760" y="2322576"/>
            <a:ext cx="2194560" cy="219456"/>
          </a:xfrm>
          <a:prstGeom prst="rect">
            <a:avLst/>
          </a:prstGeom>
          <a:noFill/>
        </p:spPr>
        <p:txBody>
          <a:bodyPr wrap="square">
            <a:spAutoFit/>
          </a:bodyPr>
          <a:lstStyle/>
          <a:p>
            <a:pPr algn="ctr"/>
            <a:r>
              <a:rPr sz="750" b="0" i="0">
                <a:solidFill>
                  <a:srgbClr val="E2E8F0"/>
                </a:solidFill>
              </a:rPr>
              <a:t>55 system test cases</a:t>
            </a:r>
          </a:p>
        </p:txBody>
      </p:sp>
      <p:sp>
        <p:nvSpPr>
          <p:cNvPr id="32" name="Rounded Rectangle 31"/>
          <p:cNvSpPr/>
          <p:nvPr/>
        </p:nvSpPr>
        <p:spPr>
          <a:xfrm>
            <a:off x="6035040" y="2706624"/>
            <a:ext cx="2377440" cy="658368"/>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126480" y="2743200"/>
            <a:ext cx="2194560" cy="384048"/>
          </a:xfrm>
          <a:prstGeom prst="rect">
            <a:avLst/>
          </a:prstGeom>
          <a:noFill/>
        </p:spPr>
        <p:txBody>
          <a:bodyPr wrap="square">
            <a:spAutoFit/>
          </a:bodyPr>
          <a:lstStyle/>
          <a:p>
            <a:pPr algn="ctr"/>
            <a:r>
              <a:rPr sz="1000" b="1" i="0">
                <a:solidFill>
                  <a:srgbClr val="FFFFFF"/>
                </a:solidFill>
              </a:rPr>
              <a:t>Integration
Testing</a:t>
            </a:r>
          </a:p>
        </p:txBody>
      </p:sp>
      <p:sp>
        <p:nvSpPr>
          <p:cNvPr id="34" name="TextBox 33"/>
          <p:cNvSpPr txBox="1"/>
          <p:nvPr/>
        </p:nvSpPr>
        <p:spPr>
          <a:xfrm>
            <a:off x="6126480" y="3127248"/>
            <a:ext cx="2194560" cy="219456"/>
          </a:xfrm>
          <a:prstGeom prst="rect">
            <a:avLst/>
          </a:prstGeom>
          <a:noFill/>
        </p:spPr>
        <p:txBody>
          <a:bodyPr wrap="square">
            <a:spAutoFit/>
          </a:bodyPr>
          <a:lstStyle/>
          <a:p>
            <a:pPr algn="ctr"/>
            <a:r>
              <a:rPr sz="750" b="0" i="0">
                <a:solidFill>
                  <a:srgbClr val="E2E8F0"/>
                </a:solidFill>
              </a:rPr>
              <a:t>37 integration cases</a:t>
            </a:r>
          </a:p>
        </p:txBody>
      </p:sp>
      <p:sp>
        <p:nvSpPr>
          <p:cNvPr id="35" name="Rounded Rectangle 34"/>
          <p:cNvSpPr/>
          <p:nvPr/>
        </p:nvSpPr>
        <p:spPr>
          <a:xfrm>
            <a:off x="5511339" y="3508803"/>
            <a:ext cx="1620981" cy="658368"/>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0" y="3547872"/>
            <a:ext cx="2194560" cy="384048"/>
          </a:xfrm>
          <a:prstGeom prst="rect">
            <a:avLst/>
          </a:prstGeom>
          <a:noFill/>
        </p:spPr>
        <p:txBody>
          <a:bodyPr wrap="square">
            <a:spAutoFit/>
          </a:bodyPr>
          <a:lstStyle/>
          <a:p>
            <a:pPr algn="ctr"/>
            <a:r>
              <a:rPr sz="1000" b="1" i="0">
                <a:solidFill>
                  <a:srgbClr val="FFFFFF"/>
                </a:solidFill>
              </a:rPr>
              <a:t>Unit
Testing</a:t>
            </a:r>
          </a:p>
        </p:txBody>
      </p:sp>
      <p:sp>
        <p:nvSpPr>
          <p:cNvPr id="37" name="TextBox 36"/>
          <p:cNvSpPr txBox="1"/>
          <p:nvPr/>
        </p:nvSpPr>
        <p:spPr>
          <a:xfrm>
            <a:off x="5029200" y="3931920"/>
            <a:ext cx="2194560" cy="219456"/>
          </a:xfrm>
          <a:prstGeom prst="rect">
            <a:avLst/>
          </a:prstGeom>
          <a:noFill/>
        </p:spPr>
        <p:txBody>
          <a:bodyPr wrap="square">
            <a:spAutoFit/>
          </a:bodyPr>
          <a:lstStyle/>
          <a:p>
            <a:pPr algn="ctr"/>
            <a:r>
              <a:rPr sz="750" b="0" i="0">
                <a:solidFill>
                  <a:srgbClr val="E2E8F0"/>
                </a:solidFill>
              </a:rPr>
              <a:t>17+ unit test cases</a:t>
            </a:r>
          </a:p>
        </p:txBody>
      </p:sp>
      <p:sp>
        <p:nvSpPr>
          <p:cNvPr id="38" name="Rectangle 37"/>
          <p:cNvSpPr/>
          <p:nvPr/>
        </p:nvSpPr>
        <p:spPr>
          <a:xfrm>
            <a:off x="274320" y="5989320"/>
            <a:ext cx="11612880" cy="4572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35040"/>
            <a:ext cx="2743200" cy="274320"/>
          </a:xfrm>
          <a:prstGeom prst="rect">
            <a:avLst/>
          </a:prstGeom>
          <a:noFill/>
        </p:spPr>
        <p:txBody>
          <a:bodyPr wrap="square">
            <a:spAutoFit/>
          </a:bodyPr>
          <a:lstStyle/>
          <a:p>
            <a:pPr algn="ctr"/>
            <a:r>
              <a:rPr sz="900" b="1" i="0">
                <a:solidFill>
                  <a:srgbClr val="06B6D4"/>
                </a:solidFill>
              </a:rPr>
              <a:t>Req ↔ UAT</a:t>
            </a:r>
          </a:p>
        </p:txBody>
      </p:sp>
      <p:sp>
        <p:nvSpPr>
          <p:cNvPr id="40" name="TextBox 39"/>
          <p:cNvSpPr txBox="1"/>
          <p:nvPr/>
        </p:nvSpPr>
        <p:spPr>
          <a:xfrm>
            <a:off x="3291840" y="6035040"/>
            <a:ext cx="2743200" cy="274320"/>
          </a:xfrm>
          <a:prstGeom prst="rect">
            <a:avLst/>
          </a:prstGeom>
          <a:noFill/>
        </p:spPr>
        <p:txBody>
          <a:bodyPr wrap="square">
            <a:spAutoFit/>
          </a:bodyPr>
          <a:lstStyle/>
          <a:p>
            <a:pPr algn="ctr"/>
            <a:r>
              <a:rPr sz="900" b="1" i="0">
                <a:solidFill>
                  <a:srgbClr val="06B6D4"/>
                </a:solidFill>
              </a:rPr>
              <a:t>Design ↔ System</a:t>
            </a:r>
          </a:p>
        </p:txBody>
      </p:sp>
      <p:sp>
        <p:nvSpPr>
          <p:cNvPr id="41" name="TextBox 40"/>
          <p:cNvSpPr txBox="1"/>
          <p:nvPr/>
        </p:nvSpPr>
        <p:spPr>
          <a:xfrm>
            <a:off x="6126480" y="6035040"/>
            <a:ext cx="2743200" cy="274320"/>
          </a:xfrm>
          <a:prstGeom prst="rect">
            <a:avLst/>
          </a:prstGeom>
          <a:noFill/>
        </p:spPr>
        <p:txBody>
          <a:bodyPr wrap="square">
            <a:spAutoFit/>
          </a:bodyPr>
          <a:lstStyle/>
          <a:p>
            <a:pPr algn="ctr"/>
            <a:r>
              <a:rPr sz="900" b="1" i="0">
                <a:solidFill>
                  <a:srgbClr val="06B6D4"/>
                </a:solidFill>
              </a:rPr>
              <a:t>Arch ↔ Integration</a:t>
            </a:r>
          </a:p>
        </p:txBody>
      </p:sp>
      <p:sp>
        <p:nvSpPr>
          <p:cNvPr id="42" name="TextBox 41"/>
          <p:cNvSpPr txBox="1"/>
          <p:nvPr/>
        </p:nvSpPr>
        <p:spPr>
          <a:xfrm>
            <a:off x="8961120" y="6035040"/>
            <a:ext cx="2743200" cy="274320"/>
          </a:xfrm>
          <a:prstGeom prst="rect">
            <a:avLst/>
          </a:prstGeom>
          <a:noFill/>
        </p:spPr>
        <p:txBody>
          <a:bodyPr wrap="square">
            <a:spAutoFit/>
          </a:bodyPr>
          <a:lstStyle/>
          <a:p>
            <a:pPr algn="ctr"/>
            <a:r>
              <a:rPr sz="900" b="1" i="0">
                <a:solidFill>
                  <a:srgbClr val="06B6D4"/>
                </a:solidFill>
              </a:rPr>
              <a:t>Module ↔ Unit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STLC – Software Testing Lifecycle</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Six phases of the BugLens testing strategy</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11</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320040" y="1078992"/>
            <a:ext cx="1737360" cy="5074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 y="1078992"/>
            <a:ext cx="173736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41248" y="1170432"/>
            <a:ext cx="694944" cy="69494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1207008"/>
            <a:ext cx="694944" cy="566928"/>
          </a:xfrm>
          <a:prstGeom prst="rect">
            <a:avLst/>
          </a:prstGeom>
          <a:noFill/>
        </p:spPr>
        <p:txBody>
          <a:bodyPr wrap="square">
            <a:spAutoFit/>
          </a:bodyPr>
          <a:lstStyle/>
          <a:p>
            <a:pPr algn="ctr"/>
            <a:r>
              <a:rPr sz="1500" b="1" i="0">
                <a:solidFill>
                  <a:srgbClr val="FFFFFF"/>
                </a:solidFill>
              </a:rPr>
              <a:t>01</a:t>
            </a:r>
          </a:p>
        </p:txBody>
      </p:sp>
      <p:sp>
        <p:nvSpPr>
          <p:cNvPr id="13" name="TextBox 12"/>
          <p:cNvSpPr txBox="1"/>
          <p:nvPr/>
        </p:nvSpPr>
        <p:spPr>
          <a:xfrm>
            <a:off x="393192" y="1993392"/>
            <a:ext cx="1591056" cy="502920"/>
          </a:xfrm>
          <a:prstGeom prst="rect">
            <a:avLst/>
          </a:prstGeom>
          <a:noFill/>
        </p:spPr>
        <p:txBody>
          <a:bodyPr wrap="square">
            <a:spAutoFit/>
          </a:bodyPr>
          <a:lstStyle/>
          <a:p>
            <a:pPr algn="ctr"/>
            <a:r>
              <a:rPr sz="1000" b="1" i="0">
                <a:solidFill>
                  <a:srgbClr val="FFFFFF"/>
                </a:solidFill>
              </a:rPr>
              <a:t>Requirement
Analysis</a:t>
            </a:r>
          </a:p>
        </p:txBody>
      </p:sp>
      <p:sp>
        <p:nvSpPr>
          <p:cNvPr id="14" name="TextBox 13"/>
          <p:cNvSpPr txBox="1"/>
          <p:nvPr/>
        </p:nvSpPr>
        <p:spPr>
          <a:xfrm>
            <a:off x="411480" y="2578608"/>
            <a:ext cx="1554480" cy="3493008"/>
          </a:xfrm>
          <a:prstGeom prst="rect">
            <a:avLst/>
          </a:prstGeom>
          <a:noFill/>
        </p:spPr>
        <p:txBody>
          <a:bodyPr wrap="square">
            <a:spAutoFit/>
          </a:bodyPr>
          <a:lstStyle/>
          <a:p>
            <a:pPr algn="l"/>
            <a:r>
              <a:rPr sz="800" b="0" i="0">
                <a:solidFill>
                  <a:srgbClr val="94A3B8"/>
                </a:solidFill>
              </a:rPr>
              <a:t>Reviewed FR/NFR · Identified testable items · Mapped BRD requirements to test conditions · Identified test boundaries and edge cases</a:t>
            </a:r>
          </a:p>
        </p:txBody>
      </p:sp>
      <p:sp>
        <p:nvSpPr>
          <p:cNvPr id="15" name="Rounded Rectangle 14"/>
          <p:cNvSpPr/>
          <p:nvPr/>
        </p:nvSpPr>
        <p:spPr>
          <a:xfrm>
            <a:off x="2240280" y="1078992"/>
            <a:ext cx="1737360" cy="5074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240280" y="1078992"/>
            <a:ext cx="173736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761488" y="1170432"/>
            <a:ext cx="694944" cy="694944"/>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61488" y="1207008"/>
            <a:ext cx="694944" cy="566928"/>
          </a:xfrm>
          <a:prstGeom prst="rect">
            <a:avLst/>
          </a:prstGeom>
          <a:noFill/>
        </p:spPr>
        <p:txBody>
          <a:bodyPr wrap="square">
            <a:spAutoFit/>
          </a:bodyPr>
          <a:lstStyle/>
          <a:p>
            <a:pPr algn="ctr"/>
            <a:r>
              <a:rPr sz="1500" b="1" i="0">
                <a:solidFill>
                  <a:srgbClr val="FFFFFF"/>
                </a:solidFill>
              </a:rPr>
              <a:t>02</a:t>
            </a:r>
          </a:p>
        </p:txBody>
      </p:sp>
      <p:sp>
        <p:nvSpPr>
          <p:cNvPr id="19" name="TextBox 18"/>
          <p:cNvSpPr txBox="1"/>
          <p:nvPr/>
        </p:nvSpPr>
        <p:spPr>
          <a:xfrm>
            <a:off x="2313432" y="1993392"/>
            <a:ext cx="1591056" cy="502920"/>
          </a:xfrm>
          <a:prstGeom prst="rect">
            <a:avLst/>
          </a:prstGeom>
          <a:noFill/>
        </p:spPr>
        <p:txBody>
          <a:bodyPr wrap="square">
            <a:spAutoFit/>
          </a:bodyPr>
          <a:lstStyle/>
          <a:p>
            <a:pPr algn="ctr"/>
            <a:r>
              <a:rPr sz="1000" b="1" i="0">
                <a:solidFill>
                  <a:srgbClr val="FFFFFF"/>
                </a:solidFill>
              </a:rPr>
              <a:t>Test Planning</a:t>
            </a:r>
          </a:p>
        </p:txBody>
      </p:sp>
      <p:sp>
        <p:nvSpPr>
          <p:cNvPr id="20" name="TextBox 19"/>
          <p:cNvSpPr txBox="1"/>
          <p:nvPr/>
        </p:nvSpPr>
        <p:spPr>
          <a:xfrm>
            <a:off x="2331720" y="2578608"/>
            <a:ext cx="1554480" cy="3493008"/>
          </a:xfrm>
          <a:prstGeom prst="rect">
            <a:avLst/>
          </a:prstGeom>
          <a:noFill/>
        </p:spPr>
        <p:txBody>
          <a:bodyPr wrap="square">
            <a:spAutoFit/>
          </a:bodyPr>
          <a:lstStyle/>
          <a:p>
            <a:pPr algn="l"/>
            <a:r>
              <a:rPr sz="800" b="0" i="0">
                <a:solidFill>
                  <a:srgbClr val="94A3B8"/>
                </a:solidFill>
              </a:rPr>
              <a:t>Defined testing scope (unit, integration, system, regression, UAT) · Allocated test types to modules · Defined entry/exit criteria · Chose pytest as the test runner</a:t>
            </a:r>
          </a:p>
        </p:txBody>
      </p:sp>
      <p:sp>
        <p:nvSpPr>
          <p:cNvPr id="21" name="Rounded Rectangle 20"/>
          <p:cNvSpPr/>
          <p:nvPr/>
        </p:nvSpPr>
        <p:spPr>
          <a:xfrm>
            <a:off x="4160520" y="1078992"/>
            <a:ext cx="1737360" cy="5074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160520" y="1078992"/>
            <a:ext cx="173736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681728" y="1170432"/>
            <a:ext cx="694944" cy="694944"/>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81728" y="1207008"/>
            <a:ext cx="694944" cy="566928"/>
          </a:xfrm>
          <a:prstGeom prst="rect">
            <a:avLst/>
          </a:prstGeom>
          <a:noFill/>
        </p:spPr>
        <p:txBody>
          <a:bodyPr wrap="square">
            <a:spAutoFit/>
          </a:bodyPr>
          <a:lstStyle/>
          <a:p>
            <a:pPr algn="ctr"/>
            <a:r>
              <a:rPr sz="1500" b="1" i="0">
                <a:solidFill>
                  <a:srgbClr val="FFFFFF"/>
                </a:solidFill>
              </a:rPr>
              <a:t>03</a:t>
            </a:r>
          </a:p>
        </p:txBody>
      </p:sp>
      <p:sp>
        <p:nvSpPr>
          <p:cNvPr id="25" name="TextBox 24"/>
          <p:cNvSpPr txBox="1"/>
          <p:nvPr/>
        </p:nvSpPr>
        <p:spPr>
          <a:xfrm>
            <a:off x="4233672" y="1993392"/>
            <a:ext cx="1591056" cy="502920"/>
          </a:xfrm>
          <a:prstGeom prst="rect">
            <a:avLst/>
          </a:prstGeom>
          <a:noFill/>
        </p:spPr>
        <p:txBody>
          <a:bodyPr wrap="square">
            <a:spAutoFit/>
          </a:bodyPr>
          <a:lstStyle/>
          <a:p>
            <a:pPr algn="ctr"/>
            <a:r>
              <a:rPr sz="1000" b="1" i="0">
                <a:solidFill>
                  <a:srgbClr val="FFFFFF"/>
                </a:solidFill>
              </a:rPr>
              <a:t>Test Case Design</a:t>
            </a:r>
          </a:p>
        </p:txBody>
      </p:sp>
      <p:sp>
        <p:nvSpPr>
          <p:cNvPr id="26" name="TextBox 25"/>
          <p:cNvSpPr txBox="1"/>
          <p:nvPr/>
        </p:nvSpPr>
        <p:spPr>
          <a:xfrm>
            <a:off x="4251960" y="2578608"/>
            <a:ext cx="1554480" cy="3493008"/>
          </a:xfrm>
          <a:prstGeom prst="rect">
            <a:avLst/>
          </a:prstGeom>
          <a:noFill/>
        </p:spPr>
        <p:txBody>
          <a:bodyPr wrap="square">
            <a:spAutoFit/>
          </a:bodyPr>
          <a:lstStyle/>
          <a:p>
            <a:pPr algn="l"/>
            <a:r>
              <a:rPr sz="800" b="0" i="0">
                <a:solidFill>
                  <a:srgbClr val="94A3B8"/>
                </a:solidFill>
              </a:rPr>
              <a:t>Created 72+ regression cases, 37 integration cases, 55 system cases, 28 UAT cases · Designed positive and negative scenarios · Created Functional_Test_Cases_24.xlsx</a:t>
            </a:r>
          </a:p>
        </p:txBody>
      </p:sp>
      <p:sp>
        <p:nvSpPr>
          <p:cNvPr id="27" name="Rounded Rectangle 26"/>
          <p:cNvSpPr/>
          <p:nvPr/>
        </p:nvSpPr>
        <p:spPr>
          <a:xfrm>
            <a:off x="6080760" y="1078992"/>
            <a:ext cx="1737360" cy="5074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080760" y="1078992"/>
            <a:ext cx="173736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601968" y="1170432"/>
            <a:ext cx="694944" cy="694944"/>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01968" y="1207008"/>
            <a:ext cx="694944" cy="566928"/>
          </a:xfrm>
          <a:prstGeom prst="rect">
            <a:avLst/>
          </a:prstGeom>
          <a:noFill/>
        </p:spPr>
        <p:txBody>
          <a:bodyPr wrap="square">
            <a:spAutoFit/>
          </a:bodyPr>
          <a:lstStyle/>
          <a:p>
            <a:pPr algn="ctr"/>
            <a:r>
              <a:rPr sz="1500" b="1" i="0">
                <a:solidFill>
                  <a:srgbClr val="FFFFFF"/>
                </a:solidFill>
              </a:rPr>
              <a:t>04</a:t>
            </a:r>
          </a:p>
        </p:txBody>
      </p:sp>
      <p:sp>
        <p:nvSpPr>
          <p:cNvPr id="31" name="TextBox 30"/>
          <p:cNvSpPr txBox="1"/>
          <p:nvPr/>
        </p:nvSpPr>
        <p:spPr>
          <a:xfrm>
            <a:off x="6153912" y="1993392"/>
            <a:ext cx="1591056" cy="502920"/>
          </a:xfrm>
          <a:prstGeom prst="rect">
            <a:avLst/>
          </a:prstGeom>
          <a:noFill/>
        </p:spPr>
        <p:txBody>
          <a:bodyPr wrap="square">
            <a:spAutoFit/>
          </a:bodyPr>
          <a:lstStyle/>
          <a:p>
            <a:pPr algn="ctr"/>
            <a:r>
              <a:rPr sz="1000" b="1" i="0">
                <a:solidFill>
                  <a:srgbClr val="FFFFFF"/>
                </a:solidFill>
              </a:rPr>
              <a:t>Environment
Setup</a:t>
            </a:r>
          </a:p>
        </p:txBody>
      </p:sp>
      <p:sp>
        <p:nvSpPr>
          <p:cNvPr id="32" name="TextBox 31"/>
          <p:cNvSpPr txBox="1"/>
          <p:nvPr/>
        </p:nvSpPr>
        <p:spPr>
          <a:xfrm>
            <a:off x="6172200" y="2578608"/>
            <a:ext cx="1554480" cy="3493008"/>
          </a:xfrm>
          <a:prstGeom prst="rect">
            <a:avLst/>
          </a:prstGeom>
          <a:noFill/>
        </p:spPr>
        <p:txBody>
          <a:bodyPr wrap="square">
            <a:spAutoFit/>
          </a:bodyPr>
          <a:lstStyle/>
          <a:p>
            <a:pPr algn="l"/>
            <a:r>
              <a:rPr sz="800" b="0" i="0">
                <a:solidFill>
                  <a:srgbClr val="94A3B8"/>
                </a:solidFill>
              </a:rPr>
              <a:t>Configured local Python 3.14 environment · Installed pytest, httpx, FastAPI TestClient · Created in-memory SQLite for tests · Set up mock SMTP for mailer tests</a:t>
            </a:r>
          </a:p>
        </p:txBody>
      </p:sp>
      <p:sp>
        <p:nvSpPr>
          <p:cNvPr id="33" name="Rounded Rectangle 32"/>
          <p:cNvSpPr/>
          <p:nvPr/>
        </p:nvSpPr>
        <p:spPr>
          <a:xfrm>
            <a:off x="8001000" y="1078992"/>
            <a:ext cx="1737360" cy="5074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001000" y="1078992"/>
            <a:ext cx="1737360"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522208" y="1170432"/>
            <a:ext cx="694944" cy="69494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22208" y="1207008"/>
            <a:ext cx="694944" cy="566928"/>
          </a:xfrm>
          <a:prstGeom prst="rect">
            <a:avLst/>
          </a:prstGeom>
          <a:noFill/>
        </p:spPr>
        <p:txBody>
          <a:bodyPr wrap="square">
            <a:spAutoFit/>
          </a:bodyPr>
          <a:lstStyle/>
          <a:p>
            <a:pPr algn="ctr"/>
            <a:r>
              <a:rPr sz="1500" b="1" i="0">
                <a:solidFill>
                  <a:srgbClr val="FFFFFF"/>
                </a:solidFill>
              </a:rPr>
              <a:t>05</a:t>
            </a:r>
          </a:p>
        </p:txBody>
      </p:sp>
      <p:sp>
        <p:nvSpPr>
          <p:cNvPr id="37" name="TextBox 36"/>
          <p:cNvSpPr txBox="1"/>
          <p:nvPr/>
        </p:nvSpPr>
        <p:spPr>
          <a:xfrm>
            <a:off x="8074152" y="1993392"/>
            <a:ext cx="1591056" cy="502920"/>
          </a:xfrm>
          <a:prstGeom prst="rect">
            <a:avLst/>
          </a:prstGeom>
          <a:noFill/>
        </p:spPr>
        <p:txBody>
          <a:bodyPr wrap="square">
            <a:spAutoFit/>
          </a:bodyPr>
          <a:lstStyle/>
          <a:p>
            <a:pPr algn="ctr"/>
            <a:r>
              <a:rPr sz="1000" b="1" i="0">
                <a:solidFill>
                  <a:srgbClr val="FFFFFF"/>
                </a:solidFill>
              </a:rPr>
              <a:t>Test Execution</a:t>
            </a:r>
          </a:p>
        </p:txBody>
      </p:sp>
      <p:sp>
        <p:nvSpPr>
          <p:cNvPr id="38" name="TextBox 37"/>
          <p:cNvSpPr txBox="1"/>
          <p:nvPr/>
        </p:nvSpPr>
        <p:spPr>
          <a:xfrm>
            <a:off x="8092440" y="2578608"/>
            <a:ext cx="1554480" cy="3493008"/>
          </a:xfrm>
          <a:prstGeom prst="rect">
            <a:avLst/>
          </a:prstGeom>
          <a:noFill/>
        </p:spPr>
        <p:txBody>
          <a:bodyPr wrap="square">
            <a:spAutoFit/>
          </a:bodyPr>
          <a:lstStyle/>
          <a:p>
            <a:pPr algn="l"/>
            <a:r>
              <a:rPr sz="800" b="0" i="0">
                <a:solidFill>
                  <a:srgbClr val="94A3B8"/>
                </a:solidFill>
              </a:rPr>
              <a:t>Ran pytest across all 4 test modules · Logged results in .md test reports · Captured pass/fail status per test case · Identified and reported 4 minor defects</a:t>
            </a:r>
          </a:p>
        </p:txBody>
      </p:sp>
      <p:sp>
        <p:nvSpPr>
          <p:cNvPr id="39" name="Rounded Rectangle 38"/>
          <p:cNvSpPr/>
          <p:nvPr/>
        </p:nvSpPr>
        <p:spPr>
          <a:xfrm>
            <a:off x="9921240" y="1078992"/>
            <a:ext cx="1737360" cy="5074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9921240" y="1078992"/>
            <a:ext cx="173736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10442448" y="1170432"/>
            <a:ext cx="694944" cy="694944"/>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442448" y="1207008"/>
            <a:ext cx="694944" cy="566928"/>
          </a:xfrm>
          <a:prstGeom prst="rect">
            <a:avLst/>
          </a:prstGeom>
          <a:noFill/>
        </p:spPr>
        <p:txBody>
          <a:bodyPr wrap="square">
            <a:spAutoFit/>
          </a:bodyPr>
          <a:lstStyle/>
          <a:p>
            <a:pPr algn="ctr"/>
            <a:r>
              <a:rPr sz="1500" b="1" i="0">
                <a:solidFill>
                  <a:srgbClr val="FFFFFF"/>
                </a:solidFill>
              </a:rPr>
              <a:t>06</a:t>
            </a:r>
          </a:p>
        </p:txBody>
      </p:sp>
      <p:sp>
        <p:nvSpPr>
          <p:cNvPr id="43" name="TextBox 42"/>
          <p:cNvSpPr txBox="1"/>
          <p:nvPr/>
        </p:nvSpPr>
        <p:spPr>
          <a:xfrm>
            <a:off x="9994392" y="1993392"/>
            <a:ext cx="1591056" cy="502920"/>
          </a:xfrm>
          <a:prstGeom prst="rect">
            <a:avLst/>
          </a:prstGeom>
          <a:noFill/>
        </p:spPr>
        <p:txBody>
          <a:bodyPr wrap="square">
            <a:spAutoFit/>
          </a:bodyPr>
          <a:lstStyle/>
          <a:p>
            <a:pPr algn="ctr"/>
            <a:r>
              <a:rPr sz="1000" b="1" i="0">
                <a:solidFill>
                  <a:srgbClr val="FFFFFF"/>
                </a:solidFill>
              </a:rPr>
              <a:t>Test Closure</a:t>
            </a:r>
          </a:p>
        </p:txBody>
      </p:sp>
      <p:sp>
        <p:nvSpPr>
          <p:cNvPr id="44" name="TextBox 43"/>
          <p:cNvSpPr txBox="1"/>
          <p:nvPr/>
        </p:nvSpPr>
        <p:spPr>
          <a:xfrm>
            <a:off x="10012680" y="2578608"/>
            <a:ext cx="1554480" cy="3493008"/>
          </a:xfrm>
          <a:prstGeom prst="rect">
            <a:avLst/>
          </a:prstGeom>
          <a:noFill/>
        </p:spPr>
        <p:txBody>
          <a:bodyPr wrap="square">
            <a:spAutoFit/>
          </a:bodyPr>
          <a:lstStyle/>
          <a:p>
            <a:pPr algn="l"/>
            <a:r>
              <a:rPr sz="800" b="0" i="0">
                <a:solidFill>
                  <a:srgbClr val="94A3B8"/>
                </a:solidFill>
              </a:rPr>
              <a:t>All 4 defects triaged and resolved · Regression baseline established · Sign-off on UAT · Test summary dashboard compiled · Testing artifacts archived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Functional Testing</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24 test cases · All passed</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12</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320040" y="1078992"/>
            <a:ext cx="2743200" cy="14173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 y="1078992"/>
            <a:ext cx="274320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1216152"/>
            <a:ext cx="2468880" cy="548640"/>
          </a:xfrm>
          <a:prstGeom prst="rect">
            <a:avLst/>
          </a:prstGeom>
          <a:noFill/>
        </p:spPr>
        <p:txBody>
          <a:bodyPr wrap="square">
            <a:spAutoFit/>
          </a:bodyPr>
          <a:lstStyle/>
          <a:p>
            <a:pPr algn="ctr"/>
            <a:r>
              <a:rPr sz="2800" b="1" i="0">
                <a:solidFill>
                  <a:srgbClr val="2563EB"/>
                </a:solidFill>
              </a:rPr>
              <a:t>24</a:t>
            </a:r>
          </a:p>
        </p:txBody>
      </p:sp>
      <p:sp>
        <p:nvSpPr>
          <p:cNvPr id="12" name="TextBox 11"/>
          <p:cNvSpPr txBox="1"/>
          <p:nvPr/>
        </p:nvSpPr>
        <p:spPr>
          <a:xfrm>
            <a:off x="411480" y="1737360"/>
            <a:ext cx="2560320" cy="274320"/>
          </a:xfrm>
          <a:prstGeom prst="rect">
            <a:avLst/>
          </a:prstGeom>
          <a:noFill/>
        </p:spPr>
        <p:txBody>
          <a:bodyPr wrap="square">
            <a:spAutoFit/>
          </a:bodyPr>
          <a:lstStyle/>
          <a:p>
            <a:pPr algn="ctr"/>
            <a:r>
              <a:rPr sz="1000" b="1" i="0">
                <a:solidFill>
                  <a:srgbClr val="FFFFFF"/>
                </a:solidFill>
              </a:rPr>
              <a:t>Total Test Cases</a:t>
            </a:r>
          </a:p>
        </p:txBody>
      </p:sp>
      <p:sp>
        <p:nvSpPr>
          <p:cNvPr id="13" name="TextBox 12"/>
          <p:cNvSpPr txBox="1"/>
          <p:nvPr/>
        </p:nvSpPr>
        <p:spPr>
          <a:xfrm>
            <a:off x="411480" y="1975104"/>
            <a:ext cx="2560320" cy="320040"/>
          </a:xfrm>
          <a:prstGeom prst="rect">
            <a:avLst/>
          </a:prstGeom>
          <a:noFill/>
        </p:spPr>
        <p:txBody>
          <a:bodyPr wrap="square">
            <a:spAutoFit/>
          </a:bodyPr>
          <a:lstStyle/>
          <a:p>
            <a:pPr algn="ctr"/>
            <a:r>
              <a:rPr sz="800" b="0" i="0">
                <a:solidFill>
                  <a:srgbClr val="94A3B8"/>
                </a:solidFill>
              </a:rPr>
              <a:t>All scenarios covered</a:t>
            </a:r>
          </a:p>
        </p:txBody>
      </p:sp>
      <p:sp>
        <p:nvSpPr>
          <p:cNvPr id="14" name="Rounded Rectangle 13"/>
          <p:cNvSpPr/>
          <p:nvPr/>
        </p:nvSpPr>
        <p:spPr>
          <a:xfrm>
            <a:off x="3246120" y="1078992"/>
            <a:ext cx="2743200" cy="14173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46120" y="1078992"/>
            <a:ext cx="274320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83280" y="1216152"/>
            <a:ext cx="2468880" cy="548640"/>
          </a:xfrm>
          <a:prstGeom prst="rect">
            <a:avLst/>
          </a:prstGeom>
          <a:noFill/>
        </p:spPr>
        <p:txBody>
          <a:bodyPr wrap="square">
            <a:spAutoFit/>
          </a:bodyPr>
          <a:lstStyle/>
          <a:p>
            <a:pPr algn="ctr"/>
            <a:r>
              <a:rPr sz="2800" b="1" i="0">
                <a:solidFill>
                  <a:srgbClr val="059669"/>
                </a:solidFill>
              </a:rPr>
              <a:t>24</a:t>
            </a:r>
          </a:p>
        </p:txBody>
      </p:sp>
      <p:sp>
        <p:nvSpPr>
          <p:cNvPr id="17" name="TextBox 16"/>
          <p:cNvSpPr txBox="1"/>
          <p:nvPr/>
        </p:nvSpPr>
        <p:spPr>
          <a:xfrm>
            <a:off x="3337560" y="1737360"/>
            <a:ext cx="2560320" cy="274320"/>
          </a:xfrm>
          <a:prstGeom prst="rect">
            <a:avLst/>
          </a:prstGeom>
          <a:noFill/>
        </p:spPr>
        <p:txBody>
          <a:bodyPr wrap="square">
            <a:spAutoFit/>
          </a:bodyPr>
          <a:lstStyle/>
          <a:p>
            <a:pPr algn="ctr"/>
            <a:r>
              <a:rPr sz="1000" b="1" i="0">
                <a:solidFill>
                  <a:srgbClr val="FFFFFF"/>
                </a:solidFill>
              </a:rPr>
              <a:t>Passed</a:t>
            </a:r>
          </a:p>
        </p:txBody>
      </p:sp>
      <p:sp>
        <p:nvSpPr>
          <p:cNvPr id="18" name="TextBox 17"/>
          <p:cNvSpPr txBox="1"/>
          <p:nvPr/>
        </p:nvSpPr>
        <p:spPr>
          <a:xfrm>
            <a:off x="3337560" y="1975104"/>
            <a:ext cx="2560320" cy="320040"/>
          </a:xfrm>
          <a:prstGeom prst="rect">
            <a:avLst/>
          </a:prstGeom>
          <a:noFill/>
        </p:spPr>
        <p:txBody>
          <a:bodyPr wrap="square">
            <a:spAutoFit/>
          </a:bodyPr>
          <a:lstStyle/>
          <a:p>
            <a:pPr algn="ctr"/>
            <a:r>
              <a:rPr sz="800" b="0" i="0">
                <a:solidFill>
                  <a:srgbClr val="94A3B8"/>
                </a:solidFill>
              </a:rPr>
              <a:t>100 % pass rate</a:t>
            </a:r>
          </a:p>
        </p:txBody>
      </p:sp>
      <p:sp>
        <p:nvSpPr>
          <p:cNvPr id="19" name="Rounded Rectangle 18"/>
          <p:cNvSpPr/>
          <p:nvPr/>
        </p:nvSpPr>
        <p:spPr>
          <a:xfrm>
            <a:off x="6172200" y="1078992"/>
            <a:ext cx="2743200" cy="14173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72200" y="1078992"/>
            <a:ext cx="274320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09360" y="1216152"/>
            <a:ext cx="2468880" cy="548640"/>
          </a:xfrm>
          <a:prstGeom prst="rect">
            <a:avLst/>
          </a:prstGeom>
          <a:noFill/>
        </p:spPr>
        <p:txBody>
          <a:bodyPr wrap="square">
            <a:spAutoFit/>
          </a:bodyPr>
          <a:lstStyle/>
          <a:p>
            <a:pPr algn="ctr"/>
            <a:r>
              <a:rPr sz="2800" b="1" i="0">
                <a:solidFill>
                  <a:srgbClr val="EA580C"/>
                </a:solidFill>
              </a:rPr>
              <a:t>0</a:t>
            </a:r>
          </a:p>
        </p:txBody>
      </p:sp>
      <p:sp>
        <p:nvSpPr>
          <p:cNvPr id="22" name="TextBox 21"/>
          <p:cNvSpPr txBox="1"/>
          <p:nvPr/>
        </p:nvSpPr>
        <p:spPr>
          <a:xfrm>
            <a:off x="6263640" y="1737360"/>
            <a:ext cx="2560320" cy="274320"/>
          </a:xfrm>
          <a:prstGeom prst="rect">
            <a:avLst/>
          </a:prstGeom>
          <a:noFill/>
        </p:spPr>
        <p:txBody>
          <a:bodyPr wrap="square">
            <a:spAutoFit/>
          </a:bodyPr>
          <a:lstStyle/>
          <a:p>
            <a:pPr algn="ctr"/>
            <a:r>
              <a:rPr sz="1000" b="1" i="0">
                <a:solidFill>
                  <a:srgbClr val="FFFFFF"/>
                </a:solidFill>
              </a:rPr>
              <a:t>Failed</a:t>
            </a:r>
          </a:p>
        </p:txBody>
      </p:sp>
      <p:sp>
        <p:nvSpPr>
          <p:cNvPr id="23" name="TextBox 22"/>
          <p:cNvSpPr txBox="1"/>
          <p:nvPr/>
        </p:nvSpPr>
        <p:spPr>
          <a:xfrm>
            <a:off x="6263640" y="1975104"/>
            <a:ext cx="2560320" cy="320040"/>
          </a:xfrm>
          <a:prstGeom prst="rect">
            <a:avLst/>
          </a:prstGeom>
          <a:noFill/>
        </p:spPr>
        <p:txBody>
          <a:bodyPr wrap="square">
            <a:spAutoFit/>
          </a:bodyPr>
          <a:lstStyle/>
          <a:p>
            <a:pPr algn="ctr"/>
            <a:r>
              <a:rPr sz="800" b="0" i="0">
                <a:solidFill>
                  <a:srgbClr val="94A3B8"/>
                </a:solidFill>
              </a:rPr>
              <a:t>Zero failures</a:t>
            </a:r>
          </a:p>
        </p:txBody>
      </p:sp>
      <p:sp>
        <p:nvSpPr>
          <p:cNvPr id="24" name="Rounded Rectangle 23"/>
          <p:cNvSpPr/>
          <p:nvPr/>
        </p:nvSpPr>
        <p:spPr>
          <a:xfrm>
            <a:off x="9098280" y="1078992"/>
            <a:ext cx="2743200" cy="14173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098280" y="1078992"/>
            <a:ext cx="274320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35440" y="1216152"/>
            <a:ext cx="2468880" cy="548640"/>
          </a:xfrm>
          <a:prstGeom prst="rect">
            <a:avLst/>
          </a:prstGeom>
          <a:noFill/>
        </p:spPr>
        <p:txBody>
          <a:bodyPr wrap="square">
            <a:spAutoFit/>
          </a:bodyPr>
          <a:lstStyle/>
          <a:p>
            <a:pPr algn="ctr"/>
            <a:r>
              <a:rPr sz="2800" b="1" i="0">
                <a:solidFill>
                  <a:srgbClr val="7C3AED"/>
                </a:solidFill>
              </a:rPr>
              <a:t>7</a:t>
            </a:r>
          </a:p>
        </p:txBody>
      </p:sp>
      <p:sp>
        <p:nvSpPr>
          <p:cNvPr id="27" name="TextBox 26"/>
          <p:cNvSpPr txBox="1"/>
          <p:nvPr/>
        </p:nvSpPr>
        <p:spPr>
          <a:xfrm>
            <a:off x="9189720" y="1737360"/>
            <a:ext cx="2560320" cy="274320"/>
          </a:xfrm>
          <a:prstGeom prst="rect">
            <a:avLst/>
          </a:prstGeom>
          <a:noFill/>
        </p:spPr>
        <p:txBody>
          <a:bodyPr wrap="square">
            <a:spAutoFit/>
          </a:bodyPr>
          <a:lstStyle/>
          <a:p>
            <a:pPr algn="ctr"/>
            <a:r>
              <a:rPr sz="1000" b="1" i="0">
                <a:solidFill>
                  <a:srgbClr val="FFFFFF"/>
                </a:solidFill>
              </a:rPr>
              <a:t>Modules Covered</a:t>
            </a:r>
          </a:p>
        </p:txBody>
      </p:sp>
      <p:sp>
        <p:nvSpPr>
          <p:cNvPr id="28" name="TextBox 27"/>
          <p:cNvSpPr txBox="1"/>
          <p:nvPr/>
        </p:nvSpPr>
        <p:spPr>
          <a:xfrm>
            <a:off x="9189720" y="1975104"/>
            <a:ext cx="2560320" cy="320040"/>
          </a:xfrm>
          <a:prstGeom prst="rect">
            <a:avLst/>
          </a:prstGeom>
          <a:noFill/>
        </p:spPr>
        <p:txBody>
          <a:bodyPr wrap="square">
            <a:spAutoFit/>
          </a:bodyPr>
          <a:lstStyle/>
          <a:p>
            <a:pPr algn="ctr"/>
            <a:r>
              <a:rPr sz="800" b="0" i="0">
                <a:solidFill>
                  <a:srgbClr val="94A3B8"/>
                </a:solidFill>
              </a:rPr>
              <a:t>Validator · Scorer · API · Storage · UI</a:t>
            </a:r>
          </a:p>
        </p:txBody>
      </p:sp>
      <p:sp>
        <p:nvSpPr>
          <p:cNvPr id="29" name="Rectangle 28"/>
          <p:cNvSpPr/>
          <p:nvPr/>
        </p:nvSpPr>
        <p:spPr>
          <a:xfrm>
            <a:off x="228600" y="2606040"/>
            <a:ext cx="10058400" cy="3474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01752" y="2660904"/>
            <a:ext cx="594360" cy="274320"/>
          </a:xfrm>
          <a:prstGeom prst="rect">
            <a:avLst/>
          </a:prstGeom>
          <a:noFill/>
        </p:spPr>
        <p:txBody>
          <a:bodyPr wrap="square">
            <a:spAutoFit/>
          </a:bodyPr>
          <a:lstStyle/>
          <a:p>
            <a:pPr algn="l"/>
            <a:r>
              <a:rPr sz="1000" b="1" i="0">
                <a:solidFill>
                  <a:srgbClr val="FFFFFF"/>
                </a:solidFill>
              </a:rPr>
              <a:t>TC-ID</a:t>
            </a:r>
          </a:p>
        </p:txBody>
      </p:sp>
      <p:sp>
        <p:nvSpPr>
          <p:cNvPr id="31" name="TextBox 30"/>
          <p:cNvSpPr txBox="1"/>
          <p:nvPr/>
        </p:nvSpPr>
        <p:spPr>
          <a:xfrm>
            <a:off x="987552" y="2660904"/>
            <a:ext cx="914400" cy="274320"/>
          </a:xfrm>
          <a:prstGeom prst="rect">
            <a:avLst/>
          </a:prstGeom>
          <a:noFill/>
        </p:spPr>
        <p:txBody>
          <a:bodyPr wrap="square">
            <a:spAutoFit/>
          </a:bodyPr>
          <a:lstStyle/>
          <a:p>
            <a:pPr algn="l"/>
            <a:r>
              <a:rPr sz="1000" b="1" i="0">
                <a:solidFill>
                  <a:srgbClr val="FFFFFF"/>
                </a:solidFill>
              </a:rPr>
              <a:t>Module</a:t>
            </a:r>
          </a:p>
        </p:txBody>
      </p:sp>
      <p:sp>
        <p:nvSpPr>
          <p:cNvPr id="32" name="TextBox 31"/>
          <p:cNvSpPr txBox="1"/>
          <p:nvPr/>
        </p:nvSpPr>
        <p:spPr>
          <a:xfrm>
            <a:off x="1993392" y="2660904"/>
            <a:ext cx="4023360" cy="274320"/>
          </a:xfrm>
          <a:prstGeom prst="rect">
            <a:avLst/>
          </a:prstGeom>
          <a:noFill/>
        </p:spPr>
        <p:txBody>
          <a:bodyPr wrap="square">
            <a:spAutoFit/>
          </a:bodyPr>
          <a:lstStyle/>
          <a:p>
            <a:pPr algn="l"/>
            <a:r>
              <a:rPr sz="1000" b="1" i="0">
                <a:solidFill>
                  <a:srgbClr val="FFFFFF"/>
                </a:solidFill>
              </a:rPr>
              <a:t>Test Case Description</a:t>
            </a:r>
          </a:p>
        </p:txBody>
      </p:sp>
      <p:sp>
        <p:nvSpPr>
          <p:cNvPr id="33" name="TextBox 32"/>
          <p:cNvSpPr txBox="1"/>
          <p:nvPr/>
        </p:nvSpPr>
        <p:spPr>
          <a:xfrm>
            <a:off x="6108192" y="2660904"/>
            <a:ext cx="3108960" cy="274320"/>
          </a:xfrm>
          <a:prstGeom prst="rect">
            <a:avLst/>
          </a:prstGeom>
          <a:noFill/>
        </p:spPr>
        <p:txBody>
          <a:bodyPr wrap="square">
            <a:spAutoFit/>
          </a:bodyPr>
          <a:lstStyle/>
          <a:p>
            <a:pPr algn="l"/>
            <a:r>
              <a:rPr sz="1000" b="1" i="0">
                <a:solidFill>
                  <a:srgbClr val="FFFFFF"/>
                </a:solidFill>
              </a:rPr>
              <a:t>Expected</a:t>
            </a:r>
          </a:p>
        </p:txBody>
      </p:sp>
      <p:sp>
        <p:nvSpPr>
          <p:cNvPr id="34" name="TextBox 33"/>
          <p:cNvSpPr txBox="1"/>
          <p:nvPr/>
        </p:nvSpPr>
        <p:spPr>
          <a:xfrm>
            <a:off x="9308592" y="2660904"/>
            <a:ext cx="960120" cy="274320"/>
          </a:xfrm>
          <a:prstGeom prst="rect">
            <a:avLst/>
          </a:prstGeom>
          <a:noFill/>
        </p:spPr>
        <p:txBody>
          <a:bodyPr wrap="square">
            <a:spAutoFit/>
          </a:bodyPr>
          <a:lstStyle/>
          <a:p>
            <a:pPr algn="l"/>
            <a:r>
              <a:rPr sz="1000" b="1" i="0">
                <a:solidFill>
                  <a:srgbClr val="FFFFFF"/>
                </a:solidFill>
              </a:rPr>
              <a:t>Result</a:t>
            </a:r>
          </a:p>
        </p:txBody>
      </p:sp>
      <p:sp>
        <p:nvSpPr>
          <p:cNvPr id="35" name="Rectangle 34"/>
          <p:cNvSpPr/>
          <p:nvPr/>
        </p:nvSpPr>
        <p:spPr>
          <a:xfrm>
            <a:off x="228600" y="2953512"/>
            <a:ext cx="1005840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01752" y="3008376"/>
            <a:ext cx="594360" cy="274320"/>
          </a:xfrm>
          <a:prstGeom prst="rect">
            <a:avLst/>
          </a:prstGeom>
          <a:noFill/>
        </p:spPr>
        <p:txBody>
          <a:bodyPr wrap="square">
            <a:spAutoFit/>
          </a:bodyPr>
          <a:lstStyle/>
          <a:p>
            <a:pPr algn="l"/>
            <a:r>
              <a:rPr sz="900" b="0" i="0">
                <a:solidFill>
                  <a:srgbClr val="94A3B8"/>
                </a:solidFill>
              </a:rPr>
              <a:t>TC-001</a:t>
            </a:r>
          </a:p>
        </p:txBody>
      </p:sp>
      <p:sp>
        <p:nvSpPr>
          <p:cNvPr id="37" name="TextBox 36"/>
          <p:cNvSpPr txBox="1"/>
          <p:nvPr/>
        </p:nvSpPr>
        <p:spPr>
          <a:xfrm>
            <a:off x="987552" y="3008376"/>
            <a:ext cx="914400" cy="274320"/>
          </a:xfrm>
          <a:prstGeom prst="rect">
            <a:avLst/>
          </a:prstGeom>
          <a:noFill/>
        </p:spPr>
        <p:txBody>
          <a:bodyPr wrap="square">
            <a:spAutoFit/>
          </a:bodyPr>
          <a:lstStyle/>
          <a:p>
            <a:pPr algn="l"/>
            <a:r>
              <a:rPr sz="900" b="0" i="0">
                <a:solidFill>
                  <a:srgbClr val="94A3B8"/>
                </a:solidFill>
              </a:rPr>
              <a:t>Validator</a:t>
            </a:r>
          </a:p>
        </p:txBody>
      </p:sp>
      <p:sp>
        <p:nvSpPr>
          <p:cNvPr id="38" name="TextBox 37"/>
          <p:cNvSpPr txBox="1"/>
          <p:nvPr/>
        </p:nvSpPr>
        <p:spPr>
          <a:xfrm>
            <a:off x="1993392" y="3008376"/>
            <a:ext cx="4023360" cy="274320"/>
          </a:xfrm>
          <a:prstGeom prst="rect">
            <a:avLst/>
          </a:prstGeom>
          <a:noFill/>
        </p:spPr>
        <p:txBody>
          <a:bodyPr wrap="square">
            <a:spAutoFit/>
          </a:bodyPr>
          <a:lstStyle/>
          <a:p>
            <a:pPr algn="l"/>
            <a:r>
              <a:rPr sz="900" b="0" i="0">
                <a:solidFill>
                  <a:srgbClr val="94A3B8"/>
                </a:solidFill>
              </a:rPr>
              <a:t>All 7 mandatory fields validated</a:t>
            </a:r>
          </a:p>
        </p:txBody>
      </p:sp>
      <p:sp>
        <p:nvSpPr>
          <p:cNvPr id="39" name="TextBox 38"/>
          <p:cNvSpPr txBox="1"/>
          <p:nvPr/>
        </p:nvSpPr>
        <p:spPr>
          <a:xfrm>
            <a:off x="6108192" y="3008376"/>
            <a:ext cx="3108960" cy="274320"/>
          </a:xfrm>
          <a:prstGeom prst="rect">
            <a:avLst/>
          </a:prstGeom>
          <a:noFill/>
        </p:spPr>
        <p:txBody>
          <a:bodyPr wrap="square">
            <a:spAutoFit/>
          </a:bodyPr>
          <a:lstStyle/>
          <a:p>
            <a:pPr algn="l"/>
            <a:r>
              <a:rPr sz="900" b="0" i="0">
                <a:solidFill>
                  <a:srgbClr val="94A3B8"/>
                </a:solidFill>
              </a:rPr>
              <a:t>7 ERROR issues</a:t>
            </a:r>
          </a:p>
        </p:txBody>
      </p:sp>
      <p:sp>
        <p:nvSpPr>
          <p:cNvPr id="40" name="TextBox 39"/>
          <p:cNvSpPr txBox="1"/>
          <p:nvPr/>
        </p:nvSpPr>
        <p:spPr>
          <a:xfrm>
            <a:off x="9308592" y="3008376"/>
            <a:ext cx="960120" cy="274320"/>
          </a:xfrm>
          <a:prstGeom prst="rect">
            <a:avLst/>
          </a:prstGeom>
          <a:noFill/>
        </p:spPr>
        <p:txBody>
          <a:bodyPr wrap="square">
            <a:spAutoFit/>
          </a:bodyPr>
          <a:lstStyle/>
          <a:p>
            <a:pPr algn="l"/>
            <a:r>
              <a:rPr sz="900" b="0" i="0">
                <a:solidFill>
                  <a:srgbClr val="94A3B8"/>
                </a:solidFill>
              </a:rPr>
              <a:t>PASS</a:t>
            </a:r>
          </a:p>
        </p:txBody>
      </p:sp>
      <p:sp>
        <p:nvSpPr>
          <p:cNvPr id="41" name="Rectangle 40"/>
          <p:cNvSpPr/>
          <p:nvPr/>
        </p:nvSpPr>
        <p:spPr>
          <a:xfrm>
            <a:off x="228600" y="3300984"/>
            <a:ext cx="10058400" cy="347472"/>
          </a:xfrm>
          <a:prstGeom prst="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01752" y="3355848"/>
            <a:ext cx="594360" cy="274320"/>
          </a:xfrm>
          <a:prstGeom prst="rect">
            <a:avLst/>
          </a:prstGeom>
          <a:noFill/>
        </p:spPr>
        <p:txBody>
          <a:bodyPr wrap="square">
            <a:spAutoFit/>
          </a:bodyPr>
          <a:lstStyle/>
          <a:p>
            <a:pPr algn="l"/>
            <a:r>
              <a:rPr sz="900" b="0" i="0">
                <a:solidFill>
                  <a:srgbClr val="F1F5F9"/>
                </a:solidFill>
              </a:rPr>
              <a:t>TC-002</a:t>
            </a:r>
          </a:p>
        </p:txBody>
      </p:sp>
      <p:sp>
        <p:nvSpPr>
          <p:cNvPr id="43" name="TextBox 42"/>
          <p:cNvSpPr txBox="1"/>
          <p:nvPr/>
        </p:nvSpPr>
        <p:spPr>
          <a:xfrm>
            <a:off x="987552" y="3355848"/>
            <a:ext cx="914400" cy="274320"/>
          </a:xfrm>
          <a:prstGeom prst="rect">
            <a:avLst/>
          </a:prstGeom>
          <a:noFill/>
        </p:spPr>
        <p:txBody>
          <a:bodyPr wrap="square">
            <a:spAutoFit/>
          </a:bodyPr>
          <a:lstStyle/>
          <a:p>
            <a:pPr algn="l"/>
            <a:r>
              <a:rPr sz="900" b="0" i="0">
                <a:solidFill>
                  <a:srgbClr val="F1F5F9"/>
                </a:solidFill>
              </a:rPr>
              <a:t>Validator</a:t>
            </a:r>
          </a:p>
        </p:txBody>
      </p:sp>
      <p:sp>
        <p:nvSpPr>
          <p:cNvPr id="44" name="TextBox 43"/>
          <p:cNvSpPr txBox="1"/>
          <p:nvPr/>
        </p:nvSpPr>
        <p:spPr>
          <a:xfrm>
            <a:off x="1993392" y="3355848"/>
            <a:ext cx="4023360" cy="274320"/>
          </a:xfrm>
          <a:prstGeom prst="rect">
            <a:avLst/>
          </a:prstGeom>
          <a:noFill/>
        </p:spPr>
        <p:txBody>
          <a:bodyPr wrap="square">
            <a:spAutoFit/>
          </a:bodyPr>
          <a:lstStyle/>
          <a:p>
            <a:pPr algn="l"/>
            <a:r>
              <a:rPr sz="900" b="0" i="0">
                <a:solidFill>
                  <a:srgbClr val="F1F5F9"/>
                </a:solidFill>
              </a:rPr>
              <a:t>Vague language detection (thing/broken/maybe)</a:t>
            </a:r>
          </a:p>
        </p:txBody>
      </p:sp>
      <p:sp>
        <p:nvSpPr>
          <p:cNvPr id="45" name="TextBox 44"/>
          <p:cNvSpPr txBox="1"/>
          <p:nvPr/>
        </p:nvSpPr>
        <p:spPr>
          <a:xfrm>
            <a:off x="6108192" y="3355848"/>
            <a:ext cx="3108960" cy="274320"/>
          </a:xfrm>
          <a:prstGeom prst="rect">
            <a:avLst/>
          </a:prstGeom>
          <a:noFill/>
        </p:spPr>
        <p:txBody>
          <a:bodyPr wrap="square">
            <a:spAutoFit/>
          </a:bodyPr>
          <a:lstStyle/>
          <a:p>
            <a:pPr algn="l"/>
            <a:r>
              <a:rPr sz="900" b="0" i="0">
                <a:solidFill>
                  <a:srgbClr val="F1F5F9"/>
                </a:solidFill>
              </a:rPr>
              <a:t>WARNING raised</a:t>
            </a:r>
          </a:p>
        </p:txBody>
      </p:sp>
      <p:sp>
        <p:nvSpPr>
          <p:cNvPr id="46" name="TextBox 45"/>
          <p:cNvSpPr txBox="1"/>
          <p:nvPr/>
        </p:nvSpPr>
        <p:spPr>
          <a:xfrm>
            <a:off x="9308592" y="3355848"/>
            <a:ext cx="960120" cy="274320"/>
          </a:xfrm>
          <a:prstGeom prst="rect">
            <a:avLst/>
          </a:prstGeom>
          <a:noFill/>
        </p:spPr>
        <p:txBody>
          <a:bodyPr wrap="square">
            <a:spAutoFit/>
          </a:bodyPr>
          <a:lstStyle/>
          <a:p>
            <a:pPr algn="l"/>
            <a:r>
              <a:rPr sz="900" b="0" i="0">
                <a:solidFill>
                  <a:srgbClr val="F1F5F9"/>
                </a:solidFill>
              </a:rPr>
              <a:t>PASS</a:t>
            </a:r>
          </a:p>
        </p:txBody>
      </p:sp>
      <p:sp>
        <p:nvSpPr>
          <p:cNvPr id="47" name="Rectangle 46"/>
          <p:cNvSpPr/>
          <p:nvPr/>
        </p:nvSpPr>
        <p:spPr>
          <a:xfrm>
            <a:off x="228600" y="3648456"/>
            <a:ext cx="1005840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01752" y="3703320"/>
            <a:ext cx="594360" cy="274320"/>
          </a:xfrm>
          <a:prstGeom prst="rect">
            <a:avLst/>
          </a:prstGeom>
          <a:noFill/>
        </p:spPr>
        <p:txBody>
          <a:bodyPr wrap="square">
            <a:spAutoFit/>
          </a:bodyPr>
          <a:lstStyle/>
          <a:p>
            <a:pPr algn="l"/>
            <a:r>
              <a:rPr sz="900" b="0" i="0">
                <a:solidFill>
                  <a:srgbClr val="94A3B8"/>
                </a:solidFill>
              </a:rPr>
              <a:t>TC-003</a:t>
            </a:r>
          </a:p>
        </p:txBody>
      </p:sp>
      <p:sp>
        <p:nvSpPr>
          <p:cNvPr id="49" name="TextBox 48"/>
          <p:cNvSpPr txBox="1"/>
          <p:nvPr/>
        </p:nvSpPr>
        <p:spPr>
          <a:xfrm>
            <a:off x="987552" y="3703320"/>
            <a:ext cx="914400" cy="274320"/>
          </a:xfrm>
          <a:prstGeom prst="rect">
            <a:avLst/>
          </a:prstGeom>
          <a:noFill/>
        </p:spPr>
        <p:txBody>
          <a:bodyPr wrap="square">
            <a:spAutoFit/>
          </a:bodyPr>
          <a:lstStyle/>
          <a:p>
            <a:pPr algn="l"/>
            <a:r>
              <a:rPr sz="900" b="0" i="0">
                <a:solidFill>
                  <a:srgbClr val="94A3B8"/>
                </a:solidFill>
              </a:rPr>
              <a:t>Validator</a:t>
            </a:r>
          </a:p>
        </p:txBody>
      </p:sp>
      <p:sp>
        <p:nvSpPr>
          <p:cNvPr id="50" name="TextBox 49"/>
          <p:cNvSpPr txBox="1"/>
          <p:nvPr/>
        </p:nvSpPr>
        <p:spPr>
          <a:xfrm>
            <a:off x="1993392" y="3703320"/>
            <a:ext cx="4023360" cy="274320"/>
          </a:xfrm>
          <a:prstGeom prst="rect">
            <a:avLst/>
          </a:prstGeom>
          <a:noFill/>
        </p:spPr>
        <p:txBody>
          <a:bodyPr wrap="square">
            <a:spAutoFit/>
          </a:bodyPr>
          <a:lstStyle/>
          <a:p>
            <a:pPr algn="l"/>
            <a:r>
              <a:rPr sz="900" b="0" i="0">
                <a:solidFill>
                  <a:srgbClr val="94A3B8"/>
                </a:solidFill>
              </a:rPr>
              <a:t>Unnumbered steps detection</a:t>
            </a:r>
          </a:p>
        </p:txBody>
      </p:sp>
      <p:sp>
        <p:nvSpPr>
          <p:cNvPr id="51" name="TextBox 50"/>
          <p:cNvSpPr txBox="1"/>
          <p:nvPr/>
        </p:nvSpPr>
        <p:spPr>
          <a:xfrm>
            <a:off x="6108192" y="3703320"/>
            <a:ext cx="3108960" cy="274320"/>
          </a:xfrm>
          <a:prstGeom prst="rect">
            <a:avLst/>
          </a:prstGeom>
          <a:noFill/>
        </p:spPr>
        <p:txBody>
          <a:bodyPr wrap="square">
            <a:spAutoFit/>
          </a:bodyPr>
          <a:lstStyle/>
          <a:p>
            <a:pPr algn="l"/>
            <a:r>
              <a:rPr sz="900" b="0" i="0">
                <a:solidFill>
                  <a:srgbClr val="94A3B8"/>
                </a:solidFill>
              </a:rPr>
              <a:t>WARNING raised</a:t>
            </a:r>
          </a:p>
        </p:txBody>
      </p:sp>
      <p:sp>
        <p:nvSpPr>
          <p:cNvPr id="52" name="TextBox 51"/>
          <p:cNvSpPr txBox="1"/>
          <p:nvPr/>
        </p:nvSpPr>
        <p:spPr>
          <a:xfrm>
            <a:off x="9308592" y="3703320"/>
            <a:ext cx="960120" cy="274320"/>
          </a:xfrm>
          <a:prstGeom prst="rect">
            <a:avLst/>
          </a:prstGeom>
          <a:noFill/>
        </p:spPr>
        <p:txBody>
          <a:bodyPr wrap="square">
            <a:spAutoFit/>
          </a:bodyPr>
          <a:lstStyle/>
          <a:p>
            <a:pPr algn="l"/>
            <a:r>
              <a:rPr sz="900" b="0" i="0">
                <a:solidFill>
                  <a:srgbClr val="94A3B8"/>
                </a:solidFill>
              </a:rPr>
              <a:t>PASS</a:t>
            </a:r>
          </a:p>
        </p:txBody>
      </p:sp>
      <p:sp>
        <p:nvSpPr>
          <p:cNvPr id="53" name="Rectangle 52"/>
          <p:cNvSpPr/>
          <p:nvPr/>
        </p:nvSpPr>
        <p:spPr>
          <a:xfrm>
            <a:off x="228600" y="3995928"/>
            <a:ext cx="10058400" cy="347472"/>
          </a:xfrm>
          <a:prstGeom prst="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01752" y="4050792"/>
            <a:ext cx="594360" cy="274320"/>
          </a:xfrm>
          <a:prstGeom prst="rect">
            <a:avLst/>
          </a:prstGeom>
          <a:noFill/>
        </p:spPr>
        <p:txBody>
          <a:bodyPr wrap="square">
            <a:spAutoFit/>
          </a:bodyPr>
          <a:lstStyle/>
          <a:p>
            <a:pPr algn="l"/>
            <a:r>
              <a:rPr sz="900" b="0" i="0">
                <a:solidFill>
                  <a:srgbClr val="F1F5F9"/>
                </a:solidFill>
              </a:rPr>
              <a:t>TC-004</a:t>
            </a:r>
          </a:p>
        </p:txBody>
      </p:sp>
      <p:sp>
        <p:nvSpPr>
          <p:cNvPr id="55" name="TextBox 54"/>
          <p:cNvSpPr txBox="1"/>
          <p:nvPr/>
        </p:nvSpPr>
        <p:spPr>
          <a:xfrm>
            <a:off x="987552" y="4050792"/>
            <a:ext cx="914400" cy="274320"/>
          </a:xfrm>
          <a:prstGeom prst="rect">
            <a:avLst/>
          </a:prstGeom>
          <a:noFill/>
        </p:spPr>
        <p:txBody>
          <a:bodyPr wrap="square">
            <a:spAutoFit/>
          </a:bodyPr>
          <a:lstStyle/>
          <a:p>
            <a:pPr algn="l"/>
            <a:r>
              <a:rPr sz="900" b="0" i="0">
                <a:solidFill>
                  <a:srgbClr val="F1F5F9"/>
                </a:solidFill>
              </a:rPr>
              <a:t>Validator</a:t>
            </a:r>
          </a:p>
        </p:txBody>
      </p:sp>
      <p:sp>
        <p:nvSpPr>
          <p:cNvPr id="56" name="TextBox 55"/>
          <p:cNvSpPr txBox="1"/>
          <p:nvPr/>
        </p:nvSpPr>
        <p:spPr>
          <a:xfrm>
            <a:off x="1993392" y="4050792"/>
            <a:ext cx="4023360" cy="274320"/>
          </a:xfrm>
          <a:prstGeom prst="rect">
            <a:avLst/>
          </a:prstGeom>
          <a:noFill/>
        </p:spPr>
        <p:txBody>
          <a:bodyPr wrap="square">
            <a:spAutoFit/>
          </a:bodyPr>
          <a:lstStyle/>
          <a:p>
            <a:pPr algn="l"/>
            <a:r>
              <a:rPr sz="900" b="0" i="0">
                <a:solidFill>
                  <a:srgbClr val="F1F5F9"/>
                </a:solidFill>
              </a:rPr>
              <a:t>Strong report — no errors</a:t>
            </a:r>
          </a:p>
        </p:txBody>
      </p:sp>
      <p:sp>
        <p:nvSpPr>
          <p:cNvPr id="57" name="TextBox 56"/>
          <p:cNvSpPr txBox="1"/>
          <p:nvPr/>
        </p:nvSpPr>
        <p:spPr>
          <a:xfrm>
            <a:off x="6108192" y="4050792"/>
            <a:ext cx="3108960" cy="274320"/>
          </a:xfrm>
          <a:prstGeom prst="rect">
            <a:avLst/>
          </a:prstGeom>
          <a:noFill/>
        </p:spPr>
        <p:txBody>
          <a:bodyPr wrap="square">
            <a:spAutoFit/>
          </a:bodyPr>
          <a:lstStyle/>
          <a:p>
            <a:pPr algn="l"/>
            <a:r>
              <a:rPr sz="900" b="0" i="0">
                <a:solidFill>
                  <a:srgbClr val="F1F5F9"/>
                </a:solidFill>
              </a:rPr>
              <a:t>0 ERROR issues</a:t>
            </a:r>
          </a:p>
        </p:txBody>
      </p:sp>
      <p:sp>
        <p:nvSpPr>
          <p:cNvPr id="58" name="TextBox 57"/>
          <p:cNvSpPr txBox="1"/>
          <p:nvPr/>
        </p:nvSpPr>
        <p:spPr>
          <a:xfrm>
            <a:off x="9308592" y="4050792"/>
            <a:ext cx="960120" cy="274320"/>
          </a:xfrm>
          <a:prstGeom prst="rect">
            <a:avLst/>
          </a:prstGeom>
          <a:noFill/>
        </p:spPr>
        <p:txBody>
          <a:bodyPr wrap="square">
            <a:spAutoFit/>
          </a:bodyPr>
          <a:lstStyle/>
          <a:p>
            <a:pPr algn="l"/>
            <a:r>
              <a:rPr sz="900" b="0" i="0">
                <a:solidFill>
                  <a:srgbClr val="F1F5F9"/>
                </a:solidFill>
              </a:rPr>
              <a:t>PASS</a:t>
            </a:r>
          </a:p>
        </p:txBody>
      </p:sp>
      <p:sp>
        <p:nvSpPr>
          <p:cNvPr id="59" name="Rectangle 58"/>
          <p:cNvSpPr/>
          <p:nvPr/>
        </p:nvSpPr>
        <p:spPr>
          <a:xfrm>
            <a:off x="228600" y="4343400"/>
            <a:ext cx="1005840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01752" y="4398264"/>
            <a:ext cx="594360" cy="274320"/>
          </a:xfrm>
          <a:prstGeom prst="rect">
            <a:avLst/>
          </a:prstGeom>
          <a:noFill/>
        </p:spPr>
        <p:txBody>
          <a:bodyPr wrap="square">
            <a:spAutoFit/>
          </a:bodyPr>
          <a:lstStyle/>
          <a:p>
            <a:pPr algn="l"/>
            <a:r>
              <a:rPr sz="900" b="0" i="0">
                <a:solidFill>
                  <a:srgbClr val="94A3B8"/>
                </a:solidFill>
              </a:rPr>
              <a:t>TC-005</a:t>
            </a:r>
          </a:p>
        </p:txBody>
      </p:sp>
      <p:sp>
        <p:nvSpPr>
          <p:cNvPr id="61" name="TextBox 60"/>
          <p:cNvSpPr txBox="1"/>
          <p:nvPr/>
        </p:nvSpPr>
        <p:spPr>
          <a:xfrm>
            <a:off x="987552" y="4398264"/>
            <a:ext cx="914400" cy="274320"/>
          </a:xfrm>
          <a:prstGeom prst="rect">
            <a:avLst/>
          </a:prstGeom>
          <a:noFill/>
        </p:spPr>
        <p:txBody>
          <a:bodyPr wrap="square">
            <a:spAutoFit/>
          </a:bodyPr>
          <a:lstStyle/>
          <a:p>
            <a:pPr algn="l"/>
            <a:r>
              <a:rPr sz="900" b="0" i="0">
                <a:solidFill>
                  <a:srgbClr val="94A3B8"/>
                </a:solidFill>
              </a:rPr>
              <a:t>Scorer</a:t>
            </a:r>
          </a:p>
        </p:txBody>
      </p:sp>
      <p:sp>
        <p:nvSpPr>
          <p:cNvPr id="62" name="TextBox 61"/>
          <p:cNvSpPr txBox="1"/>
          <p:nvPr/>
        </p:nvSpPr>
        <p:spPr>
          <a:xfrm>
            <a:off x="1993392" y="4398264"/>
            <a:ext cx="4023360" cy="274320"/>
          </a:xfrm>
          <a:prstGeom prst="rect">
            <a:avLst/>
          </a:prstGeom>
          <a:noFill/>
        </p:spPr>
        <p:txBody>
          <a:bodyPr wrap="square">
            <a:spAutoFit/>
          </a:bodyPr>
          <a:lstStyle/>
          <a:p>
            <a:pPr algn="l"/>
            <a:r>
              <a:rPr sz="900" b="0" i="0">
                <a:solidFill>
                  <a:srgbClr val="94A3B8"/>
                </a:solidFill>
              </a:rPr>
              <a:t>Field completeness — all fields filled</a:t>
            </a:r>
          </a:p>
        </p:txBody>
      </p:sp>
      <p:sp>
        <p:nvSpPr>
          <p:cNvPr id="63" name="TextBox 62"/>
          <p:cNvSpPr txBox="1"/>
          <p:nvPr/>
        </p:nvSpPr>
        <p:spPr>
          <a:xfrm>
            <a:off x="6108192" y="4398264"/>
            <a:ext cx="3108960" cy="274320"/>
          </a:xfrm>
          <a:prstGeom prst="rect">
            <a:avLst/>
          </a:prstGeom>
          <a:noFill/>
        </p:spPr>
        <p:txBody>
          <a:bodyPr wrap="square">
            <a:spAutoFit/>
          </a:bodyPr>
          <a:lstStyle/>
          <a:p>
            <a:pPr algn="l"/>
            <a:r>
              <a:rPr sz="900" b="0" i="0">
                <a:solidFill>
                  <a:srgbClr val="94A3B8"/>
                </a:solidFill>
              </a:rPr>
              <a:t>Score ≥ 20/25</a:t>
            </a:r>
          </a:p>
        </p:txBody>
      </p:sp>
      <p:sp>
        <p:nvSpPr>
          <p:cNvPr id="64" name="TextBox 63"/>
          <p:cNvSpPr txBox="1"/>
          <p:nvPr/>
        </p:nvSpPr>
        <p:spPr>
          <a:xfrm>
            <a:off x="9308592" y="4398264"/>
            <a:ext cx="960120" cy="274320"/>
          </a:xfrm>
          <a:prstGeom prst="rect">
            <a:avLst/>
          </a:prstGeom>
          <a:noFill/>
        </p:spPr>
        <p:txBody>
          <a:bodyPr wrap="square">
            <a:spAutoFit/>
          </a:bodyPr>
          <a:lstStyle/>
          <a:p>
            <a:pPr algn="l"/>
            <a:r>
              <a:rPr sz="900" b="0" i="0">
                <a:solidFill>
                  <a:srgbClr val="94A3B8"/>
                </a:solidFill>
              </a:rPr>
              <a:t>PASS</a:t>
            </a:r>
          </a:p>
        </p:txBody>
      </p:sp>
      <p:sp>
        <p:nvSpPr>
          <p:cNvPr id="65" name="Rectangle 64"/>
          <p:cNvSpPr/>
          <p:nvPr/>
        </p:nvSpPr>
        <p:spPr>
          <a:xfrm>
            <a:off x="228600" y="4690872"/>
            <a:ext cx="10058400" cy="347472"/>
          </a:xfrm>
          <a:prstGeom prst="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01752" y="4745736"/>
            <a:ext cx="594360" cy="274320"/>
          </a:xfrm>
          <a:prstGeom prst="rect">
            <a:avLst/>
          </a:prstGeom>
          <a:noFill/>
        </p:spPr>
        <p:txBody>
          <a:bodyPr wrap="square">
            <a:spAutoFit/>
          </a:bodyPr>
          <a:lstStyle/>
          <a:p>
            <a:pPr algn="l"/>
            <a:r>
              <a:rPr sz="900" b="0" i="0">
                <a:solidFill>
                  <a:srgbClr val="F1F5F9"/>
                </a:solidFill>
              </a:rPr>
              <a:t>TC-006</a:t>
            </a:r>
          </a:p>
        </p:txBody>
      </p:sp>
      <p:sp>
        <p:nvSpPr>
          <p:cNvPr id="67" name="TextBox 66"/>
          <p:cNvSpPr txBox="1"/>
          <p:nvPr/>
        </p:nvSpPr>
        <p:spPr>
          <a:xfrm>
            <a:off x="987552" y="4745736"/>
            <a:ext cx="914400" cy="274320"/>
          </a:xfrm>
          <a:prstGeom prst="rect">
            <a:avLst/>
          </a:prstGeom>
          <a:noFill/>
        </p:spPr>
        <p:txBody>
          <a:bodyPr wrap="square">
            <a:spAutoFit/>
          </a:bodyPr>
          <a:lstStyle/>
          <a:p>
            <a:pPr algn="l"/>
            <a:r>
              <a:rPr sz="900" b="0" i="0">
                <a:solidFill>
                  <a:srgbClr val="F1F5F9"/>
                </a:solidFill>
              </a:rPr>
              <a:t>Scorer</a:t>
            </a:r>
          </a:p>
        </p:txBody>
      </p:sp>
      <p:sp>
        <p:nvSpPr>
          <p:cNvPr id="68" name="TextBox 67"/>
          <p:cNvSpPr txBox="1"/>
          <p:nvPr/>
        </p:nvSpPr>
        <p:spPr>
          <a:xfrm>
            <a:off x="1993392" y="4745736"/>
            <a:ext cx="4023360" cy="274320"/>
          </a:xfrm>
          <a:prstGeom prst="rect">
            <a:avLst/>
          </a:prstGeom>
          <a:noFill/>
        </p:spPr>
        <p:txBody>
          <a:bodyPr wrap="square">
            <a:spAutoFit/>
          </a:bodyPr>
          <a:lstStyle/>
          <a:p>
            <a:pPr algn="l"/>
            <a:r>
              <a:rPr sz="900" b="0" i="0">
                <a:solidFill>
                  <a:srgbClr val="F1F5F9"/>
                </a:solidFill>
              </a:rPr>
              <a:t>Grade A for score ≥ 85</a:t>
            </a:r>
          </a:p>
        </p:txBody>
      </p:sp>
      <p:sp>
        <p:nvSpPr>
          <p:cNvPr id="69" name="TextBox 68"/>
          <p:cNvSpPr txBox="1"/>
          <p:nvPr/>
        </p:nvSpPr>
        <p:spPr>
          <a:xfrm>
            <a:off x="6108192" y="4745736"/>
            <a:ext cx="3108960" cy="274320"/>
          </a:xfrm>
          <a:prstGeom prst="rect">
            <a:avLst/>
          </a:prstGeom>
          <a:noFill/>
        </p:spPr>
        <p:txBody>
          <a:bodyPr wrap="square">
            <a:spAutoFit/>
          </a:bodyPr>
          <a:lstStyle/>
          <a:p>
            <a:pPr algn="l"/>
            <a:r>
              <a:rPr sz="900" b="0" i="0">
                <a:solidFill>
                  <a:srgbClr val="F1F5F9"/>
                </a:solidFill>
              </a:rPr>
              <a:t>Grade = A</a:t>
            </a:r>
          </a:p>
        </p:txBody>
      </p:sp>
      <p:sp>
        <p:nvSpPr>
          <p:cNvPr id="70" name="TextBox 69"/>
          <p:cNvSpPr txBox="1"/>
          <p:nvPr/>
        </p:nvSpPr>
        <p:spPr>
          <a:xfrm>
            <a:off x="9308592" y="4745736"/>
            <a:ext cx="960120" cy="274320"/>
          </a:xfrm>
          <a:prstGeom prst="rect">
            <a:avLst/>
          </a:prstGeom>
          <a:noFill/>
        </p:spPr>
        <p:txBody>
          <a:bodyPr wrap="square">
            <a:spAutoFit/>
          </a:bodyPr>
          <a:lstStyle/>
          <a:p>
            <a:pPr algn="l"/>
            <a:r>
              <a:rPr sz="900" b="0" i="0">
                <a:solidFill>
                  <a:srgbClr val="F1F5F9"/>
                </a:solidFill>
              </a:rPr>
              <a:t>PASS</a:t>
            </a:r>
          </a:p>
        </p:txBody>
      </p:sp>
      <p:sp>
        <p:nvSpPr>
          <p:cNvPr id="71" name="Rectangle 70"/>
          <p:cNvSpPr/>
          <p:nvPr/>
        </p:nvSpPr>
        <p:spPr>
          <a:xfrm>
            <a:off x="228600" y="5038344"/>
            <a:ext cx="1005840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301752" y="5093208"/>
            <a:ext cx="594360" cy="274320"/>
          </a:xfrm>
          <a:prstGeom prst="rect">
            <a:avLst/>
          </a:prstGeom>
          <a:noFill/>
        </p:spPr>
        <p:txBody>
          <a:bodyPr wrap="square">
            <a:spAutoFit/>
          </a:bodyPr>
          <a:lstStyle/>
          <a:p>
            <a:pPr algn="l"/>
            <a:r>
              <a:rPr sz="900" b="0" i="0">
                <a:solidFill>
                  <a:srgbClr val="94A3B8"/>
                </a:solidFill>
              </a:rPr>
              <a:t>TC-007</a:t>
            </a:r>
          </a:p>
        </p:txBody>
      </p:sp>
      <p:sp>
        <p:nvSpPr>
          <p:cNvPr id="73" name="TextBox 72"/>
          <p:cNvSpPr txBox="1"/>
          <p:nvPr/>
        </p:nvSpPr>
        <p:spPr>
          <a:xfrm>
            <a:off x="987552" y="5093208"/>
            <a:ext cx="914400" cy="274320"/>
          </a:xfrm>
          <a:prstGeom prst="rect">
            <a:avLst/>
          </a:prstGeom>
          <a:noFill/>
        </p:spPr>
        <p:txBody>
          <a:bodyPr wrap="square">
            <a:spAutoFit/>
          </a:bodyPr>
          <a:lstStyle/>
          <a:p>
            <a:pPr algn="l"/>
            <a:r>
              <a:rPr sz="900" b="0" i="0">
                <a:solidFill>
                  <a:srgbClr val="94A3B8"/>
                </a:solidFill>
              </a:rPr>
              <a:t>Scorer</a:t>
            </a:r>
          </a:p>
        </p:txBody>
      </p:sp>
      <p:sp>
        <p:nvSpPr>
          <p:cNvPr id="74" name="TextBox 73"/>
          <p:cNvSpPr txBox="1"/>
          <p:nvPr/>
        </p:nvSpPr>
        <p:spPr>
          <a:xfrm>
            <a:off x="1993392" y="5093208"/>
            <a:ext cx="4023360" cy="274320"/>
          </a:xfrm>
          <a:prstGeom prst="rect">
            <a:avLst/>
          </a:prstGeom>
          <a:noFill/>
        </p:spPr>
        <p:txBody>
          <a:bodyPr wrap="square">
            <a:spAutoFit/>
          </a:bodyPr>
          <a:lstStyle/>
          <a:p>
            <a:pPr algn="l"/>
            <a:r>
              <a:rPr sz="900" b="0" i="0">
                <a:solidFill>
                  <a:srgbClr val="94A3B8"/>
                </a:solidFill>
              </a:rPr>
              <a:t>Grade F for score &lt; 40</a:t>
            </a:r>
          </a:p>
        </p:txBody>
      </p:sp>
      <p:sp>
        <p:nvSpPr>
          <p:cNvPr id="75" name="TextBox 74"/>
          <p:cNvSpPr txBox="1"/>
          <p:nvPr/>
        </p:nvSpPr>
        <p:spPr>
          <a:xfrm>
            <a:off x="6108192" y="5093208"/>
            <a:ext cx="3108960" cy="274320"/>
          </a:xfrm>
          <a:prstGeom prst="rect">
            <a:avLst/>
          </a:prstGeom>
          <a:noFill/>
        </p:spPr>
        <p:txBody>
          <a:bodyPr wrap="square">
            <a:spAutoFit/>
          </a:bodyPr>
          <a:lstStyle/>
          <a:p>
            <a:pPr algn="l"/>
            <a:r>
              <a:rPr sz="900" b="0" i="0">
                <a:solidFill>
                  <a:srgbClr val="94A3B8"/>
                </a:solidFill>
              </a:rPr>
              <a:t>Grade = F</a:t>
            </a:r>
          </a:p>
        </p:txBody>
      </p:sp>
      <p:sp>
        <p:nvSpPr>
          <p:cNvPr id="76" name="TextBox 75"/>
          <p:cNvSpPr txBox="1"/>
          <p:nvPr/>
        </p:nvSpPr>
        <p:spPr>
          <a:xfrm>
            <a:off x="9308592" y="5093208"/>
            <a:ext cx="960120" cy="274320"/>
          </a:xfrm>
          <a:prstGeom prst="rect">
            <a:avLst/>
          </a:prstGeom>
          <a:noFill/>
        </p:spPr>
        <p:txBody>
          <a:bodyPr wrap="square">
            <a:spAutoFit/>
          </a:bodyPr>
          <a:lstStyle/>
          <a:p>
            <a:pPr algn="l"/>
            <a:r>
              <a:rPr sz="900" b="0" i="0">
                <a:solidFill>
                  <a:srgbClr val="94A3B8"/>
                </a:solidFill>
              </a:rPr>
              <a:t>PASS</a:t>
            </a:r>
          </a:p>
        </p:txBody>
      </p:sp>
      <p:sp>
        <p:nvSpPr>
          <p:cNvPr id="77" name="Rectangle 76"/>
          <p:cNvSpPr/>
          <p:nvPr/>
        </p:nvSpPr>
        <p:spPr>
          <a:xfrm>
            <a:off x="228600" y="5385816"/>
            <a:ext cx="10058400" cy="347472"/>
          </a:xfrm>
          <a:prstGeom prst="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301752" y="5440680"/>
            <a:ext cx="594360" cy="274320"/>
          </a:xfrm>
          <a:prstGeom prst="rect">
            <a:avLst/>
          </a:prstGeom>
          <a:noFill/>
        </p:spPr>
        <p:txBody>
          <a:bodyPr wrap="square">
            <a:spAutoFit/>
          </a:bodyPr>
          <a:lstStyle/>
          <a:p>
            <a:pPr algn="l"/>
            <a:r>
              <a:rPr sz="900" b="0" i="0">
                <a:solidFill>
                  <a:srgbClr val="F1F5F9"/>
                </a:solidFill>
              </a:rPr>
              <a:t>TC-008</a:t>
            </a:r>
          </a:p>
        </p:txBody>
      </p:sp>
      <p:sp>
        <p:nvSpPr>
          <p:cNvPr id="79" name="TextBox 78"/>
          <p:cNvSpPr txBox="1"/>
          <p:nvPr/>
        </p:nvSpPr>
        <p:spPr>
          <a:xfrm>
            <a:off x="987552" y="5440680"/>
            <a:ext cx="914400" cy="274320"/>
          </a:xfrm>
          <a:prstGeom prst="rect">
            <a:avLst/>
          </a:prstGeom>
          <a:noFill/>
        </p:spPr>
        <p:txBody>
          <a:bodyPr wrap="square">
            <a:spAutoFit/>
          </a:bodyPr>
          <a:lstStyle/>
          <a:p>
            <a:pPr algn="l"/>
            <a:r>
              <a:rPr sz="900" b="0" i="0">
                <a:solidFill>
                  <a:srgbClr val="F1F5F9"/>
                </a:solidFill>
              </a:rPr>
              <a:t>Rewriter</a:t>
            </a:r>
          </a:p>
        </p:txBody>
      </p:sp>
      <p:sp>
        <p:nvSpPr>
          <p:cNvPr id="80" name="TextBox 79"/>
          <p:cNvSpPr txBox="1"/>
          <p:nvPr/>
        </p:nvSpPr>
        <p:spPr>
          <a:xfrm>
            <a:off x="1993392" y="5440680"/>
            <a:ext cx="4023360" cy="274320"/>
          </a:xfrm>
          <a:prstGeom prst="rect">
            <a:avLst/>
          </a:prstGeom>
          <a:noFill/>
        </p:spPr>
        <p:txBody>
          <a:bodyPr wrap="square">
            <a:spAutoFit/>
          </a:bodyPr>
          <a:lstStyle/>
          <a:p>
            <a:pPr algn="l"/>
            <a:r>
              <a:rPr sz="900" b="0" i="0">
                <a:solidFill>
                  <a:srgbClr val="F1F5F9"/>
                </a:solidFill>
              </a:rPr>
              <a:t>Local mode active when no API key</a:t>
            </a:r>
          </a:p>
        </p:txBody>
      </p:sp>
      <p:sp>
        <p:nvSpPr>
          <p:cNvPr id="81" name="TextBox 80"/>
          <p:cNvSpPr txBox="1"/>
          <p:nvPr/>
        </p:nvSpPr>
        <p:spPr>
          <a:xfrm>
            <a:off x="6108192" y="5440680"/>
            <a:ext cx="3108960" cy="274320"/>
          </a:xfrm>
          <a:prstGeom prst="rect">
            <a:avLst/>
          </a:prstGeom>
          <a:noFill/>
        </p:spPr>
        <p:txBody>
          <a:bodyPr wrap="square">
            <a:spAutoFit/>
          </a:bodyPr>
          <a:lstStyle/>
          <a:p>
            <a:pPr algn="l"/>
            <a:r>
              <a:rPr sz="900" b="0" i="0">
                <a:solidFill>
                  <a:srgbClr val="F1F5F9"/>
                </a:solidFill>
              </a:rPr>
              <a:t>mode = local</a:t>
            </a:r>
          </a:p>
        </p:txBody>
      </p:sp>
      <p:sp>
        <p:nvSpPr>
          <p:cNvPr id="82" name="TextBox 81"/>
          <p:cNvSpPr txBox="1"/>
          <p:nvPr/>
        </p:nvSpPr>
        <p:spPr>
          <a:xfrm>
            <a:off x="9308592" y="5440680"/>
            <a:ext cx="960120" cy="274320"/>
          </a:xfrm>
          <a:prstGeom prst="rect">
            <a:avLst/>
          </a:prstGeom>
          <a:noFill/>
        </p:spPr>
        <p:txBody>
          <a:bodyPr wrap="square">
            <a:spAutoFit/>
          </a:bodyPr>
          <a:lstStyle/>
          <a:p>
            <a:pPr algn="l"/>
            <a:r>
              <a:rPr sz="900" b="0" i="0">
                <a:solidFill>
                  <a:srgbClr val="F1F5F9"/>
                </a:solidFill>
              </a:rPr>
              <a:t>PASS</a:t>
            </a:r>
          </a:p>
        </p:txBody>
      </p:sp>
      <p:sp>
        <p:nvSpPr>
          <p:cNvPr id="83" name="TextBox 82"/>
          <p:cNvSpPr txBox="1"/>
          <p:nvPr/>
        </p:nvSpPr>
        <p:spPr>
          <a:xfrm>
            <a:off x="274320" y="6291072"/>
            <a:ext cx="9144000" cy="256032"/>
          </a:xfrm>
          <a:prstGeom prst="rect">
            <a:avLst/>
          </a:prstGeom>
          <a:noFill/>
        </p:spPr>
        <p:txBody>
          <a:bodyPr wrap="square">
            <a:spAutoFit/>
          </a:bodyPr>
          <a:lstStyle/>
          <a:p>
            <a:pPr algn="l"/>
            <a:r>
              <a:rPr sz="800" b="0" i="1">
                <a:solidFill>
                  <a:srgbClr val="94A3B8"/>
                </a:solidFill>
              </a:rPr>
              <a:t>+ 15 more test cases documented in interview_prep/10_functional_testing_report.md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Integration Testing</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37 test cases across 8 integration boundaries</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13</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274320" y="1051560"/>
            <a:ext cx="219456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51560"/>
            <a:ext cx="219456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188720"/>
            <a:ext cx="1920240" cy="548640"/>
          </a:xfrm>
          <a:prstGeom prst="rect">
            <a:avLst/>
          </a:prstGeom>
          <a:noFill/>
        </p:spPr>
        <p:txBody>
          <a:bodyPr wrap="square">
            <a:spAutoFit/>
          </a:bodyPr>
          <a:lstStyle/>
          <a:p>
            <a:pPr algn="ctr"/>
            <a:r>
              <a:rPr sz="2800" b="1" i="0">
                <a:solidFill>
                  <a:srgbClr val="2563EB"/>
                </a:solidFill>
              </a:rPr>
              <a:t>37</a:t>
            </a:r>
          </a:p>
        </p:txBody>
      </p:sp>
      <p:sp>
        <p:nvSpPr>
          <p:cNvPr id="12" name="TextBox 11"/>
          <p:cNvSpPr txBox="1"/>
          <p:nvPr/>
        </p:nvSpPr>
        <p:spPr>
          <a:xfrm>
            <a:off x="365760" y="1709928"/>
            <a:ext cx="2011680" cy="274320"/>
          </a:xfrm>
          <a:prstGeom prst="rect">
            <a:avLst/>
          </a:prstGeom>
          <a:noFill/>
        </p:spPr>
        <p:txBody>
          <a:bodyPr wrap="square">
            <a:spAutoFit/>
          </a:bodyPr>
          <a:lstStyle/>
          <a:p>
            <a:pPr algn="ctr"/>
            <a:r>
              <a:rPr sz="1000" b="1" i="0">
                <a:solidFill>
                  <a:srgbClr val="FFFFFF"/>
                </a:solidFill>
              </a:rPr>
              <a:t>Test Cases</a:t>
            </a:r>
          </a:p>
        </p:txBody>
      </p:sp>
      <p:sp>
        <p:nvSpPr>
          <p:cNvPr id="13" name="TextBox 12"/>
          <p:cNvSpPr txBox="1"/>
          <p:nvPr/>
        </p:nvSpPr>
        <p:spPr>
          <a:xfrm>
            <a:off x="365760" y="1947672"/>
            <a:ext cx="2011680" cy="320040"/>
          </a:xfrm>
          <a:prstGeom prst="rect">
            <a:avLst/>
          </a:prstGeom>
          <a:noFill/>
        </p:spPr>
        <p:txBody>
          <a:bodyPr wrap="square">
            <a:spAutoFit/>
          </a:bodyPr>
          <a:lstStyle/>
          <a:p>
            <a:pPr algn="ctr"/>
            <a:r>
              <a:rPr sz="800" b="0" i="0">
                <a:solidFill>
                  <a:srgbClr val="94A3B8"/>
                </a:solidFill>
              </a:rPr>
              <a:t>Across 8 boundaries</a:t>
            </a:r>
          </a:p>
        </p:txBody>
      </p:sp>
      <p:sp>
        <p:nvSpPr>
          <p:cNvPr id="14" name="Rounded Rectangle 13"/>
          <p:cNvSpPr/>
          <p:nvPr/>
        </p:nvSpPr>
        <p:spPr>
          <a:xfrm>
            <a:off x="2651760" y="1051560"/>
            <a:ext cx="219456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651760" y="1051560"/>
            <a:ext cx="219456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88920" y="1188720"/>
            <a:ext cx="1920240" cy="548640"/>
          </a:xfrm>
          <a:prstGeom prst="rect">
            <a:avLst/>
          </a:prstGeom>
          <a:noFill/>
        </p:spPr>
        <p:txBody>
          <a:bodyPr wrap="square">
            <a:spAutoFit/>
          </a:bodyPr>
          <a:lstStyle/>
          <a:p>
            <a:pPr algn="ctr"/>
            <a:r>
              <a:rPr sz="2800" b="1" i="0">
                <a:solidFill>
                  <a:srgbClr val="059669"/>
                </a:solidFill>
              </a:rPr>
              <a:t>37</a:t>
            </a:r>
          </a:p>
        </p:txBody>
      </p:sp>
      <p:sp>
        <p:nvSpPr>
          <p:cNvPr id="17" name="TextBox 16"/>
          <p:cNvSpPr txBox="1"/>
          <p:nvPr/>
        </p:nvSpPr>
        <p:spPr>
          <a:xfrm>
            <a:off x="2743200" y="1709928"/>
            <a:ext cx="2011680" cy="274320"/>
          </a:xfrm>
          <a:prstGeom prst="rect">
            <a:avLst/>
          </a:prstGeom>
          <a:noFill/>
        </p:spPr>
        <p:txBody>
          <a:bodyPr wrap="square">
            <a:spAutoFit/>
          </a:bodyPr>
          <a:lstStyle/>
          <a:p>
            <a:pPr algn="ctr"/>
            <a:r>
              <a:rPr sz="1000" b="1" i="0">
                <a:solidFill>
                  <a:srgbClr val="FFFFFF"/>
                </a:solidFill>
              </a:rPr>
              <a:t>Passed</a:t>
            </a:r>
          </a:p>
        </p:txBody>
      </p:sp>
      <p:sp>
        <p:nvSpPr>
          <p:cNvPr id="18" name="TextBox 17"/>
          <p:cNvSpPr txBox="1"/>
          <p:nvPr/>
        </p:nvSpPr>
        <p:spPr>
          <a:xfrm>
            <a:off x="2743200" y="1947672"/>
            <a:ext cx="2011680" cy="320040"/>
          </a:xfrm>
          <a:prstGeom prst="rect">
            <a:avLst/>
          </a:prstGeom>
          <a:noFill/>
        </p:spPr>
        <p:txBody>
          <a:bodyPr wrap="square">
            <a:spAutoFit/>
          </a:bodyPr>
          <a:lstStyle/>
          <a:p>
            <a:pPr algn="ctr"/>
            <a:r>
              <a:rPr sz="800" b="0" i="0">
                <a:solidFill>
                  <a:srgbClr val="94A3B8"/>
                </a:solidFill>
              </a:rPr>
              <a:t>100% pass rate</a:t>
            </a:r>
          </a:p>
        </p:txBody>
      </p:sp>
      <p:sp>
        <p:nvSpPr>
          <p:cNvPr id="19" name="Rounded Rectangle 18"/>
          <p:cNvSpPr/>
          <p:nvPr/>
        </p:nvSpPr>
        <p:spPr>
          <a:xfrm>
            <a:off x="5029200" y="1051560"/>
            <a:ext cx="219456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029200" y="1051560"/>
            <a:ext cx="219456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66360" y="1188720"/>
            <a:ext cx="1920240" cy="548640"/>
          </a:xfrm>
          <a:prstGeom prst="rect">
            <a:avLst/>
          </a:prstGeom>
          <a:noFill/>
        </p:spPr>
        <p:txBody>
          <a:bodyPr wrap="square">
            <a:spAutoFit/>
          </a:bodyPr>
          <a:lstStyle/>
          <a:p>
            <a:pPr algn="ctr"/>
            <a:r>
              <a:rPr sz="2800" b="1" i="0">
                <a:solidFill>
                  <a:srgbClr val="7C3AED"/>
                </a:solidFill>
              </a:rPr>
              <a:t>8</a:t>
            </a:r>
          </a:p>
        </p:txBody>
      </p:sp>
      <p:sp>
        <p:nvSpPr>
          <p:cNvPr id="22" name="TextBox 21"/>
          <p:cNvSpPr txBox="1"/>
          <p:nvPr/>
        </p:nvSpPr>
        <p:spPr>
          <a:xfrm>
            <a:off x="5120640" y="1709928"/>
            <a:ext cx="2011680" cy="274320"/>
          </a:xfrm>
          <a:prstGeom prst="rect">
            <a:avLst/>
          </a:prstGeom>
          <a:noFill/>
        </p:spPr>
        <p:txBody>
          <a:bodyPr wrap="square">
            <a:spAutoFit/>
          </a:bodyPr>
          <a:lstStyle/>
          <a:p>
            <a:pPr algn="ctr"/>
            <a:r>
              <a:rPr sz="1000" b="1" i="0">
                <a:solidFill>
                  <a:srgbClr val="FFFFFF"/>
                </a:solidFill>
              </a:rPr>
              <a:t>Boundaries</a:t>
            </a:r>
          </a:p>
        </p:txBody>
      </p:sp>
      <p:sp>
        <p:nvSpPr>
          <p:cNvPr id="23" name="TextBox 22"/>
          <p:cNvSpPr txBox="1"/>
          <p:nvPr/>
        </p:nvSpPr>
        <p:spPr>
          <a:xfrm>
            <a:off x="5120640" y="1947672"/>
            <a:ext cx="2011680" cy="320040"/>
          </a:xfrm>
          <a:prstGeom prst="rect">
            <a:avLst/>
          </a:prstGeom>
          <a:noFill/>
        </p:spPr>
        <p:txBody>
          <a:bodyPr wrap="square">
            <a:spAutoFit/>
          </a:bodyPr>
          <a:lstStyle/>
          <a:p>
            <a:pPr algn="ctr"/>
            <a:r>
              <a:rPr sz="800" b="0" i="0">
                <a:solidFill>
                  <a:srgbClr val="94A3B8"/>
                </a:solidFill>
              </a:rPr>
              <a:t>Tested</a:t>
            </a:r>
          </a:p>
        </p:txBody>
      </p:sp>
      <p:sp>
        <p:nvSpPr>
          <p:cNvPr id="24" name="Rounded Rectangle 23"/>
          <p:cNvSpPr/>
          <p:nvPr/>
        </p:nvSpPr>
        <p:spPr>
          <a:xfrm>
            <a:off x="7406640" y="1051560"/>
            <a:ext cx="219456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406640" y="1051560"/>
            <a:ext cx="219456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543800" y="1188720"/>
            <a:ext cx="1920240" cy="548640"/>
          </a:xfrm>
          <a:prstGeom prst="rect">
            <a:avLst/>
          </a:prstGeom>
          <a:noFill/>
        </p:spPr>
        <p:txBody>
          <a:bodyPr wrap="square">
            <a:spAutoFit/>
          </a:bodyPr>
          <a:lstStyle/>
          <a:p>
            <a:pPr algn="ctr"/>
            <a:r>
              <a:rPr sz="2800" b="1" i="0">
                <a:solidFill>
                  <a:srgbClr val="EA580C"/>
                </a:solidFill>
              </a:rPr>
              <a:t>0</a:t>
            </a:r>
          </a:p>
        </p:txBody>
      </p:sp>
      <p:sp>
        <p:nvSpPr>
          <p:cNvPr id="27" name="TextBox 26"/>
          <p:cNvSpPr txBox="1"/>
          <p:nvPr/>
        </p:nvSpPr>
        <p:spPr>
          <a:xfrm>
            <a:off x="7498080" y="1709928"/>
            <a:ext cx="2011680" cy="274320"/>
          </a:xfrm>
          <a:prstGeom prst="rect">
            <a:avLst/>
          </a:prstGeom>
          <a:noFill/>
        </p:spPr>
        <p:txBody>
          <a:bodyPr wrap="square">
            <a:spAutoFit/>
          </a:bodyPr>
          <a:lstStyle/>
          <a:p>
            <a:pPr algn="ctr"/>
            <a:r>
              <a:rPr sz="1000" b="1" i="0">
                <a:solidFill>
                  <a:srgbClr val="FFFFFF"/>
                </a:solidFill>
              </a:rPr>
              <a:t>Defects</a:t>
            </a:r>
          </a:p>
        </p:txBody>
      </p:sp>
      <p:sp>
        <p:nvSpPr>
          <p:cNvPr id="28" name="TextBox 27"/>
          <p:cNvSpPr txBox="1"/>
          <p:nvPr/>
        </p:nvSpPr>
        <p:spPr>
          <a:xfrm>
            <a:off x="7498080" y="1947672"/>
            <a:ext cx="2011680" cy="320040"/>
          </a:xfrm>
          <a:prstGeom prst="rect">
            <a:avLst/>
          </a:prstGeom>
          <a:noFill/>
        </p:spPr>
        <p:txBody>
          <a:bodyPr wrap="square">
            <a:spAutoFit/>
          </a:bodyPr>
          <a:lstStyle/>
          <a:p>
            <a:pPr algn="ctr"/>
            <a:r>
              <a:rPr sz="800" b="0" i="0">
                <a:solidFill>
                  <a:srgbClr val="94A3B8"/>
                </a:solidFill>
              </a:rPr>
              <a:t>Zero open</a:t>
            </a:r>
          </a:p>
        </p:txBody>
      </p:sp>
      <p:sp>
        <p:nvSpPr>
          <p:cNvPr id="29" name="Rounded Rectangle 28"/>
          <p:cNvSpPr/>
          <p:nvPr/>
        </p:nvSpPr>
        <p:spPr>
          <a:xfrm>
            <a:off x="274320" y="2423160"/>
            <a:ext cx="1280160" cy="65836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74320" y="2587752"/>
            <a:ext cx="1280160" cy="347472"/>
          </a:xfrm>
          <a:prstGeom prst="rect">
            <a:avLst/>
          </a:prstGeom>
          <a:noFill/>
        </p:spPr>
        <p:txBody>
          <a:bodyPr wrap="square">
            <a:spAutoFit/>
          </a:bodyPr>
          <a:lstStyle/>
          <a:p>
            <a:pPr algn="ctr"/>
            <a:r>
              <a:rPr sz="1000" b="1" i="0">
                <a:solidFill>
                  <a:srgbClr val="FFFFFF"/>
                </a:solidFill>
              </a:rPr>
              <a:t>Validator</a:t>
            </a:r>
          </a:p>
        </p:txBody>
      </p:sp>
      <p:sp>
        <p:nvSpPr>
          <p:cNvPr id="31" name="Rectangle 30"/>
          <p:cNvSpPr/>
          <p:nvPr/>
        </p:nvSpPr>
        <p:spPr>
          <a:xfrm>
            <a:off x="1600200" y="2715768"/>
            <a:ext cx="411480" cy="7315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563624" y="2587752"/>
            <a:ext cx="411480" cy="320040"/>
          </a:xfrm>
          <a:prstGeom prst="rect">
            <a:avLst/>
          </a:prstGeom>
          <a:noFill/>
        </p:spPr>
        <p:txBody>
          <a:bodyPr wrap="square">
            <a:spAutoFit/>
          </a:bodyPr>
          <a:lstStyle/>
          <a:p>
            <a:pPr algn="ctr"/>
            <a:r>
              <a:rPr sz="1200" b="0" i="0">
                <a:solidFill>
                  <a:srgbClr val="475569"/>
                </a:solidFill>
              </a:rPr>
              <a:t>→</a:t>
            </a:r>
          </a:p>
        </p:txBody>
      </p:sp>
      <p:sp>
        <p:nvSpPr>
          <p:cNvPr id="33" name="Rounded Rectangle 32"/>
          <p:cNvSpPr/>
          <p:nvPr/>
        </p:nvSpPr>
        <p:spPr>
          <a:xfrm>
            <a:off x="2057400" y="2423160"/>
            <a:ext cx="1280160" cy="658368"/>
          </a:xfrm>
          <a:prstGeom prst="roundRect">
            <a:avLst/>
          </a:prstGeom>
          <a:solidFill>
            <a:srgbClr val="0F172A"/>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057400" y="2587752"/>
            <a:ext cx="1280160" cy="347472"/>
          </a:xfrm>
          <a:prstGeom prst="rect">
            <a:avLst/>
          </a:prstGeom>
          <a:noFill/>
        </p:spPr>
        <p:txBody>
          <a:bodyPr wrap="square">
            <a:spAutoFit/>
          </a:bodyPr>
          <a:lstStyle/>
          <a:p>
            <a:pPr algn="ctr"/>
            <a:r>
              <a:rPr sz="1000" b="1" i="0">
                <a:solidFill>
                  <a:srgbClr val="2563EB"/>
                </a:solidFill>
              </a:rPr>
              <a:t>Scorer</a:t>
            </a:r>
          </a:p>
        </p:txBody>
      </p:sp>
      <p:sp>
        <p:nvSpPr>
          <p:cNvPr id="35" name="TextBox 34"/>
          <p:cNvSpPr txBox="1"/>
          <p:nvPr/>
        </p:nvSpPr>
        <p:spPr>
          <a:xfrm>
            <a:off x="3383280" y="2514600"/>
            <a:ext cx="2743200" cy="502920"/>
          </a:xfrm>
          <a:prstGeom prst="rect">
            <a:avLst/>
          </a:prstGeom>
          <a:noFill/>
        </p:spPr>
        <p:txBody>
          <a:bodyPr wrap="square">
            <a:spAutoFit/>
          </a:bodyPr>
          <a:lstStyle/>
          <a:p>
            <a:pPr algn="l"/>
            <a:r>
              <a:rPr sz="850" b="0" i="0">
                <a:solidFill>
                  <a:srgbClr val="94A3B8"/>
                </a:solidFill>
              </a:rPr>
              <a:t>INT-01 to 05  ·  Issues feed score penalty</a:t>
            </a:r>
          </a:p>
        </p:txBody>
      </p:sp>
      <p:sp>
        <p:nvSpPr>
          <p:cNvPr id="36" name="Rounded Rectangle 35"/>
          <p:cNvSpPr/>
          <p:nvPr/>
        </p:nvSpPr>
        <p:spPr>
          <a:xfrm>
            <a:off x="6217920" y="2423160"/>
            <a:ext cx="1280160" cy="65836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217920" y="2587752"/>
            <a:ext cx="1280160" cy="347472"/>
          </a:xfrm>
          <a:prstGeom prst="rect">
            <a:avLst/>
          </a:prstGeom>
          <a:noFill/>
        </p:spPr>
        <p:txBody>
          <a:bodyPr wrap="square">
            <a:spAutoFit/>
          </a:bodyPr>
          <a:lstStyle/>
          <a:p>
            <a:pPr algn="ctr"/>
            <a:r>
              <a:rPr sz="1000" b="1" i="0">
                <a:solidFill>
                  <a:srgbClr val="FFFFFF"/>
                </a:solidFill>
              </a:rPr>
              <a:t>Validator</a:t>
            </a:r>
          </a:p>
        </p:txBody>
      </p:sp>
      <p:sp>
        <p:nvSpPr>
          <p:cNvPr id="38" name="Rectangle 37"/>
          <p:cNvSpPr/>
          <p:nvPr/>
        </p:nvSpPr>
        <p:spPr>
          <a:xfrm>
            <a:off x="7543800" y="2715768"/>
            <a:ext cx="411480" cy="7315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507224" y="2587752"/>
            <a:ext cx="411480" cy="320040"/>
          </a:xfrm>
          <a:prstGeom prst="rect">
            <a:avLst/>
          </a:prstGeom>
          <a:noFill/>
        </p:spPr>
        <p:txBody>
          <a:bodyPr wrap="square">
            <a:spAutoFit/>
          </a:bodyPr>
          <a:lstStyle/>
          <a:p>
            <a:pPr algn="ctr"/>
            <a:r>
              <a:rPr sz="1200" b="0" i="0">
                <a:solidFill>
                  <a:srgbClr val="475569"/>
                </a:solidFill>
              </a:rPr>
              <a:t>→</a:t>
            </a:r>
          </a:p>
        </p:txBody>
      </p:sp>
      <p:sp>
        <p:nvSpPr>
          <p:cNvPr id="40" name="Rounded Rectangle 39"/>
          <p:cNvSpPr/>
          <p:nvPr/>
        </p:nvSpPr>
        <p:spPr>
          <a:xfrm>
            <a:off x="8001000" y="2423160"/>
            <a:ext cx="1280160" cy="658368"/>
          </a:xfrm>
          <a:prstGeom prst="roundRect">
            <a:avLst/>
          </a:prstGeom>
          <a:solidFill>
            <a:srgbClr val="0F172A"/>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001000" y="2587752"/>
            <a:ext cx="1280160" cy="347472"/>
          </a:xfrm>
          <a:prstGeom prst="rect">
            <a:avLst/>
          </a:prstGeom>
          <a:noFill/>
        </p:spPr>
        <p:txBody>
          <a:bodyPr wrap="square">
            <a:spAutoFit/>
          </a:bodyPr>
          <a:lstStyle/>
          <a:p>
            <a:pPr algn="ctr"/>
            <a:r>
              <a:rPr sz="1000" b="1" i="0">
                <a:solidFill>
                  <a:srgbClr val="7C3AED"/>
                </a:solidFill>
              </a:rPr>
              <a:t>Rewriter</a:t>
            </a:r>
          </a:p>
        </p:txBody>
      </p:sp>
      <p:sp>
        <p:nvSpPr>
          <p:cNvPr id="42" name="TextBox 41"/>
          <p:cNvSpPr txBox="1"/>
          <p:nvPr/>
        </p:nvSpPr>
        <p:spPr>
          <a:xfrm>
            <a:off x="9326880" y="2514600"/>
            <a:ext cx="2743200" cy="502920"/>
          </a:xfrm>
          <a:prstGeom prst="rect">
            <a:avLst/>
          </a:prstGeom>
          <a:noFill/>
        </p:spPr>
        <p:txBody>
          <a:bodyPr wrap="square">
            <a:spAutoFit/>
          </a:bodyPr>
          <a:lstStyle/>
          <a:p>
            <a:pPr algn="l"/>
            <a:r>
              <a:rPr sz="850" b="0" i="0">
                <a:solidFill>
                  <a:srgbClr val="94A3B8"/>
                </a:solidFill>
              </a:rPr>
              <a:t>INT-06 to 10  ·  Issues become suggestions</a:t>
            </a:r>
          </a:p>
        </p:txBody>
      </p:sp>
      <p:sp>
        <p:nvSpPr>
          <p:cNvPr id="43" name="Rounded Rectangle 42"/>
          <p:cNvSpPr/>
          <p:nvPr/>
        </p:nvSpPr>
        <p:spPr>
          <a:xfrm>
            <a:off x="274320" y="3474720"/>
            <a:ext cx="1280160" cy="658368"/>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74320" y="3639312"/>
            <a:ext cx="1280160" cy="347472"/>
          </a:xfrm>
          <a:prstGeom prst="rect">
            <a:avLst/>
          </a:prstGeom>
          <a:noFill/>
        </p:spPr>
        <p:txBody>
          <a:bodyPr wrap="square">
            <a:spAutoFit/>
          </a:bodyPr>
          <a:lstStyle/>
          <a:p>
            <a:pPr algn="ctr"/>
            <a:r>
              <a:rPr sz="1000" b="1" i="0">
                <a:solidFill>
                  <a:srgbClr val="FFFFFF"/>
                </a:solidFill>
              </a:rPr>
              <a:t>Analyzer</a:t>
            </a:r>
          </a:p>
        </p:txBody>
      </p:sp>
      <p:sp>
        <p:nvSpPr>
          <p:cNvPr id="45" name="Rectangle 44"/>
          <p:cNvSpPr/>
          <p:nvPr/>
        </p:nvSpPr>
        <p:spPr>
          <a:xfrm>
            <a:off x="1600200" y="3767328"/>
            <a:ext cx="411480" cy="7315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563624" y="3639312"/>
            <a:ext cx="411480" cy="320040"/>
          </a:xfrm>
          <a:prstGeom prst="rect">
            <a:avLst/>
          </a:prstGeom>
          <a:noFill/>
        </p:spPr>
        <p:txBody>
          <a:bodyPr wrap="square">
            <a:spAutoFit/>
          </a:bodyPr>
          <a:lstStyle/>
          <a:p>
            <a:pPr algn="ctr"/>
            <a:r>
              <a:rPr sz="1200" b="0" i="0">
                <a:solidFill>
                  <a:srgbClr val="475569"/>
                </a:solidFill>
              </a:rPr>
              <a:t>→</a:t>
            </a:r>
          </a:p>
        </p:txBody>
      </p:sp>
      <p:sp>
        <p:nvSpPr>
          <p:cNvPr id="47" name="Rounded Rectangle 46"/>
          <p:cNvSpPr/>
          <p:nvPr/>
        </p:nvSpPr>
        <p:spPr>
          <a:xfrm>
            <a:off x="2057400" y="3474720"/>
            <a:ext cx="1280160" cy="658368"/>
          </a:xfrm>
          <a:prstGeom prst="roundRect">
            <a:avLst/>
          </a:prstGeom>
          <a:solidFill>
            <a:srgbClr val="0F172A"/>
          </a:solidFill>
          <a:ln w="9525">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057400" y="3639312"/>
            <a:ext cx="1280160" cy="347472"/>
          </a:xfrm>
          <a:prstGeom prst="rect">
            <a:avLst/>
          </a:prstGeom>
          <a:noFill/>
        </p:spPr>
        <p:txBody>
          <a:bodyPr wrap="square">
            <a:spAutoFit/>
          </a:bodyPr>
          <a:lstStyle/>
          <a:p>
            <a:pPr algn="ctr"/>
            <a:r>
              <a:rPr sz="1000" b="1" i="0">
                <a:solidFill>
                  <a:srgbClr val="06B6D4"/>
                </a:solidFill>
              </a:rPr>
              <a:t>Pipeline</a:t>
            </a:r>
          </a:p>
        </p:txBody>
      </p:sp>
      <p:sp>
        <p:nvSpPr>
          <p:cNvPr id="49" name="TextBox 48"/>
          <p:cNvSpPr txBox="1"/>
          <p:nvPr/>
        </p:nvSpPr>
        <p:spPr>
          <a:xfrm>
            <a:off x="3383280" y="3566160"/>
            <a:ext cx="2743200" cy="502920"/>
          </a:xfrm>
          <a:prstGeom prst="rect">
            <a:avLst/>
          </a:prstGeom>
          <a:noFill/>
        </p:spPr>
        <p:txBody>
          <a:bodyPr wrap="square">
            <a:spAutoFit/>
          </a:bodyPr>
          <a:lstStyle/>
          <a:p>
            <a:pPr algn="l"/>
            <a:r>
              <a:rPr sz="850" b="0" i="0">
                <a:solidFill>
                  <a:srgbClr val="94A3B8"/>
                </a:solidFill>
              </a:rPr>
              <a:t>INT-11 to 15  ·  All 4 stages wired</a:t>
            </a:r>
          </a:p>
        </p:txBody>
      </p:sp>
      <p:sp>
        <p:nvSpPr>
          <p:cNvPr id="50" name="Rounded Rectangle 49"/>
          <p:cNvSpPr/>
          <p:nvPr/>
        </p:nvSpPr>
        <p:spPr>
          <a:xfrm>
            <a:off x="6217920" y="3474720"/>
            <a:ext cx="1280160" cy="658368"/>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217920" y="3639312"/>
            <a:ext cx="1280160" cy="347472"/>
          </a:xfrm>
          <a:prstGeom prst="rect">
            <a:avLst/>
          </a:prstGeom>
          <a:noFill/>
        </p:spPr>
        <p:txBody>
          <a:bodyPr wrap="square">
            <a:spAutoFit/>
          </a:bodyPr>
          <a:lstStyle/>
          <a:p>
            <a:pPr algn="ctr"/>
            <a:r>
              <a:rPr sz="1000" b="1" i="0">
                <a:solidFill>
                  <a:srgbClr val="FFFFFF"/>
                </a:solidFill>
              </a:rPr>
              <a:t>Analyzer</a:t>
            </a:r>
          </a:p>
        </p:txBody>
      </p:sp>
      <p:sp>
        <p:nvSpPr>
          <p:cNvPr id="52" name="Rectangle 51"/>
          <p:cNvSpPr/>
          <p:nvPr/>
        </p:nvSpPr>
        <p:spPr>
          <a:xfrm>
            <a:off x="7543800" y="3767328"/>
            <a:ext cx="411480" cy="7315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507224" y="3639312"/>
            <a:ext cx="411480" cy="320040"/>
          </a:xfrm>
          <a:prstGeom prst="rect">
            <a:avLst/>
          </a:prstGeom>
          <a:noFill/>
        </p:spPr>
        <p:txBody>
          <a:bodyPr wrap="square">
            <a:spAutoFit/>
          </a:bodyPr>
          <a:lstStyle/>
          <a:p>
            <a:pPr algn="ctr"/>
            <a:r>
              <a:rPr sz="1200" b="0" i="0">
                <a:solidFill>
                  <a:srgbClr val="475569"/>
                </a:solidFill>
              </a:rPr>
              <a:t>→</a:t>
            </a:r>
          </a:p>
        </p:txBody>
      </p:sp>
      <p:sp>
        <p:nvSpPr>
          <p:cNvPr id="54" name="Rounded Rectangle 53"/>
          <p:cNvSpPr/>
          <p:nvPr/>
        </p:nvSpPr>
        <p:spPr>
          <a:xfrm>
            <a:off x="8001000" y="3474720"/>
            <a:ext cx="1280160" cy="658368"/>
          </a:xfrm>
          <a:prstGeom prst="roundRect">
            <a:avLst/>
          </a:prstGeom>
          <a:solidFill>
            <a:srgbClr val="0F172A"/>
          </a:solidFill>
          <a:ln w="952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001000" y="3639312"/>
            <a:ext cx="1280160" cy="347472"/>
          </a:xfrm>
          <a:prstGeom prst="rect">
            <a:avLst/>
          </a:prstGeom>
          <a:noFill/>
        </p:spPr>
        <p:txBody>
          <a:bodyPr wrap="square">
            <a:spAutoFit/>
          </a:bodyPr>
          <a:lstStyle/>
          <a:p>
            <a:pPr algn="ctr"/>
            <a:r>
              <a:rPr sz="1000" b="1" i="0">
                <a:solidFill>
                  <a:srgbClr val="059669"/>
                </a:solidFill>
              </a:rPr>
              <a:t>Storage</a:t>
            </a:r>
          </a:p>
        </p:txBody>
      </p:sp>
      <p:sp>
        <p:nvSpPr>
          <p:cNvPr id="56" name="TextBox 55"/>
          <p:cNvSpPr txBox="1"/>
          <p:nvPr/>
        </p:nvSpPr>
        <p:spPr>
          <a:xfrm>
            <a:off x="9326880" y="3566160"/>
            <a:ext cx="2743200" cy="502920"/>
          </a:xfrm>
          <a:prstGeom prst="rect">
            <a:avLst/>
          </a:prstGeom>
          <a:noFill/>
        </p:spPr>
        <p:txBody>
          <a:bodyPr wrap="square">
            <a:spAutoFit/>
          </a:bodyPr>
          <a:lstStyle/>
          <a:p>
            <a:pPr algn="l"/>
            <a:r>
              <a:rPr sz="850" b="0" i="0">
                <a:solidFill>
                  <a:srgbClr val="94A3B8"/>
                </a:solidFill>
              </a:rPr>
              <a:t>INT-16 to 20  ·  Result persisted to SQLite</a:t>
            </a:r>
          </a:p>
        </p:txBody>
      </p:sp>
      <p:sp>
        <p:nvSpPr>
          <p:cNvPr id="57" name="Rounded Rectangle 56"/>
          <p:cNvSpPr/>
          <p:nvPr/>
        </p:nvSpPr>
        <p:spPr>
          <a:xfrm>
            <a:off x="274320" y="4526280"/>
            <a:ext cx="1280160" cy="65836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74320" y="4690872"/>
            <a:ext cx="1280160" cy="347472"/>
          </a:xfrm>
          <a:prstGeom prst="rect">
            <a:avLst/>
          </a:prstGeom>
          <a:noFill/>
        </p:spPr>
        <p:txBody>
          <a:bodyPr wrap="square">
            <a:spAutoFit/>
          </a:bodyPr>
          <a:lstStyle/>
          <a:p>
            <a:pPr algn="ctr"/>
            <a:r>
              <a:rPr sz="1000" b="1" i="0">
                <a:solidFill>
                  <a:srgbClr val="FFFFFF"/>
                </a:solidFill>
              </a:rPr>
              <a:t>API</a:t>
            </a:r>
          </a:p>
        </p:txBody>
      </p:sp>
      <p:sp>
        <p:nvSpPr>
          <p:cNvPr id="59" name="Rectangle 58"/>
          <p:cNvSpPr/>
          <p:nvPr/>
        </p:nvSpPr>
        <p:spPr>
          <a:xfrm>
            <a:off x="1600200" y="4818888"/>
            <a:ext cx="411480" cy="7315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563624" y="4690872"/>
            <a:ext cx="411480" cy="320040"/>
          </a:xfrm>
          <a:prstGeom prst="rect">
            <a:avLst/>
          </a:prstGeom>
          <a:noFill/>
        </p:spPr>
        <p:txBody>
          <a:bodyPr wrap="square">
            <a:spAutoFit/>
          </a:bodyPr>
          <a:lstStyle/>
          <a:p>
            <a:pPr algn="ctr"/>
            <a:r>
              <a:rPr sz="1200" b="0" i="0">
                <a:solidFill>
                  <a:srgbClr val="475569"/>
                </a:solidFill>
              </a:rPr>
              <a:t>→</a:t>
            </a:r>
          </a:p>
        </p:txBody>
      </p:sp>
      <p:sp>
        <p:nvSpPr>
          <p:cNvPr id="61" name="Rounded Rectangle 60"/>
          <p:cNvSpPr/>
          <p:nvPr/>
        </p:nvSpPr>
        <p:spPr>
          <a:xfrm>
            <a:off x="2057400" y="4526280"/>
            <a:ext cx="1280160" cy="658368"/>
          </a:xfrm>
          <a:prstGeom prst="roundRect">
            <a:avLst/>
          </a:prstGeom>
          <a:solidFill>
            <a:srgbClr val="0F172A"/>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057400" y="4690872"/>
            <a:ext cx="1280160" cy="347472"/>
          </a:xfrm>
          <a:prstGeom prst="rect">
            <a:avLst/>
          </a:prstGeom>
          <a:noFill/>
        </p:spPr>
        <p:txBody>
          <a:bodyPr wrap="square">
            <a:spAutoFit/>
          </a:bodyPr>
          <a:lstStyle/>
          <a:p>
            <a:pPr algn="ctr"/>
            <a:r>
              <a:rPr sz="1000" b="1" i="0">
                <a:solidFill>
                  <a:srgbClr val="D97706"/>
                </a:solidFill>
              </a:rPr>
              <a:t>Analyzer</a:t>
            </a:r>
          </a:p>
        </p:txBody>
      </p:sp>
      <p:sp>
        <p:nvSpPr>
          <p:cNvPr id="63" name="TextBox 62"/>
          <p:cNvSpPr txBox="1"/>
          <p:nvPr/>
        </p:nvSpPr>
        <p:spPr>
          <a:xfrm>
            <a:off x="3383280" y="4617720"/>
            <a:ext cx="2743200" cy="502920"/>
          </a:xfrm>
          <a:prstGeom prst="rect">
            <a:avLst/>
          </a:prstGeom>
          <a:noFill/>
        </p:spPr>
        <p:txBody>
          <a:bodyPr wrap="square">
            <a:spAutoFit/>
          </a:bodyPr>
          <a:lstStyle/>
          <a:p>
            <a:pPr algn="l"/>
            <a:r>
              <a:rPr sz="850" b="0" i="0">
                <a:solidFill>
                  <a:srgbClr val="94A3B8"/>
                </a:solidFill>
              </a:rPr>
              <a:t>INT-21 to 25  ·  POST /analyze calls pipeline</a:t>
            </a:r>
          </a:p>
        </p:txBody>
      </p:sp>
      <p:sp>
        <p:nvSpPr>
          <p:cNvPr id="64" name="Rounded Rectangle 63"/>
          <p:cNvSpPr/>
          <p:nvPr/>
        </p:nvSpPr>
        <p:spPr>
          <a:xfrm>
            <a:off x="6217920" y="4526280"/>
            <a:ext cx="1280160" cy="65836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217920" y="4690872"/>
            <a:ext cx="1280160" cy="347472"/>
          </a:xfrm>
          <a:prstGeom prst="rect">
            <a:avLst/>
          </a:prstGeom>
          <a:noFill/>
        </p:spPr>
        <p:txBody>
          <a:bodyPr wrap="square">
            <a:spAutoFit/>
          </a:bodyPr>
          <a:lstStyle/>
          <a:p>
            <a:pPr algn="ctr"/>
            <a:r>
              <a:rPr sz="1000" b="1" i="0">
                <a:solidFill>
                  <a:srgbClr val="FFFFFF"/>
                </a:solidFill>
              </a:rPr>
              <a:t>API</a:t>
            </a:r>
          </a:p>
        </p:txBody>
      </p:sp>
      <p:sp>
        <p:nvSpPr>
          <p:cNvPr id="66" name="Rectangle 65"/>
          <p:cNvSpPr/>
          <p:nvPr/>
        </p:nvSpPr>
        <p:spPr>
          <a:xfrm>
            <a:off x="7543800" y="4818888"/>
            <a:ext cx="411480" cy="7315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507224" y="4690872"/>
            <a:ext cx="411480" cy="320040"/>
          </a:xfrm>
          <a:prstGeom prst="rect">
            <a:avLst/>
          </a:prstGeom>
          <a:noFill/>
        </p:spPr>
        <p:txBody>
          <a:bodyPr wrap="square">
            <a:spAutoFit/>
          </a:bodyPr>
          <a:lstStyle/>
          <a:p>
            <a:pPr algn="ctr"/>
            <a:r>
              <a:rPr sz="1200" b="0" i="0">
                <a:solidFill>
                  <a:srgbClr val="475569"/>
                </a:solidFill>
              </a:rPr>
              <a:t>→</a:t>
            </a:r>
          </a:p>
        </p:txBody>
      </p:sp>
      <p:sp>
        <p:nvSpPr>
          <p:cNvPr id="68" name="Rounded Rectangle 67"/>
          <p:cNvSpPr/>
          <p:nvPr/>
        </p:nvSpPr>
        <p:spPr>
          <a:xfrm>
            <a:off x="8001000" y="4526280"/>
            <a:ext cx="1280160" cy="658368"/>
          </a:xfrm>
          <a:prstGeom prst="roundRect">
            <a:avLst/>
          </a:prstGeom>
          <a:solidFill>
            <a:srgbClr val="0F172A"/>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001000" y="4690872"/>
            <a:ext cx="1280160" cy="347472"/>
          </a:xfrm>
          <a:prstGeom prst="rect">
            <a:avLst/>
          </a:prstGeom>
          <a:noFill/>
        </p:spPr>
        <p:txBody>
          <a:bodyPr wrap="square">
            <a:spAutoFit/>
          </a:bodyPr>
          <a:lstStyle/>
          <a:p>
            <a:pPr algn="ctr"/>
            <a:r>
              <a:rPr sz="1000" b="1" i="0">
                <a:solidFill>
                  <a:srgbClr val="EA580C"/>
                </a:solidFill>
              </a:rPr>
              <a:t>Mailer</a:t>
            </a:r>
          </a:p>
        </p:txBody>
      </p:sp>
      <p:sp>
        <p:nvSpPr>
          <p:cNvPr id="70" name="TextBox 69"/>
          <p:cNvSpPr txBox="1"/>
          <p:nvPr/>
        </p:nvSpPr>
        <p:spPr>
          <a:xfrm>
            <a:off x="9326880" y="4617720"/>
            <a:ext cx="2743200" cy="502920"/>
          </a:xfrm>
          <a:prstGeom prst="rect">
            <a:avLst/>
          </a:prstGeom>
          <a:noFill/>
        </p:spPr>
        <p:txBody>
          <a:bodyPr wrap="square">
            <a:spAutoFit/>
          </a:bodyPr>
          <a:lstStyle/>
          <a:p>
            <a:pPr algn="l"/>
            <a:r>
              <a:rPr sz="850" b="0" i="0">
                <a:solidFill>
                  <a:srgbClr val="94A3B8"/>
                </a:solidFill>
              </a:rPr>
              <a:t>INT-26 to 30  ·  SMTP send + error path</a:t>
            </a:r>
          </a:p>
        </p:txBody>
      </p:sp>
      <p:sp>
        <p:nvSpPr>
          <p:cNvPr id="71" name="Rounded Rectangle 70"/>
          <p:cNvSpPr/>
          <p:nvPr/>
        </p:nvSpPr>
        <p:spPr>
          <a:xfrm>
            <a:off x="274320" y="5577840"/>
            <a:ext cx="1280160" cy="65836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274320" y="5742432"/>
            <a:ext cx="1280160" cy="347472"/>
          </a:xfrm>
          <a:prstGeom prst="rect">
            <a:avLst/>
          </a:prstGeom>
          <a:noFill/>
        </p:spPr>
        <p:txBody>
          <a:bodyPr wrap="square">
            <a:spAutoFit/>
          </a:bodyPr>
          <a:lstStyle/>
          <a:p>
            <a:pPr algn="ctr"/>
            <a:r>
              <a:rPr sz="1000" b="1" i="0">
                <a:solidFill>
                  <a:srgbClr val="FFFFFF"/>
                </a:solidFill>
              </a:rPr>
              <a:t>UI</a:t>
            </a:r>
          </a:p>
        </p:txBody>
      </p:sp>
      <p:sp>
        <p:nvSpPr>
          <p:cNvPr id="73" name="Rectangle 72"/>
          <p:cNvSpPr/>
          <p:nvPr/>
        </p:nvSpPr>
        <p:spPr>
          <a:xfrm>
            <a:off x="1600200" y="5870448"/>
            <a:ext cx="411480" cy="7315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1563624" y="5742432"/>
            <a:ext cx="411480" cy="320040"/>
          </a:xfrm>
          <a:prstGeom prst="rect">
            <a:avLst/>
          </a:prstGeom>
          <a:noFill/>
        </p:spPr>
        <p:txBody>
          <a:bodyPr wrap="square">
            <a:spAutoFit/>
          </a:bodyPr>
          <a:lstStyle/>
          <a:p>
            <a:pPr algn="ctr"/>
            <a:r>
              <a:rPr sz="1200" b="0" i="0">
                <a:solidFill>
                  <a:srgbClr val="475569"/>
                </a:solidFill>
              </a:rPr>
              <a:t>→</a:t>
            </a:r>
          </a:p>
        </p:txBody>
      </p:sp>
      <p:sp>
        <p:nvSpPr>
          <p:cNvPr id="75" name="Rounded Rectangle 74"/>
          <p:cNvSpPr/>
          <p:nvPr/>
        </p:nvSpPr>
        <p:spPr>
          <a:xfrm>
            <a:off x="2057400" y="5577840"/>
            <a:ext cx="1280160" cy="658368"/>
          </a:xfrm>
          <a:prstGeom prst="roundRect">
            <a:avLst/>
          </a:prstGeom>
          <a:solidFill>
            <a:srgbClr val="0F172A"/>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2057400" y="5742432"/>
            <a:ext cx="1280160" cy="347472"/>
          </a:xfrm>
          <a:prstGeom prst="rect">
            <a:avLst/>
          </a:prstGeom>
          <a:noFill/>
        </p:spPr>
        <p:txBody>
          <a:bodyPr wrap="square">
            <a:spAutoFit/>
          </a:bodyPr>
          <a:lstStyle/>
          <a:p>
            <a:pPr algn="ctr"/>
            <a:r>
              <a:rPr sz="1000" b="1" i="0">
                <a:solidFill>
                  <a:srgbClr val="7C3AED"/>
                </a:solidFill>
              </a:rPr>
              <a:t>Analyzer</a:t>
            </a:r>
          </a:p>
        </p:txBody>
      </p:sp>
      <p:sp>
        <p:nvSpPr>
          <p:cNvPr id="77" name="TextBox 76"/>
          <p:cNvSpPr txBox="1"/>
          <p:nvPr/>
        </p:nvSpPr>
        <p:spPr>
          <a:xfrm>
            <a:off x="3383280" y="5669280"/>
            <a:ext cx="2743200" cy="502920"/>
          </a:xfrm>
          <a:prstGeom prst="rect">
            <a:avLst/>
          </a:prstGeom>
          <a:noFill/>
        </p:spPr>
        <p:txBody>
          <a:bodyPr wrap="square">
            <a:spAutoFit/>
          </a:bodyPr>
          <a:lstStyle/>
          <a:p>
            <a:pPr algn="l"/>
            <a:r>
              <a:rPr sz="850" b="0" i="0">
                <a:solidFill>
                  <a:srgbClr val="94A3B8"/>
                </a:solidFill>
              </a:rPr>
              <a:t>INT-31 to 34  ·  Form submit → output</a:t>
            </a:r>
          </a:p>
        </p:txBody>
      </p:sp>
      <p:sp>
        <p:nvSpPr>
          <p:cNvPr id="78" name="Rounded Rectangle 77"/>
          <p:cNvSpPr/>
          <p:nvPr/>
        </p:nvSpPr>
        <p:spPr>
          <a:xfrm>
            <a:off x="6217920" y="5577840"/>
            <a:ext cx="1280160" cy="658368"/>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217920" y="5742432"/>
            <a:ext cx="1280160" cy="347472"/>
          </a:xfrm>
          <a:prstGeom prst="rect">
            <a:avLst/>
          </a:prstGeom>
          <a:noFill/>
        </p:spPr>
        <p:txBody>
          <a:bodyPr wrap="square">
            <a:spAutoFit/>
          </a:bodyPr>
          <a:lstStyle/>
          <a:p>
            <a:pPr algn="ctr"/>
            <a:r>
              <a:rPr sz="1000" b="1" i="0">
                <a:solidFill>
                  <a:srgbClr val="FFFFFF"/>
                </a:solidFill>
              </a:rPr>
              <a:t>UI</a:t>
            </a:r>
          </a:p>
        </p:txBody>
      </p:sp>
      <p:sp>
        <p:nvSpPr>
          <p:cNvPr id="80" name="Rectangle 79"/>
          <p:cNvSpPr/>
          <p:nvPr/>
        </p:nvSpPr>
        <p:spPr>
          <a:xfrm>
            <a:off x="7543800" y="5870448"/>
            <a:ext cx="411480" cy="7315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507224" y="5742432"/>
            <a:ext cx="411480" cy="320040"/>
          </a:xfrm>
          <a:prstGeom prst="rect">
            <a:avLst/>
          </a:prstGeom>
          <a:noFill/>
        </p:spPr>
        <p:txBody>
          <a:bodyPr wrap="square">
            <a:spAutoFit/>
          </a:bodyPr>
          <a:lstStyle/>
          <a:p>
            <a:pPr algn="ctr"/>
            <a:r>
              <a:rPr sz="1200" b="0" i="0">
                <a:solidFill>
                  <a:srgbClr val="475569"/>
                </a:solidFill>
              </a:rPr>
              <a:t>→</a:t>
            </a:r>
          </a:p>
        </p:txBody>
      </p:sp>
      <p:sp>
        <p:nvSpPr>
          <p:cNvPr id="82" name="Rounded Rectangle 81"/>
          <p:cNvSpPr/>
          <p:nvPr/>
        </p:nvSpPr>
        <p:spPr>
          <a:xfrm>
            <a:off x="8001000" y="5577840"/>
            <a:ext cx="1280160" cy="658368"/>
          </a:xfrm>
          <a:prstGeom prst="roundRect">
            <a:avLst/>
          </a:prstGeom>
          <a:solidFill>
            <a:srgbClr val="0F172A"/>
          </a:solidFill>
          <a:ln w="9525">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001000" y="5742432"/>
            <a:ext cx="1280160" cy="347472"/>
          </a:xfrm>
          <a:prstGeom prst="rect">
            <a:avLst/>
          </a:prstGeom>
          <a:noFill/>
        </p:spPr>
        <p:txBody>
          <a:bodyPr wrap="square">
            <a:spAutoFit/>
          </a:bodyPr>
          <a:lstStyle/>
          <a:p>
            <a:pPr algn="ctr"/>
            <a:r>
              <a:rPr sz="1000" b="1" i="0">
                <a:solidFill>
                  <a:srgbClr val="06B6D4"/>
                </a:solidFill>
              </a:rPr>
              <a:t>History</a:t>
            </a:r>
          </a:p>
        </p:txBody>
      </p:sp>
      <p:sp>
        <p:nvSpPr>
          <p:cNvPr id="84" name="TextBox 83"/>
          <p:cNvSpPr txBox="1"/>
          <p:nvPr/>
        </p:nvSpPr>
        <p:spPr>
          <a:xfrm>
            <a:off x="9326880" y="5669280"/>
            <a:ext cx="2743200" cy="502920"/>
          </a:xfrm>
          <a:prstGeom prst="rect">
            <a:avLst/>
          </a:prstGeom>
          <a:noFill/>
        </p:spPr>
        <p:txBody>
          <a:bodyPr wrap="square">
            <a:spAutoFit/>
          </a:bodyPr>
          <a:lstStyle/>
          <a:p>
            <a:pPr algn="l"/>
            <a:r>
              <a:rPr sz="850" b="0" i="0">
                <a:solidFill>
                  <a:srgbClr val="94A3B8"/>
                </a:solidFill>
              </a:rPr>
              <a:t>INT-35 to 37  ·  Result → session state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System Testing</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55 end-to-end black-box test cases</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14</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274320" y="1051560"/>
            <a:ext cx="182880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51560"/>
            <a:ext cx="182880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188720"/>
            <a:ext cx="1554480" cy="548640"/>
          </a:xfrm>
          <a:prstGeom prst="rect">
            <a:avLst/>
          </a:prstGeom>
          <a:noFill/>
        </p:spPr>
        <p:txBody>
          <a:bodyPr wrap="square">
            <a:spAutoFit/>
          </a:bodyPr>
          <a:lstStyle/>
          <a:p>
            <a:pPr algn="ctr"/>
            <a:r>
              <a:rPr sz="2800" b="1" i="0">
                <a:solidFill>
                  <a:srgbClr val="2563EB"/>
                </a:solidFill>
              </a:rPr>
              <a:t>55</a:t>
            </a:r>
          </a:p>
        </p:txBody>
      </p:sp>
      <p:sp>
        <p:nvSpPr>
          <p:cNvPr id="12" name="TextBox 11"/>
          <p:cNvSpPr txBox="1"/>
          <p:nvPr/>
        </p:nvSpPr>
        <p:spPr>
          <a:xfrm>
            <a:off x="365760" y="1709928"/>
            <a:ext cx="1645920" cy="274320"/>
          </a:xfrm>
          <a:prstGeom prst="rect">
            <a:avLst/>
          </a:prstGeom>
          <a:noFill/>
        </p:spPr>
        <p:txBody>
          <a:bodyPr wrap="square">
            <a:spAutoFit/>
          </a:bodyPr>
          <a:lstStyle/>
          <a:p>
            <a:pPr algn="ctr"/>
            <a:r>
              <a:rPr sz="1000" b="1" i="0">
                <a:solidFill>
                  <a:srgbClr val="FFFFFF"/>
                </a:solidFill>
              </a:rPr>
              <a:t>Test Cases</a:t>
            </a:r>
          </a:p>
        </p:txBody>
      </p:sp>
      <p:sp>
        <p:nvSpPr>
          <p:cNvPr id="13" name="Rounded Rectangle 12"/>
          <p:cNvSpPr/>
          <p:nvPr/>
        </p:nvSpPr>
        <p:spPr>
          <a:xfrm>
            <a:off x="2240280" y="1051560"/>
            <a:ext cx="182880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240280" y="1051560"/>
            <a:ext cx="182880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77440" y="1188720"/>
            <a:ext cx="1554480" cy="548640"/>
          </a:xfrm>
          <a:prstGeom prst="rect">
            <a:avLst/>
          </a:prstGeom>
          <a:noFill/>
        </p:spPr>
        <p:txBody>
          <a:bodyPr wrap="square">
            <a:spAutoFit/>
          </a:bodyPr>
          <a:lstStyle/>
          <a:p>
            <a:pPr algn="ctr"/>
            <a:r>
              <a:rPr sz="2800" b="1" i="0">
                <a:solidFill>
                  <a:srgbClr val="059669"/>
                </a:solidFill>
              </a:rPr>
              <a:t>55</a:t>
            </a:r>
          </a:p>
        </p:txBody>
      </p:sp>
      <p:sp>
        <p:nvSpPr>
          <p:cNvPr id="16" name="TextBox 15"/>
          <p:cNvSpPr txBox="1"/>
          <p:nvPr/>
        </p:nvSpPr>
        <p:spPr>
          <a:xfrm>
            <a:off x="2331720" y="1709928"/>
            <a:ext cx="1645920" cy="274320"/>
          </a:xfrm>
          <a:prstGeom prst="rect">
            <a:avLst/>
          </a:prstGeom>
          <a:noFill/>
        </p:spPr>
        <p:txBody>
          <a:bodyPr wrap="square">
            <a:spAutoFit/>
          </a:bodyPr>
          <a:lstStyle/>
          <a:p>
            <a:pPr algn="ctr"/>
            <a:r>
              <a:rPr sz="1000" b="1" i="0">
                <a:solidFill>
                  <a:srgbClr val="FFFFFF"/>
                </a:solidFill>
              </a:rPr>
              <a:t>Passed</a:t>
            </a:r>
          </a:p>
        </p:txBody>
      </p:sp>
      <p:sp>
        <p:nvSpPr>
          <p:cNvPr id="17" name="TextBox 16"/>
          <p:cNvSpPr txBox="1"/>
          <p:nvPr/>
        </p:nvSpPr>
        <p:spPr>
          <a:xfrm>
            <a:off x="2331720" y="1947672"/>
            <a:ext cx="1645920" cy="320040"/>
          </a:xfrm>
          <a:prstGeom prst="rect">
            <a:avLst/>
          </a:prstGeom>
          <a:noFill/>
        </p:spPr>
        <p:txBody>
          <a:bodyPr wrap="square">
            <a:spAutoFit/>
          </a:bodyPr>
          <a:lstStyle/>
          <a:p>
            <a:pPr algn="ctr"/>
            <a:r>
              <a:rPr sz="800" b="0" i="0">
                <a:solidFill>
                  <a:srgbClr val="94A3B8"/>
                </a:solidFill>
              </a:rPr>
              <a:t>100%</a:t>
            </a:r>
          </a:p>
        </p:txBody>
      </p:sp>
      <p:sp>
        <p:nvSpPr>
          <p:cNvPr id="18" name="Rounded Rectangle 17"/>
          <p:cNvSpPr/>
          <p:nvPr/>
        </p:nvSpPr>
        <p:spPr>
          <a:xfrm>
            <a:off x="4206240" y="1051560"/>
            <a:ext cx="182880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206240" y="1051560"/>
            <a:ext cx="182880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43400" y="1188720"/>
            <a:ext cx="1554480" cy="548640"/>
          </a:xfrm>
          <a:prstGeom prst="rect">
            <a:avLst/>
          </a:prstGeom>
          <a:noFill/>
        </p:spPr>
        <p:txBody>
          <a:bodyPr wrap="square">
            <a:spAutoFit/>
          </a:bodyPr>
          <a:lstStyle/>
          <a:p>
            <a:pPr algn="ctr"/>
            <a:r>
              <a:rPr sz="2800" b="1" i="0">
                <a:solidFill>
                  <a:srgbClr val="7C3AED"/>
                </a:solidFill>
              </a:rPr>
              <a:t>11</a:t>
            </a:r>
          </a:p>
        </p:txBody>
      </p:sp>
      <p:sp>
        <p:nvSpPr>
          <p:cNvPr id="21" name="TextBox 20"/>
          <p:cNvSpPr txBox="1"/>
          <p:nvPr/>
        </p:nvSpPr>
        <p:spPr>
          <a:xfrm>
            <a:off x="4297680" y="1709928"/>
            <a:ext cx="1645920" cy="274320"/>
          </a:xfrm>
          <a:prstGeom prst="rect">
            <a:avLst/>
          </a:prstGeom>
          <a:noFill/>
        </p:spPr>
        <p:txBody>
          <a:bodyPr wrap="square">
            <a:spAutoFit/>
          </a:bodyPr>
          <a:lstStyle/>
          <a:p>
            <a:pPr algn="ctr"/>
            <a:r>
              <a:rPr sz="1000" b="1" i="0">
                <a:solidFill>
                  <a:srgbClr val="FFFFFF"/>
                </a:solidFill>
              </a:rPr>
              <a:t>Categories</a:t>
            </a:r>
          </a:p>
        </p:txBody>
      </p:sp>
      <p:sp>
        <p:nvSpPr>
          <p:cNvPr id="22" name="TextBox 21"/>
          <p:cNvSpPr txBox="1"/>
          <p:nvPr/>
        </p:nvSpPr>
        <p:spPr>
          <a:xfrm>
            <a:off x="4297680" y="1947672"/>
            <a:ext cx="1645920" cy="320040"/>
          </a:xfrm>
          <a:prstGeom prst="rect">
            <a:avLst/>
          </a:prstGeom>
          <a:noFill/>
        </p:spPr>
        <p:txBody>
          <a:bodyPr wrap="square">
            <a:spAutoFit/>
          </a:bodyPr>
          <a:lstStyle/>
          <a:p>
            <a:pPr algn="ctr"/>
            <a:r>
              <a:rPr sz="800" b="0" i="0">
                <a:solidFill>
                  <a:srgbClr val="94A3B8"/>
                </a:solidFill>
              </a:rPr>
              <a:t>Auth · API · Perf · Security · Compat</a:t>
            </a:r>
          </a:p>
        </p:txBody>
      </p:sp>
      <p:sp>
        <p:nvSpPr>
          <p:cNvPr id="23" name="Rounded Rectangle 22"/>
          <p:cNvSpPr/>
          <p:nvPr/>
        </p:nvSpPr>
        <p:spPr>
          <a:xfrm>
            <a:off x="6172200" y="1051560"/>
            <a:ext cx="182880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172200" y="1051560"/>
            <a:ext cx="1828800"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9360" y="1188720"/>
            <a:ext cx="1554480" cy="548640"/>
          </a:xfrm>
          <a:prstGeom prst="rect">
            <a:avLst/>
          </a:prstGeom>
          <a:noFill/>
        </p:spPr>
        <p:txBody>
          <a:bodyPr wrap="square">
            <a:spAutoFit/>
          </a:bodyPr>
          <a:lstStyle/>
          <a:p>
            <a:pPr algn="ctr"/>
            <a:r>
              <a:rPr sz="2800" b="1" i="0">
                <a:solidFill>
                  <a:srgbClr val="D97706"/>
                </a:solidFill>
              </a:rPr>
              <a:t>4</a:t>
            </a:r>
          </a:p>
        </p:txBody>
      </p:sp>
      <p:sp>
        <p:nvSpPr>
          <p:cNvPr id="26" name="TextBox 25"/>
          <p:cNvSpPr txBox="1"/>
          <p:nvPr/>
        </p:nvSpPr>
        <p:spPr>
          <a:xfrm>
            <a:off x="6263640" y="1709928"/>
            <a:ext cx="1645920" cy="274320"/>
          </a:xfrm>
          <a:prstGeom prst="rect">
            <a:avLst/>
          </a:prstGeom>
          <a:noFill/>
        </p:spPr>
        <p:txBody>
          <a:bodyPr wrap="square">
            <a:spAutoFit/>
          </a:bodyPr>
          <a:lstStyle/>
          <a:p>
            <a:pPr algn="ctr"/>
            <a:r>
              <a:rPr sz="1000" b="1" i="0">
                <a:solidFill>
                  <a:srgbClr val="FFFFFF"/>
                </a:solidFill>
              </a:rPr>
              <a:t>Defects</a:t>
            </a:r>
          </a:p>
        </p:txBody>
      </p:sp>
      <p:sp>
        <p:nvSpPr>
          <p:cNvPr id="27" name="TextBox 26"/>
          <p:cNvSpPr txBox="1"/>
          <p:nvPr/>
        </p:nvSpPr>
        <p:spPr>
          <a:xfrm>
            <a:off x="6263640" y="1947672"/>
            <a:ext cx="1645920" cy="320040"/>
          </a:xfrm>
          <a:prstGeom prst="rect">
            <a:avLst/>
          </a:prstGeom>
          <a:noFill/>
        </p:spPr>
        <p:txBody>
          <a:bodyPr wrap="square">
            <a:spAutoFit/>
          </a:bodyPr>
          <a:lstStyle/>
          <a:p>
            <a:pPr algn="ctr"/>
            <a:r>
              <a:rPr sz="800" b="0" i="0">
                <a:solidFill>
                  <a:srgbClr val="94A3B8"/>
                </a:solidFill>
              </a:rPr>
              <a:t>Minor/Info — all triaged</a:t>
            </a:r>
          </a:p>
        </p:txBody>
      </p:sp>
      <p:sp>
        <p:nvSpPr>
          <p:cNvPr id="28" name="Rounded Rectangle 27"/>
          <p:cNvSpPr/>
          <p:nvPr/>
        </p:nvSpPr>
        <p:spPr>
          <a:xfrm>
            <a:off x="274320" y="2450592"/>
            <a:ext cx="1051560"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4320" y="2487168"/>
            <a:ext cx="1051560" cy="274320"/>
          </a:xfrm>
          <a:prstGeom prst="rect">
            <a:avLst/>
          </a:prstGeom>
          <a:noFill/>
        </p:spPr>
        <p:txBody>
          <a:bodyPr wrap="square">
            <a:spAutoFit/>
          </a:bodyPr>
          <a:lstStyle/>
          <a:p>
            <a:pPr algn="ctr"/>
            <a:r>
              <a:rPr sz="900" b="1" i="0">
                <a:solidFill>
                  <a:srgbClr val="FFFFFF"/>
                </a:solidFill>
              </a:rPr>
              <a:t>Open App</a:t>
            </a:r>
          </a:p>
        </p:txBody>
      </p:sp>
      <p:sp>
        <p:nvSpPr>
          <p:cNvPr id="30" name="TextBox 29"/>
          <p:cNvSpPr txBox="1"/>
          <p:nvPr/>
        </p:nvSpPr>
        <p:spPr>
          <a:xfrm>
            <a:off x="274320" y="2752344"/>
            <a:ext cx="1051560" cy="228600"/>
          </a:xfrm>
          <a:prstGeom prst="rect">
            <a:avLst/>
          </a:prstGeom>
          <a:noFill/>
        </p:spPr>
        <p:txBody>
          <a:bodyPr wrap="square">
            <a:spAutoFit/>
          </a:bodyPr>
          <a:lstStyle/>
          <a:p>
            <a:pPr algn="ctr"/>
            <a:r>
              <a:rPr sz="700" b="0" i="0">
                <a:solidFill>
                  <a:srgbClr val="E2E8F0"/>
                </a:solidFill>
              </a:rPr>
              <a:t>Browser → localhost</a:t>
            </a:r>
          </a:p>
        </p:txBody>
      </p:sp>
      <p:sp>
        <p:nvSpPr>
          <p:cNvPr id="31" name="TextBox 30"/>
          <p:cNvSpPr txBox="1"/>
          <p:nvPr/>
        </p:nvSpPr>
        <p:spPr>
          <a:xfrm>
            <a:off x="1325880" y="2560320"/>
            <a:ext cx="274320" cy="329184"/>
          </a:xfrm>
          <a:prstGeom prst="rect">
            <a:avLst/>
          </a:prstGeom>
          <a:noFill/>
        </p:spPr>
        <p:txBody>
          <a:bodyPr wrap="square">
            <a:spAutoFit/>
          </a:bodyPr>
          <a:lstStyle/>
          <a:p>
            <a:pPr algn="ctr"/>
            <a:r>
              <a:rPr sz="1200" b="0" i="0">
                <a:solidFill>
                  <a:srgbClr val="475569"/>
                </a:solidFill>
              </a:rPr>
              <a:t>→</a:t>
            </a:r>
          </a:p>
        </p:txBody>
      </p:sp>
      <p:sp>
        <p:nvSpPr>
          <p:cNvPr id="32" name="Rounded Rectangle 31"/>
          <p:cNvSpPr/>
          <p:nvPr/>
        </p:nvSpPr>
        <p:spPr>
          <a:xfrm>
            <a:off x="1627632" y="2450592"/>
            <a:ext cx="1051560" cy="54864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627632" y="2487168"/>
            <a:ext cx="1051560" cy="274320"/>
          </a:xfrm>
          <a:prstGeom prst="rect">
            <a:avLst/>
          </a:prstGeom>
          <a:noFill/>
        </p:spPr>
        <p:txBody>
          <a:bodyPr wrap="square">
            <a:spAutoFit/>
          </a:bodyPr>
          <a:lstStyle/>
          <a:p>
            <a:pPr algn="ctr"/>
            <a:r>
              <a:rPr sz="900" b="1" i="0">
                <a:solidFill>
                  <a:srgbClr val="FFFFFF"/>
                </a:solidFill>
              </a:rPr>
              <a:t>Login</a:t>
            </a:r>
          </a:p>
        </p:txBody>
      </p:sp>
      <p:sp>
        <p:nvSpPr>
          <p:cNvPr id="34" name="TextBox 33"/>
          <p:cNvSpPr txBox="1"/>
          <p:nvPr/>
        </p:nvSpPr>
        <p:spPr>
          <a:xfrm>
            <a:off x="1627632" y="2752344"/>
            <a:ext cx="1051560" cy="228600"/>
          </a:xfrm>
          <a:prstGeom prst="rect">
            <a:avLst/>
          </a:prstGeom>
          <a:noFill/>
        </p:spPr>
        <p:txBody>
          <a:bodyPr wrap="square">
            <a:spAutoFit/>
          </a:bodyPr>
          <a:lstStyle/>
          <a:p>
            <a:pPr algn="ctr"/>
            <a:r>
              <a:rPr sz="700" b="0" i="0">
                <a:solidFill>
                  <a:srgbClr val="E2E8F0"/>
                </a:solidFill>
              </a:rPr>
              <a:t>Demo account</a:t>
            </a:r>
          </a:p>
        </p:txBody>
      </p:sp>
      <p:sp>
        <p:nvSpPr>
          <p:cNvPr id="35" name="TextBox 34"/>
          <p:cNvSpPr txBox="1"/>
          <p:nvPr/>
        </p:nvSpPr>
        <p:spPr>
          <a:xfrm>
            <a:off x="2679192" y="2560320"/>
            <a:ext cx="274320" cy="329184"/>
          </a:xfrm>
          <a:prstGeom prst="rect">
            <a:avLst/>
          </a:prstGeom>
          <a:noFill/>
        </p:spPr>
        <p:txBody>
          <a:bodyPr wrap="square">
            <a:spAutoFit/>
          </a:bodyPr>
          <a:lstStyle/>
          <a:p>
            <a:pPr algn="ctr"/>
            <a:r>
              <a:rPr sz="1200" b="0" i="0">
                <a:solidFill>
                  <a:srgbClr val="475569"/>
                </a:solidFill>
              </a:rPr>
              <a:t>→</a:t>
            </a:r>
          </a:p>
        </p:txBody>
      </p:sp>
      <p:sp>
        <p:nvSpPr>
          <p:cNvPr id="36" name="Rounded Rectangle 35"/>
          <p:cNvSpPr/>
          <p:nvPr/>
        </p:nvSpPr>
        <p:spPr>
          <a:xfrm>
            <a:off x="2980944" y="2450592"/>
            <a:ext cx="1051560" cy="5486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980944" y="2487168"/>
            <a:ext cx="1051560" cy="274320"/>
          </a:xfrm>
          <a:prstGeom prst="rect">
            <a:avLst/>
          </a:prstGeom>
          <a:noFill/>
        </p:spPr>
        <p:txBody>
          <a:bodyPr wrap="square">
            <a:spAutoFit/>
          </a:bodyPr>
          <a:lstStyle/>
          <a:p>
            <a:pPr algn="ctr"/>
            <a:r>
              <a:rPr sz="900" b="1" i="0">
                <a:solidFill>
                  <a:srgbClr val="FFFFFF"/>
                </a:solidFill>
              </a:rPr>
              <a:t>Load Sample</a:t>
            </a:r>
          </a:p>
        </p:txBody>
      </p:sp>
      <p:sp>
        <p:nvSpPr>
          <p:cNvPr id="38" name="TextBox 37"/>
          <p:cNvSpPr txBox="1"/>
          <p:nvPr/>
        </p:nvSpPr>
        <p:spPr>
          <a:xfrm>
            <a:off x="2980944" y="2752344"/>
            <a:ext cx="1051560" cy="228600"/>
          </a:xfrm>
          <a:prstGeom prst="rect">
            <a:avLst/>
          </a:prstGeom>
          <a:noFill/>
        </p:spPr>
        <p:txBody>
          <a:bodyPr wrap="square">
            <a:spAutoFit/>
          </a:bodyPr>
          <a:lstStyle/>
          <a:p>
            <a:pPr algn="ctr"/>
            <a:r>
              <a:rPr sz="700" b="0" i="0">
                <a:solidFill>
                  <a:srgbClr val="E2E8F0"/>
                </a:solidFill>
              </a:rPr>
              <a:t>Sidebar selector</a:t>
            </a:r>
          </a:p>
        </p:txBody>
      </p:sp>
      <p:sp>
        <p:nvSpPr>
          <p:cNvPr id="39" name="TextBox 38"/>
          <p:cNvSpPr txBox="1"/>
          <p:nvPr/>
        </p:nvSpPr>
        <p:spPr>
          <a:xfrm>
            <a:off x="4032504" y="2560320"/>
            <a:ext cx="274320" cy="329184"/>
          </a:xfrm>
          <a:prstGeom prst="rect">
            <a:avLst/>
          </a:prstGeom>
          <a:noFill/>
        </p:spPr>
        <p:txBody>
          <a:bodyPr wrap="square">
            <a:spAutoFit/>
          </a:bodyPr>
          <a:lstStyle/>
          <a:p>
            <a:pPr algn="ctr"/>
            <a:r>
              <a:rPr sz="1200" b="0" i="0">
                <a:solidFill>
                  <a:srgbClr val="475569"/>
                </a:solidFill>
              </a:rPr>
              <a:t>→</a:t>
            </a:r>
          </a:p>
        </p:txBody>
      </p:sp>
      <p:sp>
        <p:nvSpPr>
          <p:cNvPr id="40" name="Rounded Rectangle 39"/>
          <p:cNvSpPr/>
          <p:nvPr/>
        </p:nvSpPr>
        <p:spPr>
          <a:xfrm>
            <a:off x="4334256" y="2450592"/>
            <a:ext cx="1051560"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334256" y="2487168"/>
            <a:ext cx="1051560" cy="274320"/>
          </a:xfrm>
          <a:prstGeom prst="rect">
            <a:avLst/>
          </a:prstGeom>
          <a:noFill/>
        </p:spPr>
        <p:txBody>
          <a:bodyPr wrap="square">
            <a:spAutoFit/>
          </a:bodyPr>
          <a:lstStyle/>
          <a:p>
            <a:pPr algn="ctr"/>
            <a:r>
              <a:rPr sz="900" b="1" i="0">
                <a:solidFill>
                  <a:srgbClr val="FFFFFF"/>
                </a:solidFill>
              </a:rPr>
              <a:t>Fill Form</a:t>
            </a:r>
          </a:p>
        </p:txBody>
      </p:sp>
      <p:sp>
        <p:nvSpPr>
          <p:cNvPr id="42" name="TextBox 41"/>
          <p:cNvSpPr txBox="1"/>
          <p:nvPr/>
        </p:nvSpPr>
        <p:spPr>
          <a:xfrm>
            <a:off x="4334256" y="2752344"/>
            <a:ext cx="1051560" cy="228600"/>
          </a:xfrm>
          <a:prstGeom prst="rect">
            <a:avLst/>
          </a:prstGeom>
          <a:noFill/>
        </p:spPr>
        <p:txBody>
          <a:bodyPr wrap="square">
            <a:spAutoFit/>
          </a:bodyPr>
          <a:lstStyle/>
          <a:p>
            <a:pPr algn="ctr"/>
            <a:r>
              <a:rPr sz="700" b="0" i="0">
                <a:solidFill>
                  <a:srgbClr val="E2E8F0"/>
                </a:solidFill>
              </a:rPr>
              <a:t>7 fields</a:t>
            </a:r>
          </a:p>
        </p:txBody>
      </p:sp>
      <p:sp>
        <p:nvSpPr>
          <p:cNvPr id="43" name="TextBox 42"/>
          <p:cNvSpPr txBox="1"/>
          <p:nvPr/>
        </p:nvSpPr>
        <p:spPr>
          <a:xfrm>
            <a:off x="5385816" y="2560320"/>
            <a:ext cx="274320" cy="329184"/>
          </a:xfrm>
          <a:prstGeom prst="rect">
            <a:avLst/>
          </a:prstGeom>
          <a:noFill/>
        </p:spPr>
        <p:txBody>
          <a:bodyPr wrap="square">
            <a:spAutoFit/>
          </a:bodyPr>
          <a:lstStyle/>
          <a:p>
            <a:pPr algn="ctr"/>
            <a:r>
              <a:rPr sz="1200" b="0" i="0">
                <a:solidFill>
                  <a:srgbClr val="475569"/>
                </a:solidFill>
              </a:rPr>
              <a:t>→</a:t>
            </a:r>
          </a:p>
        </p:txBody>
      </p:sp>
      <p:sp>
        <p:nvSpPr>
          <p:cNvPr id="44" name="Rounded Rectangle 43"/>
          <p:cNvSpPr/>
          <p:nvPr/>
        </p:nvSpPr>
        <p:spPr>
          <a:xfrm>
            <a:off x="5687568" y="2450592"/>
            <a:ext cx="1051560" cy="54864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687568" y="2487168"/>
            <a:ext cx="1051560" cy="274320"/>
          </a:xfrm>
          <a:prstGeom prst="rect">
            <a:avLst/>
          </a:prstGeom>
          <a:noFill/>
        </p:spPr>
        <p:txBody>
          <a:bodyPr wrap="square">
            <a:spAutoFit/>
          </a:bodyPr>
          <a:lstStyle/>
          <a:p>
            <a:pPr algn="ctr"/>
            <a:r>
              <a:rPr sz="900" b="1" i="0">
                <a:solidFill>
                  <a:srgbClr val="FFFFFF"/>
                </a:solidFill>
              </a:rPr>
              <a:t>Analyze</a:t>
            </a:r>
          </a:p>
        </p:txBody>
      </p:sp>
      <p:sp>
        <p:nvSpPr>
          <p:cNvPr id="46" name="TextBox 45"/>
          <p:cNvSpPr txBox="1"/>
          <p:nvPr/>
        </p:nvSpPr>
        <p:spPr>
          <a:xfrm>
            <a:off x="5687568" y="2752344"/>
            <a:ext cx="1051560" cy="228600"/>
          </a:xfrm>
          <a:prstGeom prst="rect">
            <a:avLst/>
          </a:prstGeom>
          <a:noFill/>
        </p:spPr>
        <p:txBody>
          <a:bodyPr wrap="square">
            <a:spAutoFit/>
          </a:bodyPr>
          <a:lstStyle/>
          <a:p>
            <a:pPr algn="ctr"/>
            <a:r>
              <a:rPr sz="700" b="0" i="0">
                <a:solidFill>
                  <a:srgbClr val="E2E8F0"/>
                </a:solidFill>
              </a:rPr>
              <a:t>Click button</a:t>
            </a:r>
          </a:p>
        </p:txBody>
      </p:sp>
      <p:sp>
        <p:nvSpPr>
          <p:cNvPr id="47" name="TextBox 46"/>
          <p:cNvSpPr txBox="1"/>
          <p:nvPr/>
        </p:nvSpPr>
        <p:spPr>
          <a:xfrm>
            <a:off x="6739128" y="2560320"/>
            <a:ext cx="274320" cy="329184"/>
          </a:xfrm>
          <a:prstGeom prst="rect">
            <a:avLst/>
          </a:prstGeom>
          <a:noFill/>
        </p:spPr>
        <p:txBody>
          <a:bodyPr wrap="square">
            <a:spAutoFit/>
          </a:bodyPr>
          <a:lstStyle/>
          <a:p>
            <a:pPr algn="ctr"/>
            <a:r>
              <a:rPr sz="1200" b="0" i="0">
                <a:solidFill>
                  <a:srgbClr val="475569"/>
                </a:solidFill>
              </a:rPr>
              <a:t>→</a:t>
            </a:r>
          </a:p>
        </p:txBody>
      </p:sp>
      <p:sp>
        <p:nvSpPr>
          <p:cNvPr id="48" name="Rounded Rectangle 47"/>
          <p:cNvSpPr/>
          <p:nvPr/>
        </p:nvSpPr>
        <p:spPr>
          <a:xfrm>
            <a:off x="7040880" y="2450592"/>
            <a:ext cx="1051560" cy="5486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040880" y="2487168"/>
            <a:ext cx="1051560" cy="274320"/>
          </a:xfrm>
          <a:prstGeom prst="rect">
            <a:avLst/>
          </a:prstGeom>
          <a:noFill/>
        </p:spPr>
        <p:txBody>
          <a:bodyPr wrap="square">
            <a:spAutoFit/>
          </a:bodyPr>
          <a:lstStyle/>
          <a:p>
            <a:pPr algn="ctr"/>
            <a:r>
              <a:rPr sz="900" b="1" i="0">
                <a:solidFill>
                  <a:srgbClr val="FFFFFF"/>
                </a:solidFill>
              </a:rPr>
              <a:t>View Score</a:t>
            </a:r>
          </a:p>
        </p:txBody>
      </p:sp>
      <p:sp>
        <p:nvSpPr>
          <p:cNvPr id="50" name="TextBox 49"/>
          <p:cNvSpPr txBox="1"/>
          <p:nvPr/>
        </p:nvSpPr>
        <p:spPr>
          <a:xfrm>
            <a:off x="7040880" y="2752344"/>
            <a:ext cx="1051560" cy="228600"/>
          </a:xfrm>
          <a:prstGeom prst="rect">
            <a:avLst/>
          </a:prstGeom>
          <a:noFill/>
        </p:spPr>
        <p:txBody>
          <a:bodyPr wrap="square">
            <a:spAutoFit/>
          </a:bodyPr>
          <a:lstStyle/>
          <a:p>
            <a:pPr algn="ctr"/>
            <a:r>
              <a:rPr sz="700" b="0" i="0">
                <a:solidFill>
                  <a:srgbClr val="E2E8F0"/>
                </a:solidFill>
              </a:rPr>
              <a:t>0–100 + grade</a:t>
            </a:r>
          </a:p>
        </p:txBody>
      </p:sp>
      <p:sp>
        <p:nvSpPr>
          <p:cNvPr id="51" name="TextBox 50"/>
          <p:cNvSpPr txBox="1"/>
          <p:nvPr/>
        </p:nvSpPr>
        <p:spPr>
          <a:xfrm>
            <a:off x="8092440" y="2560320"/>
            <a:ext cx="274320" cy="329184"/>
          </a:xfrm>
          <a:prstGeom prst="rect">
            <a:avLst/>
          </a:prstGeom>
          <a:noFill/>
        </p:spPr>
        <p:txBody>
          <a:bodyPr wrap="square">
            <a:spAutoFit/>
          </a:bodyPr>
          <a:lstStyle/>
          <a:p>
            <a:pPr algn="ctr"/>
            <a:r>
              <a:rPr sz="1200" b="0" i="0">
                <a:solidFill>
                  <a:srgbClr val="475569"/>
                </a:solidFill>
              </a:rPr>
              <a:t>→</a:t>
            </a:r>
          </a:p>
        </p:txBody>
      </p:sp>
      <p:sp>
        <p:nvSpPr>
          <p:cNvPr id="52" name="Rounded Rectangle 51"/>
          <p:cNvSpPr/>
          <p:nvPr/>
        </p:nvSpPr>
        <p:spPr>
          <a:xfrm>
            <a:off x="8394192" y="2450592"/>
            <a:ext cx="1051560" cy="5486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394192" y="2487168"/>
            <a:ext cx="1051560" cy="274320"/>
          </a:xfrm>
          <a:prstGeom prst="rect">
            <a:avLst/>
          </a:prstGeom>
          <a:noFill/>
        </p:spPr>
        <p:txBody>
          <a:bodyPr wrap="square">
            <a:spAutoFit/>
          </a:bodyPr>
          <a:lstStyle/>
          <a:p>
            <a:pPr algn="ctr"/>
            <a:r>
              <a:rPr sz="900" b="1" i="0">
                <a:solidFill>
                  <a:srgbClr val="FFFFFF"/>
                </a:solidFill>
              </a:rPr>
              <a:t>See Issues</a:t>
            </a:r>
          </a:p>
        </p:txBody>
      </p:sp>
      <p:sp>
        <p:nvSpPr>
          <p:cNvPr id="54" name="TextBox 53"/>
          <p:cNvSpPr txBox="1"/>
          <p:nvPr/>
        </p:nvSpPr>
        <p:spPr>
          <a:xfrm>
            <a:off x="8394192" y="2752344"/>
            <a:ext cx="1051560" cy="228600"/>
          </a:xfrm>
          <a:prstGeom prst="rect">
            <a:avLst/>
          </a:prstGeom>
          <a:noFill/>
        </p:spPr>
        <p:txBody>
          <a:bodyPr wrap="square">
            <a:spAutoFit/>
          </a:bodyPr>
          <a:lstStyle/>
          <a:p>
            <a:pPr algn="ctr"/>
            <a:r>
              <a:rPr sz="700" b="0" i="0">
                <a:solidFill>
                  <a:srgbClr val="E2E8F0"/>
                </a:solidFill>
              </a:rPr>
              <a:t>Inline cards</a:t>
            </a:r>
          </a:p>
        </p:txBody>
      </p:sp>
      <p:sp>
        <p:nvSpPr>
          <p:cNvPr id="55" name="TextBox 54"/>
          <p:cNvSpPr txBox="1"/>
          <p:nvPr/>
        </p:nvSpPr>
        <p:spPr>
          <a:xfrm>
            <a:off x="9445752" y="2560320"/>
            <a:ext cx="274320" cy="329184"/>
          </a:xfrm>
          <a:prstGeom prst="rect">
            <a:avLst/>
          </a:prstGeom>
          <a:noFill/>
        </p:spPr>
        <p:txBody>
          <a:bodyPr wrap="square">
            <a:spAutoFit/>
          </a:bodyPr>
          <a:lstStyle/>
          <a:p>
            <a:pPr algn="ctr"/>
            <a:r>
              <a:rPr sz="1200" b="0" i="0">
                <a:solidFill>
                  <a:srgbClr val="475569"/>
                </a:solidFill>
              </a:rPr>
              <a:t>→</a:t>
            </a:r>
          </a:p>
        </p:txBody>
      </p:sp>
      <p:sp>
        <p:nvSpPr>
          <p:cNvPr id="56" name="Rounded Rectangle 55"/>
          <p:cNvSpPr/>
          <p:nvPr/>
        </p:nvSpPr>
        <p:spPr>
          <a:xfrm>
            <a:off x="9747504" y="2450592"/>
            <a:ext cx="1051560" cy="54864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747504" y="2487168"/>
            <a:ext cx="1051560" cy="274320"/>
          </a:xfrm>
          <a:prstGeom prst="rect">
            <a:avLst/>
          </a:prstGeom>
          <a:noFill/>
        </p:spPr>
        <p:txBody>
          <a:bodyPr wrap="square">
            <a:spAutoFit/>
          </a:bodyPr>
          <a:lstStyle/>
          <a:p>
            <a:pPr algn="ctr"/>
            <a:r>
              <a:rPr sz="900" b="1" i="0">
                <a:solidFill>
                  <a:srgbClr val="FFFFFF"/>
                </a:solidFill>
              </a:rPr>
              <a:t>Rewrite</a:t>
            </a:r>
          </a:p>
        </p:txBody>
      </p:sp>
      <p:sp>
        <p:nvSpPr>
          <p:cNvPr id="58" name="TextBox 57"/>
          <p:cNvSpPr txBox="1"/>
          <p:nvPr/>
        </p:nvSpPr>
        <p:spPr>
          <a:xfrm>
            <a:off x="9747504" y="2752344"/>
            <a:ext cx="1051560" cy="228600"/>
          </a:xfrm>
          <a:prstGeom prst="rect">
            <a:avLst/>
          </a:prstGeom>
          <a:noFill/>
        </p:spPr>
        <p:txBody>
          <a:bodyPr wrap="square">
            <a:spAutoFit/>
          </a:bodyPr>
          <a:lstStyle/>
          <a:p>
            <a:pPr algn="ctr"/>
            <a:r>
              <a:rPr sz="700" b="0" i="0">
                <a:solidFill>
                  <a:srgbClr val="E2E8F0"/>
                </a:solidFill>
              </a:rPr>
              <a:t>Copy / download</a:t>
            </a:r>
          </a:p>
        </p:txBody>
      </p:sp>
      <p:sp>
        <p:nvSpPr>
          <p:cNvPr id="59" name="TextBox 58"/>
          <p:cNvSpPr txBox="1"/>
          <p:nvPr/>
        </p:nvSpPr>
        <p:spPr>
          <a:xfrm>
            <a:off x="10799064" y="2560320"/>
            <a:ext cx="274320" cy="329184"/>
          </a:xfrm>
          <a:prstGeom prst="rect">
            <a:avLst/>
          </a:prstGeom>
          <a:noFill/>
        </p:spPr>
        <p:txBody>
          <a:bodyPr wrap="square">
            <a:spAutoFit/>
          </a:bodyPr>
          <a:lstStyle/>
          <a:p>
            <a:pPr algn="ctr"/>
            <a:r>
              <a:rPr sz="1200" b="0" i="0">
                <a:solidFill>
                  <a:srgbClr val="475569"/>
                </a:solidFill>
              </a:rPr>
              <a:t>→</a:t>
            </a:r>
          </a:p>
        </p:txBody>
      </p:sp>
      <p:sp>
        <p:nvSpPr>
          <p:cNvPr id="60" name="Rounded Rectangle 59"/>
          <p:cNvSpPr/>
          <p:nvPr/>
        </p:nvSpPr>
        <p:spPr>
          <a:xfrm>
            <a:off x="11100816" y="2450592"/>
            <a:ext cx="1051560" cy="5486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1100816" y="2487168"/>
            <a:ext cx="1051560" cy="274320"/>
          </a:xfrm>
          <a:prstGeom prst="rect">
            <a:avLst/>
          </a:prstGeom>
          <a:noFill/>
        </p:spPr>
        <p:txBody>
          <a:bodyPr wrap="square">
            <a:spAutoFit/>
          </a:bodyPr>
          <a:lstStyle/>
          <a:p>
            <a:pPr algn="ctr"/>
            <a:r>
              <a:rPr sz="900" b="1" i="0">
                <a:solidFill>
                  <a:srgbClr val="FFFFFF"/>
                </a:solidFill>
              </a:rPr>
              <a:t>Save History</a:t>
            </a:r>
          </a:p>
        </p:txBody>
      </p:sp>
      <p:sp>
        <p:nvSpPr>
          <p:cNvPr id="62" name="TextBox 61"/>
          <p:cNvSpPr txBox="1"/>
          <p:nvPr/>
        </p:nvSpPr>
        <p:spPr>
          <a:xfrm>
            <a:off x="11100816" y="2752344"/>
            <a:ext cx="1051560" cy="228600"/>
          </a:xfrm>
          <a:prstGeom prst="rect">
            <a:avLst/>
          </a:prstGeom>
          <a:noFill/>
        </p:spPr>
        <p:txBody>
          <a:bodyPr wrap="square">
            <a:spAutoFit/>
          </a:bodyPr>
          <a:lstStyle/>
          <a:p>
            <a:pPr algn="ctr"/>
            <a:r>
              <a:rPr sz="700" b="0" i="0">
                <a:solidFill>
                  <a:srgbClr val="E2E8F0"/>
                </a:solidFill>
              </a:rPr>
              <a:t>Auto-persist</a:t>
            </a:r>
          </a:p>
        </p:txBody>
      </p:sp>
      <p:sp>
        <p:nvSpPr>
          <p:cNvPr id="63" name="TextBox 62"/>
          <p:cNvSpPr txBox="1"/>
          <p:nvPr/>
        </p:nvSpPr>
        <p:spPr>
          <a:xfrm rot="5400000">
            <a:off x="11430000" y="3136392"/>
            <a:ext cx="274320" cy="329184"/>
          </a:xfrm>
          <a:prstGeom prst="rect">
            <a:avLst/>
          </a:prstGeom>
          <a:noFill/>
        </p:spPr>
        <p:txBody>
          <a:bodyPr wrap="square">
            <a:spAutoFit/>
          </a:bodyPr>
          <a:lstStyle/>
          <a:p>
            <a:pPr algn="ctr"/>
            <a:r>
              <a:rPr sz="1200" b="0" i="0" dirty="0">
                <a:solidFill>
                  <a:srgbClr val="475569"/>
                </a:solidFill>
              </a:rPr>
              <a:t>→</a:t>
            </a:r>
          </a:p>
        </p:txBody>
      </p:sp>
      <p:sp>
        <p:nvSpPr>
          <p:cNvPr id="64" name="Rounded Rectangle 63"/>
          <p:cNvSpPr/>
          <p:nvPr/>
        </p:nvSpPr>
        <p:spPr>
          <a:xfrm>
            <a:off x="11100816" y="3442717"/>
            <a:ext cx="1051560" cy="54864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1100816" y="3479293"/>
            <a:ext cx="1051560" cy="274320"/>
          </a:xfrm>
          <a:prstGeom prst="rect">
            <a:avLst/>
          </a:prstGeom>
          <a:noFill/>
        </p:spPr>
        <p:txBody>
          <a:bodyPr wrap="square">
            <a:spAutoFit/>
          </a:bodyPr>
          <a:lstStyle/>
          <a:p>
            <a:pPr algn="ctr"/>
            <a:r>
              <a:rPr sz="900" b="1" i="0">
                <a:solidFill>
                  <a:srgbClr val="FFFFFF"/>
                </a:solidFill>
              </a:rPr>
              <a:t>Compare</a:t>
            </a:r>
          </a:p>
        </p:txBody>
      </p:sp>
      <p:sp>
        <p:nvSpPr>
          <p:cNvPr id="66" name="TextBox 65"/>
          <p:cNvSpPr txBox="1"/>
          <p:nvPr/>
        </p:nvSpPr>
        <p:spPr>
          <a:xfrm>
            <a:off x="11100816" y="3744469"/>
            <a:ext cx="1051560" cy="228600"/>
          </a:xfrm>
          <a:prstGeom prst="rect">
            <a:avLst/>
          </a:prstGeom>
          <a:noFill/>
        </p:spPr>
        <p:txBody>
          <a:bodyPr wrap="square">
            <a:spAutoFit/>
          </a:bodyPr>
          <a:lstStyle/>
          <a:p>
            <a:pPr algn="ctr"/>
            <a:r>
              <a:rPr sz="700" b="0" i="0">
                <a:solidFill>
                  <a:srgbClr val="E2E8F0"/>
                </a:solidFill>
              </a:rPr>
              <a:t>A vs B delta</a:t>
            </a:r>
          </a:p>
        </p:txBody>
      </p:sp>
      <p:sp>
        <p:nvSpPr>
          <p:cNvPr id="67" name="Rectangle 66"/>
          <p:cNvSpPr/>
          <p:nvPr/>
        </p:nvSpPr>
        <p:spPr>
          <a:xfrm>
            <a:off x="274320" y="3246120"/>
            <a:ext cx="9372600"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47472" y="3300984"/>
            <a:ext cx="2194560" cy="274320"/>
          </a:xfrm>
          <a:prstGeom prst="rect">
            <a:avLst/>
          </a:prstGeom>
          <a:noFill/>
        </p:spPr>
        <p:txBody>
          <a:bodyPr wrap="square">
            <a:spAutoFit/>
          </a:bodyPr>
          <a:lstStyle/>
          <a:p>
            <a:pPr algn="l"/>
            <a:r>
              <a:rPr sz="1000" b="1" i="0">
                <a:solidFill>
                  <a:srgbClr val="FFFFFF"/>
                </a:solidFill>
              </a:rPr>
              <a:t>Category</a:t>
            </a:r>
          </a:p>
        </p:txBody>
      </p:sp>
      <p:sp>
        <p:nvSpPr>
          <p:cNvPr id="69" name="TextBox 68"/>
          <p:cNvSpPr txBox="1"/>
          <p:nvPr/>
        </p:nvSpPr>
        <p:spPr>
          <a:xfrm>
            <a:off x="2633472" y="3300984"/>
            <a:ext cx="822960" cy="274320"/>
          </a:xfrm>
          <a:prstGeom prst="rect">
            <a:avLst/>
          </a:prstGeom>
          <a:noFill/>
        </p:spPr>
        <p:txBody>
          <a:bodyPr wrap="square">
            <a:spAutoFit/>
          </a:bodyPr>
          <a:lstStyle/>
          <a:p>
            <a:pPr algn="l"/>
            <a:r>
              <a:rPr sz="1000" b="1" i="0">
                <a:solidFill>
                  <a:srgbClr val="FFFFFF"/>
                </a:solidFill>
              </a:rPr>
              <a:t># Cases</a:t>
            </a:r>
          </a:p>
        </p:txBody>
      </p:sp>
      <p:sp>
        <p:nvSpPr>
          <p:cNvPr id="70" name="TextBox 69"/>
          <p:cNvSpPr txBox="1"/>
          <p:nvPr/>
        </p:nvSpPr>
        <p:spPr>
          <a:xfrm>
            <a:off x="3547872" y="3300984"/>
            <a:ext cx="4937760" cy="274320"/>
          </a:xfrm>
          <a:prstGeom prst="rect">
            <a:avLst/>
          </a:prstGeom>
          <a:noFill/>
        </p:spPr>
        <p:txBody>
          <a:bodyPr wrap="square">
            <a:spAutoFit/>
          </a:bodyPr>
          <a:lstStyle/>
          <a:p>
            <a:pPr algn="l"/>
            <a:r>
              <a:rPr sz="1000" b="1" i="0">
                <a:solidFill>
                  <a:srgbClr val="FFFFFF"/>
                </a:solidFill>
              </a:rPr>
              <a:t>Scope</a:t>
            </a:r>
          </a:p>
        </p:txBody>
      </p:sp>
      <p:sp>
        <p:nvSpPr>
          <p:cNvPr id="71" name="TextBox 70"/>
          <p:cNvSpPr txBox="1"/>
          <p:nvPr/>
        </p:nvSpPr>
        <p:spPr>
          <a:xfrm>
            <a:off x="8577072" y="3300984"/>
            <a:ext cx="1051560" cy="274320"/>
          </a:xfrm>
          <a:prstGeom prst="rect">
            <a:avLst/>
          </a:prstGeom>
          <a:noFill/>
        </p:spPr>
        <p:txBody>
          <a:bodyPr wrap="square">
            <a:spAutoFit/>
          </a:bodyPr>
          <a:lstStyle/>
          <a:p>
            <a:pPr algn="l"/>
            <a:r>
              <a:rPr sz="1000" b="1" i="0">
                <a:solidFill>
                  <a:srgbClr val="FFFFFF"/>
                </a:solidFill>
              </a:rPr>
              <a:t>Status</a:t>
            </a:r>
          </a:p>
        </p:txBody>
      </p:sp>
      <p:sp>
        <p:nvSpPr>
          <p:cNvPr id="72" name="Rectangle 71"/>
          <p:cNvSpPr/>
          <p:nvPr/>
        </p:nvSpPr>
        <p:spPr>
          <a:xfrm>
            <a:off x="274320" y="3593592"/>
            <a:ext cx="937260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47472" y="3648456"/>
            <a:ext cx="2194560" cy="274320"/>
          </a:xfrm>
          <a:prstGeom prst="rect">
            <a:avLst/>
          </a:prstGeom>
          <a:noFill/>
        </p:spPr>
        <p:txBody>
          <a:bodyPr wrap="square">
            <a:spAutoFit/>
          </a:bodyPr>
          <a:lstStyle/>
          <a:p>
            <a:pPr algn="l"/>
            <a:r>
              <a:rPr sz="900" b="0" i="0">
                <a:solidFill>
                  <a:srgbClr val="94A3B8"/>
                </a:solidFill>
              </a:rPr>
              <a:t>Authentication</a:t>
            </a:r>
          </a:p>
        </p:txBody>
      </p:sp>
      <p:sp>
        <p:nvSpPr>
          <p:cNvPr id="74" name="TextBox 73"/>
          <p:cNvSpPr txBox="1"/>
          <p:nvPr/>
        </p:nvSpPr>
        <p:spPr>
          <a:xfrm>
            <a:off x="2633472" y="3648456"/>
            <a:ext cx="822960" cy="274320"/>
          </a:xfrm>
          <a:prstGeom prst="rect">
            <a:avLst/>
          </a:prstGeom>
          <a:noFill/>
        </p:spPr>
        <p:txBody>
          <a:bodyPr wrap="square">
            <a:spAutoFit/>
          </a:bodyPr>
          <a:lstStyle/>
          <a:p>
            <a:pPr algn="l"/>
            <a:r>
              <a:rPr sz="900" b="0" i="0">
                <a:solidFill>
                  <a:srgbClr val="94A3B8"/>
                </a:solidFill>
              </a:rPr>
              <a:t>5</a:t>
            </a:r>
          </a:p>
        </p:txBody>
      </p:sp>
      <p:sp>
        <p:nvSpPr>
          <p:cNvPr id="75" name="TextBox 74"/>
          <p:cNvSpPr txBox="1"/>
          <p:nvPr/>
        </p:nvSpPr>
        <p:spPr>
          <a:xfrm>
            <a:off x="3547872" y="3648456"/>
            <a:ext cx="4937760" cy="274320"/>
          </a:xfrm>
          <a:prstGeom prst="rect">
            <a:avLst/>
          </a:prstGeom>
          <a:noFill/>
        </p:spPr>
        <p:txBody>
          <a:bodyPr wrap="square">
            <a:spAutoFit/>
          </a:bodyPr>
          <a:lstStyle/>
          <a:p>
            <a:pPr algn="l"/>
            <a:r>
              <a:rPr sz="900" b="0" i="0">
                <a:solidFill>
                  <a:srgbClr val="94A3B8"/>
                </a:solidFill>
              </a:rPr>
              <a:t>Login, signup, logout, session</a:t>
            </a:r>
          </a:p>
        </p:txBody>
      </p:sp>
      <p:sp>
        <p:nvSpPr>
          <p:cNvPr id="76" name="TextBox 75"/>
          <p:cNvSpPr txBox="1"/>
          <p:nvPr/>
        </p:nvSpPr>
        <p:spPr>
          <a:xfrm>
            <a:off x="8577072" y="3648456"/>
            <a:ext cx="1051560" cy="274320"/>
          </a:xfrm>
          <a:prstGeom prst="rect">
            <a:avLst/>
          </a:prstGeom>
          <a:noFill/>
        </p:spPr>
        <p:txBody>
          <a:bodyPr wrap="square">
            <a:spAutoFit/>
          </a:bodyPr>
          <a:lstStyle/>
          <a:p>
            <a:pPr algn="l"/>
            <a:r>
              <a:rPr sz="900" b="0" i="0">
                <a:solidFill>
                  <a:srgbClr val="94A3B8"/>
                </a:solidFill>
              </a:rPr>
              <a:t>PASS</a:t>
            </a:r>
          </a:p>
        </p:txBody>
      </p:sp>
      <p:sp>
        <p:nvSpPr>
          <p:cNvPr id="77" name="Rectangle 76"/>
          <p:cNvSpPr/>
          <p:nvPr/>
        </p:nvSpPr>
        <p:spPr>
          <a:xfrm>
            <a:off x="274320" y="3941064"/>
            <a:ext cx="9372600" cy="347472"/>
          </a:xfrm>
          <a:prstGeom prst="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347472" y="3995928"/>
            <a:ext cx="2194560" cy="274320"/>
          </a:xfrm>
          <a:prstGeom prst="rect">
            <a:avLst/>
          </a:prstGeom>
          <a:noFill/>
        </p:spPr>
        <p:txBody>
          <a:bodyPr wrap="square">
            <a:spAutoFit/>
          </a:bodyPr>
          <a:lstStyle/>
          <a:p>
            <a:pPr algn="l"/>
            <a:r>
              <a:rPr sz="900" b="0" i="0">
                <a:solidFill>
                  <a:srgbClr val="F1F5F9"/>
                </a:solidFill>
              </a:rPr>
              <a:t>Analysis — Happy Path</a:t>
            </a:r>
          </a:p>
        </p:txBody>
      </p:sp>
      <p:sp>
        <p:nvSpPr>
          <p:cNvPr id="79" name="TextBox 78"/>
          <p:cNvSpPr txBox="1"/>
          <p:nvPr/>
        </p:nvSpPr>
        <p:spPr>
          <a:xfrm>
            <a:off x="2633472" y="3995928"/>
            <a:ext cx="822960" cy="274320"/>
          </a:xfrm>
          <a:prstGeom prst="rect">
            <a:avLst/>
          </a:prstGeom>
          <a:noFill/>
        </p:spPr>
        <p:txBody>
          <a:bodyPr wrap="square">
            <a:spAutoFit/>
          </a:bodyPr>
          <a:lstStyle/>
          <a:p>
            <a:pPr algn="l"/>
            <a:r>
              <a:rPr sz="900" b="0" i="0">
                <a:solidFill>
                  <a:srgbClr val="F1F5F9"/>
                </a:solidFill>
              </a:rPr>
              <a:t>5</a:t>
            </a:r>
          </a:p>
        </p:txBody>
      </p:sp>
      <p:sp>
        <p:nvSpPr>
          <p:cNvPr id="80" name="TextBox 79"/>
          <p:cNvSpPr txBox="1"/>
          <p:nvPr/>
        </p:nvSpPr>
        <p:spPr>
          <a:xfrm>
            <a:off x="3547872" y="3995928"/>
            <a:ext cx="4937760" cy="274320"/>
          </a:xfrm>
          <a:prstGeom prst="rect">
            <a:avLst/>
          </a:prstGeom>
          <a:noFill/>
        </p:spPr>
        <p:txBody>
          <a:bodyPr wrap="square">
            <a:spAutoFit/>
          </a:bodyPr>
          <a:lstStyle/>
          <a:p>
            <a:pPr algn="l"/>
            <a:r>
              <a:rPr sz="900" b="0" i="0">
                <a:solidFill>
                  <a:srgbClr val="F1F5F9"/>
                </a:solidFill>
              </a:rPr>
              <a:t>All 7 fields, output rendered</a:t>
            </a:r>
          </a:p>
        </p:txBody>
      </p:sp>
      <p:sp>
        <p:nvSpPr>
          <p:cNvPr id="81" name="TextBox 80"/>
          <p:cNvSpPr txBox="1"/>
          <p:nvPr/>
        </p:nvSpPr>
        <p:spPr>
          <a:xfrm>
            <a:off x="8577072" y="3995928"/>
            <a:ext cx="1051560" cy="274320"/>
          </a:xfrm>
          <a:prstGeom prst="rect">
            <a:avLst/>
          </a:prstGeom>
          <a:noFill/>
        </p:spPr>
        <p:txBody>
          <a:bodyPr wrap="square">
            <a:spAutoFit/>
          </a:bodyPr>
          <a:lstStyle/>
          <a:p>
            <a:pPr algn="l"/>
            <a:r>
              <a:rPr sz="900" b="0" i="0">
                <a:solidFill>
                  <a:srgbClr val="F1F5F9"/>
                </a:solidFill>
              </a:rPr>
              <a:t>PASS</a:t>
            </a:r>
          </a:p>
        </p:txBody>
      </p:sp>
      <p:sp>
        <p:nvSpPr>
          <p:cNvPr id="82" name="Rectangle 81"/>
          <p:cNvSpPr/>
          <p:nvPr/>
        </p:nvSpPr>
        <p:spPr>
          <a:xfrm>
            <a:off x="274320" y="4288536"/>
            <a:ext cx="937260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47472" y="4343400"/>
            <a:ext cx="2194560" cy="274320"/>
          </a:xfrm>
          <a:prstGeom prst="rect">
            <a:avLst/>
          </a:prstGeom>
          <a:noFill/>
        </p:spPr>
        <p:txBody>
          <a:bodyPr wrap="square">
            <a:spAutoFit/>
          </a:bodyPr>
          <a:lstStyle/>
          <a:p>
            <a:pPr algn="l"/>
            <a:r>
              <a:rPr sz="900" b="0" i="0">
                <a:solidFill>
                  <a:srgbClr val="94A3B8"/>
                </a:solidFill>
              </a:rPr>
              <a:t>Analysis — Edge Cases</a:t>
            </a:r>
          </a:p>
        </p:txBody>
      </p:sp>
      <p:sp>
        <p:nvSpPr>
          <p:cNvPr id="84" name="TextBox 83"/>
          <p:cNvSpPr txBox="1"/>
          <p:nvPr/>
        </p:nvSpPr>
        <p:spPr>
          <a:xfrm>
            <a:off x="2633472" y="4343400"/>
            <a:ext cx="822960" cy="274320"/>
          </a:xfrm>
          <a:prstGeom prst="rect">
            <a:avLst/>
          </a:prstGeom>
          <a:noFill/>
        </p:spPr>
        <p:txBody>
          <a:bodyPr wrap="square">
            <a:spAutoFit/>
          </a:bodyPr>
          <a:lstStyle/>
          <a:p>
            <a:pPr algn="l"/>
            <a:r>
              <a:rPr sz="900" b="0" i="0">
                <a:solidFill>
                  <a:srgbClr val="94A3B8"/>
                </a:solidFill>
              </a:rPr>
              <a:t>8</a:t>
            </a:r>
          </a:p>
        </p:txBody>
      </p:sp>
      <p:sp>
        <p:nvSpPr>
          <p:cNvPr id="85" name="TextBox 84"/>
          <p:cNvSpPr txBox="1"/>
          <p:nvPr/>
        </p:nvSpPr>
        <p:spPr>
          <a:xfrm>
            <a:off x="3547872" y="4343400"/>
            <a:ext cx="4937760" cy="274320"/>
          </a:xfrm>
          <a:prstGeom prst="rect">
            <a:avLst/>
          </a:prstGeom>
          <a:noFill/>
        </p:spPr>
        <p:txBody>
          <a:bodyPr wrap="square">
            <a:spAutoFit/>
          </a:bodyPr>
          <a:lstStyle/>
          <a:p>
            <a:pPr algn="l"/>
            <a:r>
              <a:rPr sz="900" b="0" i="0">
                <a:solidFill>
                  <a:srgbClr val="94A3B8"/>
                </a:solidFill>
              </a:rPr>
              <a:t>Empty, whitespace, XSS input</a:t>
            </a:r>
          </a:p>
        </p:txBody>
      </p:sp>
      <p:sp>
        <p:nvSpPr>
          <p:cNvPr id="86" name="TextBox 85"/>
          <p:cNvSpPr txBox="1"/>
          <p:nvPr/>
        </p:nvSpPr>
        <p:spPr>
          <a:xfrm>
            <a:off x="8577072" y="4343400"/>
            <a:ext cx="1051560" cy="274320"/>
          </a:xfrm>
          <a:prstGeom prst="rect">
            <a:avLst/>
          </a:prstGeom>
          <a:noFill/>
        </p:spPr>
        <p:txBody>
          <a:bodyPr wrap="square">
            <a:spAutoFit/>
          </a:bodyPr>
          <a:lstStyle/>
          <a:p>
            <a:pPr algn="l"/>
            <a:r>
              <a:rPr sz="900" b="0" i="0">
                <a:solidFill>
                  <a:srgbClr val="94A3B8"/>
                </a:solidFill>
              </a:rPr>
              <a:t>PASS</a:t>
            </a:r>
          </a:p>
        </p:txBody>
      </p:sp>
      <p:sp>
        <p:nvSpPr>
          <p:cNvPr id="87" name="Rectangle 86"/>
          <p:cNvSpPr/>
          <p:nvPr/>
        </p:nvSpPr>
        <p:spPr>
          <a:xfrm>
            <a:off x="274320" y="4636008"/>
            <a:ext cx="9372600" cy="347472"/>
          </a:xfrm>
          <a:prstGeom prst="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347472" y="4690872"/>
            <a:ext cx="2194560" cy="274320"/>
          </a:xfrm>
          <a:prstGeom prst="rect">
            <a:avLst/>
          </a:prstGeom>
          <a:noFill/>
        </p:spPr>
        <p:txBody>
          <a:bodyPr wrap="square">
            <a:spAutoFit/>
          </a:bodyPr>
          <a:lstStyle/>
          <a:p>
            <a:pPr algn="l"/>
            <a:r>
              <a:rPr sz="900" b="0" i="0">
                <a:solidFill>
                  <a:srgbClr val="F1F5F9"/>
                </a:solidFill>
              </a:rPr>
              <a:t>REST API (all endpoints)</a:t>
            </a:r>
          </a:p>
        </p:txBody>
      </p:sp>
      <p:sp>
        <p:nvSpPr>
          <p:cNvPr id="89" name="TextBox 88"/>
          <p:cNvSpPr txBox="1"/>
          <p:nvPr/>
        </p:nvSpPr>
        <p:spPr>
          <a:xfrm>
            <a:off x="2633472" y="4690872"/>
            <a:ext cx="822960" cy="274320"/>
          </a:xfrm>
          <a:prstGeom prst="rect">
            <a:avLst/>
          </a:prstGeom>
          <a:noFill/>
        </p:spPr>
        <p:txBody>
          <a:bodyPr wrap="square">
            <a:spAutoFit/>
          </a:bodyPr>
          <a:lstStyle/>
          <a:p>
            <a:pPr algn="l"/>
            <a:r>
              <a:rPr sz="900" b="0" i="0">
                <a:solidFill>
                  <a:srgbClr val="F1F5F9"/>
                </a:solidFill>
              </a:rPr>
              <a:t>10</a:t>
            </a:r>
          </a:p>
        </p:txBody>
      </p:sp>
      <p:sp>
        <p:nvSpPr>
          <p:cNvPr id="90" name="TextBox 89"/>
          <p:cNvSpPr txBox="1"/>
          <p:nvPr/>
        </p:nvSpPr>
        <p:spPr>
          <a:xfrm>
            <a:off x="3547872" y="4690872"/>
            <a:ext cx="4937760" cy="274320"/>
          </a:xfrm>
          <a:prstGeom prst="rect">
            <a:avLst/>
          </a:prstGeom>
          <a:noFill/>
        </p:spPr>
        <p:txBody>
          <a:bodyPr wrap="square">
            <a:spAutoFit/>
          </a:bodyPr>
          <a:lstStyle/>
          <a:p>
            <a:pPr algn="l"/>
            <a:r>
              <a:rPr sz="900" b="0" i="0">
                <a:solidFill>
                  <a:srgbClr val="F1F5F9"/>
                </a:solidFill>
              </a:rPr>
              <a:t>200/422/404 codes, JSON schema</a:t>
            </a:r>
          </a:p>
        </p:txBody>
      </p:sp>
      <p:sp>
        <p:nvSpPr>
          <p:cNvPr id="91" name="TextBox 90"/>
          <p:cNvSpPr txBox="1"/>
          <p:nvPr/>
        </p:nvSpPr>
        <p:spPr>
          <a:xfrm>
            <a:off x="8577072" y="4690872"/>
            <a:ext cx="1051560" cy="274320"/>
          </a:xfrm>
          <a:prstGeom prst="rect">
            <a:avLst/>
          </a:prstGeom>
          <a:noFill/>
        </p:spPr>
        <p:txBody>
          <a:bodyPr wrap="square">
            <a:spAutoFit/>
          </a:bodyPr>
          <a:lstStyle/>
          <a:p>
            <a:pPr algn="l"/>
            <a:r>
              <a:rPr sz="900" b="0" i="0">
                <a:solidFill>
                  <a:srgbClr val="F1F5F9"/>
                </a:solidFill>
              </a:rPr>
              <a:t>PASS</a:t>
            </a:r>
          </a:p>
        </p:txBody>
      </p:sp>
      <p:sp>
        <p:nvSpPr>
          <p:cNvPr id="92" name="Rectangle 91"/>
          <p:cNvSpPr/>
          <p:nvPr/>
        </p:nvSpPr>
        <p:spPr>
          <a:xfrm>
            <a:off x="274320" y="4983480"/>
            <a:ext cx="937260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347472" y="5038344"/>
            <a:ext cx="2194560" cy="274320"/>
          </a:xfrm>
          <a:prstGeom prst="rect">
            <a:avLst/>
          </a:prstGeom>
          <a:noFill/>
        </p:spPr>
        <p:txBody>
          <a:bodyPr wrap="square">
            <a:spAutoFit/>
          </a:bodyPr>
          <a:lstStyle/>
          <a:p>
            <a:pPr algn="l"/>
            <a:r>
              <a:rPr sz="900" b="0" i="0">
                <a:solidFill>
                  <a:srgbClr val="94A3B8"/>
                </a:solidFill>
              </a:rPr>
              <a:t>Performance</a:t>
            </a:r>
          </a:p>
        </p:txBody>
      </p:sp>
      <p:sp>
        <p:nvSpPr>
          <p:cNvPr id="94" name="TextBox 93"/>
          <p:cNvSpPr txBox="1"/>
          <p:nvPr/>
        </p:nvSpPr>
        <p:spPr>
          <a:xfrm>
            <a:off x="2633472" y="5038344"/>
            <a:ext cx="822960" cy="274320"/>
          </a:xfrm>
          <a:prstGeom prst="rect">
            <a:avLst/>
          </a:prstGeom>
          <a:noFill/>
        </p:spPr>
        <p:txBody>
          <a:bodyPr wrap="square">
            <a:spAutoFit/>
          </a:bodyPr>
          <a:lstStyle/>
          <a:p>
            <a:pPr algn="l"/>
            <a:r>
              <a:rPr sz="900" b="0" i="0">
                <a:solidFill>
                  <a:srgbClr val="94A3B8"/>
                </a:solidFill>
              </a:rPr>
              <a:t>5</a:t>
            </a:r>
          </a:p>
        </p:txBody>
      </p:sp>
      <p:sp>
        <p:nvSpPr>
          <p:cNvPr id="95" name="TextBox 94"/>
          <p:cNvSpPr txBox="1"/>
          <p:nvPr/>
        </p:nvSpPr>
        <p:spPr>
          <a:xfrm>
            <a:off x="3547872" y="5038344"/>
            <a:ext cx="4937760" cy="274320"/>
          </a:xfrm>
          <a:prstGeom prst="rect">
            <a:avLst/>
          </a:prstGeom>
          <a:noFill/>
        </p:spPr>
        <p:txBody>
          <a:bodyPr wrap="square">
            <a:spAutoFit/>
          </a:bodyPr>
          <a:lstStyle/>
          <a:p>
            <a:pPr algn="l"/>
            <a:r>
              <a:rPr sz="900" b="0" i="0">
                <a:solidFill>
                  <a:srgbClr val="94A3B8"/>
                </a:solidFill>
              </a:rPr>
              <a:t>Response &lt; 2s, 10 sequential calls</a:t>
            </a:r>
          </a:p>
        </p:txBody>
      </p:sp>
      <p:sp>
        <p:nvSpPr>
          <p:cNvPr id="96" name="TextBox 95"/>
          <p:cNvSpPr txBox="1"/>
          <p:nvPr/>
        </p:nvSpPr>
        <p:spPr>
          <a:xfrm>
            <a:off x="8577072" y="5038344"/>
            <a:ext cx="1051560" cy="274320"/>
          </a:xfrm>
          <a:prstGeom prst="rect">
            <a:avLst/>
          </a:prstGeom>
          <a:noFill/>
        </p:spPr>
        <p:txBody>
          <a:bodyPr wrap="square">
            <a:spAutoFit/>
          </a:bodyPr>
          <a:lstStyle/>
          <a:p>
            <a:pPr algn="l"/>
            <a:r>
              <a:rPr sz="900" b="0" i="0">
                <a:solidFill>
                  <a:srgbClr val="94A3B8"/>
                </a:solidFill>
              </a:rPr>
              <a:t>PASS</a:t>
            </a:r>
          </a:p>
        </p:txBody>
      </p:sp>
      <p:sp>
        <p:nvSpPr>
          <p:cNvPr id="97" name="Rectangle 96"/>
          <p:cNvSpPr/>
          <p:nvPr/>
        </p:nvSpPr>
        <p:spPr>
          <a:xfrm>
            <a:off x="274320" y="5330952"/>
            <a:ext cx="9372600" cy="347472"/>
          </a:xfrm>
          <a:prstGeom prst="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347472" y="5385816"/>
            <a:ext cx="2194560" cy="274320"/>
          </a:xfrm>
          <a:prstGeom prst="rect">
            <a:avLst/>
          </a:prstGeom>
          <a:noFill/>
        </p:spPr>
        <p:txBody>
          <a:bodyPr wrap="square">
            <a:spAutoFit/>
          </a:bodyPr>
          <a:lstStyle/>
          <a:p>
            <a:pPr algn="l"/>
            <a:r>
              <a:rPr sz="900" b="0" i="0">
                <a:solidFill>
                  <a:srgbClr val="F1F5F9"/>
                </a:solidFill>
              </a:rPr>
              <a:t>Security Baseline</a:t>
            </a:r>
          </a:p>
        </p:txBody>
      </p:sp>
      <p:sp>
        <p:nvSpPr>
          <p:cNvPr id="99" name="TextBox 98"/>
          <p:cNvSpPr txBox="1"/>
          <p:nvPr/>
        </p:nvSpPr>
        <p:spPr>
          <a:xfrm>
            <a:off x="2633472" y="5385816"/>
            <a:ext cx="822960" cy="274320"/>
          </a:xfrm>
          <a:prstGeom prst="rect">
            <a:avLst/>
          </a:prstGeom>
          <a:noFill/>
        </p:spPr>
        <p:txBody>
          <a:bodyPr wrap="square">
            <a:spAutoFit/>
          </a:bodyPr>
          <a:lstStyle/>
          <a:p>
            <a:pPr algn="l"/>
            <a:r>
              <a:rPr sz="900" b="0" i="0">
                <a:solidFill>
                  <a:srgbClr val="F1F5F9"/>
                </a:solidFill>
              </a:rPr>
              <a:t>5</a:t>
            </a:r>
          </a:p>
        </p:txBody>
      </p:sp>
      <p:sp>
        <p:nvSpPr>
          <p:cNvPr id="100" name="TextBox 99"/>
          <p:cNvSpPr txBox="1"/>
          <p:nvPr/>
        </p:nvSpPr>
        <p:spPr>
          <a:xfrm>
            <a:off x="3547872" y="5385816"/>
            <a:ext cx="4937760" cy="274320"/>
          </a:xfrm>
          <a:prstGeom prst="rect">
            <a:avLst/>
          </a:prstGeom>
          <a:noFill/>
        </p:spPr>
        <p:txBody>
          <a:bodyPr wrap="square">
            <a:spAutoFit/>
          </a:bodyPr>
          <a:lstStyle/>
          <a:p>
            <a:pPr algn="l"/>
            <a:r>
              <a:rPr sz="900" b="0" i="0">
                <a:solidFill>
                  <a:srgbClr val="F1F5F9"/>
                </a:solidFill>
              </a:rPr>
              <a:t>XSS, SQL injection, path traversal</a:t>
            </a:r>
          </a:p>
        </p:txBody>
      </p:sp>
      <p:sp>
        <p:nvSpPr>
          <p:cNvPr id="101" name="TextBox 100"/>
          <p:cNvSpPr txBox="1"/>
          <p:nvPr/>
        </p:nvSpPr>
        <p:spPr>
          <a:xfrm>
            <a:off x="8577072" y="5385816"/>
            <a:ext cx="1051560" cy="274320"/>
          </a:xfrm>
          <a:prstGeom prst="rect">
            <a:avLst/>
          </a:prstGeom>
          <a:noFill/>
        </p:spPr>
        <p:txBody>
          <a:bodyPr wrap="square">
            <a:spAutoFit/>
          </a:bodyPr>
          <a:lstStyle/>
          <a:p>
            <a:pPr algn="l"/>
            <a:r>
              <a:rPr sz="900" b="0" i="0">
                <a:solidFill>
                  <a:srgbClr val="F1F5F9"/>
                </a:solidFill>
              </a:rPr>
              <a:t>PASS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Regression Testing</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72-case baseline suite run after every code change</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15</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274320" y="1051560"/>
            <a:ext cx="2194560" cy="128016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51560"/>
            <a:ext cx="219456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188720"/>
            <a:ext cx="1920240" cy="548640"/>
          </a:xfrm>
          <a:prstGeom prst="rect">
            <a:avLst/>
          </a:prstGeom>
          <a:noFill/>
        </p:spPr>
        <p:txBody>
          <a:bodyPr wrap="square">
            <a:spAutoFit/>
          </a:bodyPr>
          <a:lstStyle/>
          <a:p>
            <a:pPr algn="ctr"/>
            <a:r>
              <a:rPr sz="2800" b="1" i="0">
                <a:solidFill>
                  <a:srgbClr val="2563EB"/>
                </a:solidFill>
              </a:rPr>
              <a:t>72</a:t>
            </a:r>
          </a:p>
        </p:txBody>
      </p:sp>
      <p:sp>
        <p:nvSpPr>
          <p:cNvPr id="12" name="TextBox 11"/>
          <p:cNvSpPr txBox="1"/>
          <p:nvPr/>
        </p:nvSpPr>
        <p:spPr>
          <a:xfrm>
            <a:off x="365760" y="1709928"/>
            <a:ext cx="2011680" cy="274320"/>
          </a:xfrm>
          <a:prstGeom prst="rect">
            <a:avLst/>
          </a:prstGeom>
          <a:noFill/>
        </p:spPr>
        <p:txBody>
          <a:bodyPr wrap="square">
            <a:spAutoFit/>
          </a:bodyPr>
          <a:lstStyle/>
          <a:p>
            <a:pPr algn="ctr"/>
            <a:r>
              <a:rPr sz="1000" b="1" i="0">
                <a:solidFill>
                  <a:srgbClr val="FFFFFF"/>
                </a:solidFill>
              </a:rPr>
              <a:t>Regression Cases</a:t>
            </a:r>
          </a:p>
        </p:txBody>
      </p:sp>
      <p:sp>
        <p:nvSpPr>
          <p:cNvPr id="13" name="TextBox 12"/>
          <p:cNvSpPr txBox="1"/>
          <p:nvPr/>
        </p:nvSpPr>
        <p:spPr>
          <a:xfrm>
            <a:off x="365760" y="1947672"/>
            <a:ext cx="2011680" cy="320040"/>
          </a:xfrm>
          <a:prstGeom prst="rect">
            <a:avLst/>
          </a:prstGeom>
          <a:noFill/>
        </p:spPr>
        <p:txBody>
          <a:bodyPr wrap="square">
            <a:spAutoFit/>
          </a:bodyPr>
          <a:lstStyle/>
          <a:p>
            <a:pPr algn="ctr"/>
            <a:r>
              <a:rPr sz="800" b="0" i="0">
                <a:solidFill>
                  <a:srgbClr val="94A3B8"/>
                </a:solidFill>
              </a:rPr>
              <a:t>Full suite</a:t>
            </a:r>
          </a:p>
        </p:txBody>
      </p:sp>
      <p:sp>
        <p:nvSpPr>
          <p:cNvPr id="14" name="Rounded Rectangle 13"/>
          <p:cNvSpPr/>
          <p:nvPr/>
        </p:nvSpPr>
        <p:spPr>
          <a:xfrm>
            <a:off x="2651760" y="1051560"/>
            <a:ext cx="2194560" cy="128016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651760" y="1051560"/>
            <a:ext cx="219456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88920" y="1188720"/>
            <a:ext cx="1920240" cy="548640"/>
          </a:xfrm>
          <a:prstGeom prst="rect">
            <a:avLst/>
          </a:prstGeom>
          <a:noFill/>
        </p:spPr>
        <p:txBody>
          <a:bodyPr wrap="square">
            <a:spAutoFit/>
          </a:bodyPr>
          <a:lstStyle/>
          <a:p>
            <a:pPr algn="ctr"/>
            <a:r>
              <a:rPr sz="2800" b="1" i="0">
                <a:solidFill>
                  <a:srgbClr val="059669"/>
                </a:solidFill>
              </a:rPr>
              <a:t>72</a:t>
            </a:r>
          </a:p>
        </p:txBody>
      </p:sp>
      <p:sp>
        <p:nvSpPr>
          <p:cNvPr id="17" name="TextBox 16"/>
          <p:cNvSpPr txBox="1"/>
          <p:nvPr/>
        </p:nvSpPr>
        <p:spPr>
          <a:xfrm>
            <a:off x="2743200" y="1709928"/>
            <a:ext cx="2011680" cy="274320"/>
          </a:xfrm>
          <a:prstGeom prst="rect">
            <a:avLst/>
          </a:prstGeom>
          <a:noFill/>
        </p:spPr>
        <p:txBody>
          <a:bodyPr wrap="square">
            <a:spAutoFit/>
          </a:bodyPr>
          <a:lstStyle/>
          <a:p>
            <a:pPr algn="ctr"/>
            <a:r>
              <a:rPr sz="1000" b="1" i="0">
                <a:solidFill>
                  <a:srgbClr val="FFFFFF"/>
                </a:solidFill>
              </a:rPr>
              <a:t>Passed</a:t>
            </a:r>
          </a:p>
        </p:txBody>
      </p:sp>
      <p:sp>
        <p:nvSpPr>
          <p:cNvPr id="18" name="TextBox 17"/>
          <p:cNvSpPr txBox="1"/>
          <p:nvPr/>
        </p:nvSpPr>
        <p:spPr>
          <a:xfrm>
            <a:off x="2743200" y="1947672"/>
            <a:ext cx="2011680" cy="320040"/>
          </a:xfrm>
          <a:prstGeom prst="rect">
            <a:avLst/>
          </a:prstGeom>
          <a:noFill/>
        </p:spPr>
        <p:txBody>
          <a:bodyPr wrap="square">
            <a:spAutoFit/>
          </a:bodyPr>
          <a:lstStyle/>
          <a:p>
            <a:pPr algn="ctr"/>
            <a:r>
              <a:rPr sz="800" b="0" i="0">
                <a:solidFill>
                  <a:srgbClr val="94A3B8"/>
                </a:solidFill>
              </a:rPr>
              <a:t>Zero failures</a:t>
            </a:r>
          </a:p>
        </p:txBody>
      </p:sp>
      <p:sp>
        <p:nvSpPr>
          <p:cNvPr id="19" name="Rounded Rectangle 18"/>
          <p:cNvSpPr/>
          <p:nvPr/>
        </p:nvSpPr>
        <p:spPr>
          <a:xfrm>
            <a:off x="5029200" y="1051560"/>
            <a:ext cx="2194560" cy="128016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029200" y="1051560"/>
            <a:ext cx="219456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66360" y="1188720"/>
            <a:ext cx="1920240" cy="548640"/>
          </a:xfrm>
          <a:prstGeom prst="rect">
            <a:avLst/>
          </a:prstGeom>
          <a:noFill/>
        </p:spPr>
        <p:txBody>
          <a:bodyPr wrap="square">
            <a:spAutoFit/>
          </a:bodyPr>
          <a:lstStyle/>
          <a:p>
            <a:pPr algn="ctr"/>
            <a:r>
              <a:rPr sz="2800" b="1" i="0">
                <a:solidFill>
                  <a:srgbClr val="7C3AED"/>
                </a:solidFill>
              </a:rPr>
              <a:t>7</a:t>
            </a:r>
          </a:p>
        </p:txBody>
      </p:sp>
      <p:sp>
        <p:nvSpPr>
          <p:cNvPr id="22" name="TextBox 21"/>
          <p:cNvSpPr txBox="1"/>
          <p:nvPr/>
        </p:nvSpPr>
        <p:spPr>
          <a:xfrm>
            <a:off x="5120640" y="1709928"/>
            <a:ext cx="2011680" cy="274320"/>
          </a:xfrm>
          <a:prstGeom prst="rect">
            <a:avLst/>
          </a:prstGeom>
          <a:noFill/>
        </p:spPr>
        <p:txBody>
          <a:bodyPr wrap="square">
            <a:spAutoFit/>
          </a:bodyPr>
          <a:lstStyle/>
          <a:p>
            <a:pPr algn="ctr"/>
            <a:r>
              <a:rPr sz="1000" b="1" i="0">
                <a:solidFill>
                  <a:srgbClr val="FFFFFF"/>
                </a:solidFill>
              </a:rPr>
              <a:t>Coverage Areas</a:t>
            </a:r>
          </a:p>
        </p:txBody>
      </p:sp>
      <p:sp>
        <p:nvSpPr>
          <p:cNvPr id="23" name="TextBox 22"/>
          <p:cNvSpPr txBox="1"/>
          <p:nvPr/>
        </p:nvSpPr>
        <p:spPr>
          <a:xfrm>
            <a:off x="5120640" y="1947672"/>
            <a:ext cx="2011680" cy="320040"/>
          </a:xfrm>
          <a:prstGeom prst="rect">
            <a:avLst/>
          </a:prstGeom>
          <a:noFill/>
        </p:spPr>
        <p:txBody>
          <a:bodyPr wrap="square">
            <a:spAutoFit/>
          </a:bodyPr>
          <a:lstStyle/>
          <a:p>
            <a:pPr algn="ctr"/>
            <a:r>
              <a:rPr sz="800" b="0" i="0">
                <a:solidFill>
                  <a:srgbClr val="94A3B8"/>
                </a:solidFill>
              </a:rPr>
              <a:t>All modules</a:t>
            </a:r>
          </a:p>
        </p:txBody>
      </p:sp>
      <p:sp>
        <p:nvSpPr>
          <p:cNvPr id="24" name="Rounded Rectangle 23"/>
          <p:cNvSpPr/>
          <p:nvPr/>
        </p:nvSpPr>
        <p:spPr>
          <a:xfrm>
            <a:off x="7406640" y="1051560"/>
            <a:ext cx="2194560" cy="128016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406640" y="1051560"/>
            <a:ext cx="219456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543800" y="1188720"/>
            <a:ext cx="1920240" cy="548640"/>
          </a:xfrm>
          <a:prstGeom prst="rect">
            <a:avLst/>
          </a:prstGeom>
          <a:noFill/>
        </p:spPr>
        <p:txBody>
          <a:bodyPr wrap="square">
            <a:spAutoFit/>
          </a:bodyPr>
          <a:lstStyle/>
          <a:p>
            <a:pPr algn="ctr"/>
            <a:r>
              <a:rPr sz="2800" b="1" i="0">
                <a:solidFill>
                  <a:srgbClr val="06B6D4"/>
                </a:solidFill>
              </a:rPr>
              <a:t>1 cmd</a:t>
            </a:r>
          </a:p>
        </p:txBody>
      </p:sp>
      <p:sp>
        <p:nvSpPr>
          <p:cNvPr id="27" name="TextBox 26"/>
          <p:cNvSpPr txBox="1"/>
          <p:nvPr/>
        </p:nvSpPr>
        <p:spPr>
          <a:xfrm>
            <a:off x="7498080" y="1709928"/>
            <a:ext cx="2011680" cy="274320"/>
          </a:xfrm>
          <a:prstGeom prst="rect">
            <a:avLst/>
          </a:prstGeom>
          <a:noFill/>
        </p:spPr>
        <p:txBody>
          <a:bodyPr wrap="square">
            <a:spAutoFit/>
          </a:bodyPr>
          <a:lstStyle/>
          <a:p>
            <a:pPr algn="ctr"/>
            <a:r>
              <a:rPr sz="1000" b="1" i="0">
                <a:solidFill>
                  <a:srgbClr val="FFFFFF"/>
                </a:solidFill>
              </a:rPr>
              <a:t>pytest buglens/tests/</a:t>
            </a:r>
          </a:p>
        </p:txBody>
      </p:sp>
      <p:sp>
        <p:nvSpPr>
          <p:cNvPr id="28" name="TextBox 27"/>
          <p:cNvSpPr txBox="1"/>
          <p:nvPr/>
        </p:nvSpPr>
        <p:spPr>
          <a:xfrm>
            <a:off x="7498080" y="1947672"/>
            <a:ext cx="2011680" cy="320040"/>
          </a:xfrm>
          <a:prstGeom prst="rect">
            <a:avLst/>
          </a:prstGeom>
          <a:noFill/>
        </p:spPr>
        <p:txBody>
          <a:bodyPr wrap="square">
            <a:spAutoFit/>
          </a:bodyPr>
          <a:lstStyle/>
          <a:p>
            <a:pPr algn="ctr"/>
            <a:r>
              <a:rPr sz="800" b="0" i="0">
                <a:solidFill>
                  <a:srgbClr val="94A3B8"/>
                </a:solidFill>
              </a:rPr>
              <a:t>Run trigger</a:t>
            </a:r>
          </a:p>
        </p:txBody>
      </p:sp>
      <p:sp>
        <p:nvSpPr>
          <p:cNvPr id="29" name="Rounded Rectangle 28"/>
          <p:cNvSpPr/>
          <p:nvPr/>
        </p:nvSpPr>
        <p:spPr>
          <a:xfrm>
            <a:off x="274320" y="2514600"/>
            <a:ext cx="1554480" cy="32004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74320" y="2514600"/>
            <a:ext cx="155448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47472" y="2606040"/>
            <a:ext cx="1408176" cy="256032"/>
          </a:xfrm>
          <a:prstGeom prst="rect">
            <a:avLst/>
          </a:prstGeom>
          <a:noFill/>
        </p:spPr>
        <p:txBody>
          <a:bodyPr wrap="square">
            <a:spAutoFit/>
          </a:bodyPr>
          <a:lstStyle/>
          <a:p>
            <a:pPr algn="l"/>
            <a:r>
              <a:rPr sz="800" b="1" i="0">
                <a:solidFill>
                  <a:srgbClr val="2563EB"/>
                </a:solidFill>
              </a:rPr>
              <a:t>Area 1</a:t>
            </a:r>
          </a:p>
        </p:txBody>
      </p:sp>
      <p:sp>
        <p:nvSpPr>
          <p:cNvPr id="32" name="TextBox 31"/>
          <p:cNvSpPr txBox="1"/>
          <p:nvPr/>
        </p:nvSpPr>
        <p:spPr>
          <a:xfrm>
            <a:off x="347472" y="2880360"/>
            <a:ext cx="1408176" cy="411480"/>
          </a:xfrm>
          <a:prstGeom prst="rect">
            <a:avLst/>
          </a:prstGeom>
          <a:noFill/>
        </p:spPr>
        <p:txBody>
          <a:bodyPr wrap="square">
            <a:spAutoFit/>
          </a:bodyPr>
          <a:lstStyle/>
          <a:p>
            <a:pPr algn="l"/>
            <a:r>
              <a:rPr sz="1000" b="1" i="0">
                <a:solidFill>
                  <a:srgbClr val="FFFFFF"/>
                </a:solidFill>
              </a:rPr>
              <a:t>Validation Rules</a:t>
            </a:r>
          </a:p>
        </p:txBody>
      </p:sp>
      <p:sp>
        <p:nvSpPr>
          <p:cNvPr id="33" name="Rounded Rectangle 32"/>
          <p:cNvSpPr/>
          <p:nvPr/>
        </p:nvSpPr>
        <p:spPr>
          <a:xfrm>
            <a:off x="731520" y="3346704"/>
            <a:ext cx="64008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1520" y="3329246"/>
            <a:ext cx="640080" cy="329184"/>
          </a:xfrm>
          <a:prstGeom prst="rect">
            <a:avLst/>
          </a:prstGeom>
          <a:noFill/>
        </p:spPr>
        <p:txBody>
          <a:bodyPr wrap="square">
            <a:spAutoFit/>
          </a:bodyPr>
          <a:lstStyle/>
          <a:p>
            <a:pPr algn="ctr"/>
            <a:r>
              <a:rPr sz="1100" b="1" i="0" dirty="0">
                <a:solidFill>
                  <a:srgbClr val="FFFFFF"/>
                </a:solidFill>
              </a:rPr>
              <a:t>17 cases</a:t>
            </a:r>
          </a:p>
        </p:txBody>
      </p:sp>
      <p:sp>
        <p:nvSpPr>
          <p:cNvPr id="35" name="TextBox 34"/>
          <p:cNvSpPr txBox="1"/>
          <p:nvPr/>
        </p:nvSpPr>
        <p:spPr>
          <a:xfrm>
            <a:off x="347472" y="3822191"/>
            <a:ext cx="1408176" cy="1810512"/>
          </a:xfrm>
          <a:prstGeom prst="rect">
            <a:avLst/>
          </a:prstGeom>
          <a:noFill/>
        </p:spPr>
        <p:txBody>
          <a:bodyPr wrap="square">
            <a:spAutoFit/>
          </a:bodyPr>
          <a:lstStyle/>
          <a:p>
            <a:pPr algn="l"/>
            <a:r>
              <a:rPr sz="800" b="0" i="0">
                <a:solidFill>
                  <a:srgbClr val="94A3B8"/>
                </a:solidFill>
              </a:rPr>
              <a:t>Mandatory fields, vague language, title, steps, env, severity checks</a:t>
            </a:r>
          </a:p>
        </p:txBody>
      </p:sp>
      <p:sp>
        <p:nvSpPr>
          <p:cNvPr id="36" name="Rounded Rectangle 35"/>
          <p:cNvSpPr/>
          <p:nvPr/>
        </p:nvSpPr>
        <p:spPr>
          <a:xfrm>
            <a:off x="1938528" y="2514600"/>
            <a:ext cx="1554480" cy="32004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938528" y="2514600"/>
            <a:ext cx="155448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011680" y="2606040"/>
            <a:ext cx="1408176" cy="256032"/>
          </a:xfrm>
          <a:prstGeom prst="rect">
            <a:avLst/>
          </a:prstGeom>
          <a:noFill/>
        </p:spPr>
        <p:txBody>
          <a:bodyPr wrap="square">
            <a:spAutoFit/>
          </a:bodyPr>
          <a:lstStyle/>
          <a:p>
            <a:pPr algn="l"/>
            <a:r>
              <a:rPr sz="800" b="1" i="0">
                <a:solidFill>
                  <a:srgbClr val="7C3AED"/>
                </a:solidFill>
              </a:rPr>
              <a:t>Area 2</a:t>
            </a:r>
          </a:p>
        </p:txBody>
      </p:sp>
      <p:sp>
        <p:nvSpPr>
          <p:cNvPr id="39" name="TextBox 38"/>
          <p:cNvSpPr txBox="1"/>
          <p:nvPr/>
        </p:nvSpPr>
        <p:spPr>
          <a:xfrm>
            <a:off x="2011680" y="2880360"/>
            <a:ext cx="1408176" cy="411480"/>
          </a:xfrm>
          <a:prstGeom prst="rect">
            <a:avLst/>
          </a:prstGeom>
          <a:noFill/>
        </p:spPr>
        <p:txBody>
          <a:bodyPr wrap="square">
            <a:spAutoFit/>
          </a:bodyPr>
          <a:lstStyle/>
          <a:p>
            <a:pPr algn="l"/>
            <a:r>
              <a:rPr sz="1000" b="1" i="0">
                <a:solidFill>
                  <a:srgbClr val="FFFFFF"/>
                </a:solidFill>
              </a:rPr>
              <a:t>Quality Scoring</a:t>
            </a:r>
          </a:p>
        </p:txBody>
      </p:sp>
      <p:sp>
        <p:nvSpPr>
          <p:cNvPr id="40" name="Rounded Rectangle 39"/>
          <p:cNvSpPr/>
          <p:nvPr/>
        </p:nvSpPr>
        <p:spPr>
          <a:xfrm>
            <a:off x="2395728" y="3346704"/>
            <a:ext cx="640080" cy="38404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377440" y="3329246"/>
            <a:ext cx="640080" cy="329184"/>
          </a:xfrm>
          <a:prstGeom prst="rect">
            <a:avLst/>
          </a:prstGeom>
          <a:noFill/>
        </p:spPr>
        <p:txBody>
          <a:bodyPr wrap="square">
            <a:spAutoFit/>
          </a:bodyPr>
          <a:lstStyle/>
          <a:p>
            <a:pPr algn="ctr"/>
            <a:r>
              <a:rPr sz="1100" b="1" i="0" dirty="0">
                <a:solidFill>
                  <a:srgbClr val="FFFFFF"/>
                </a:solidFill>
              </a:rPr>
              <a:t>16 cases</a:t>
            </a:r>
          </a:p>
        </p:txBody>
      </p:sp>
      <p:sp>
        <p:nvSpPr>
          <p:cNvPr id="42" name="TextBox 41"/>
          <p:cNvSpPr txBox="1"/>
          <p:nvPr/>
        </p:nvSpPr>
        <p:spPr>
          <a:xfrm>
            <a:off x="2011680" y="3822191"/>
            <a:ext cx="1408176" cy="1810512"/>
          </a:xfrm>
          <a:prstGeom prst="rect">
            <a:avLst/>
          </a:prstGeom>
          <a:noFill/>
        </p:spPr>
        <p:txBody>
          <a:bodyPr wrap="square">
            <a:spAutoFit/>
          </a:bodyPr>
          <a:lstStyle/>
          <a:p>
            <a:pPr algn="l"/>
            <a:r>
              <a:rPr sz="800" b="0" i="0">
                <a:solidFill>
                  <a:srgbClr val="94A3B8"/>
                </a:solidFill>
              </a:rPr>
              <a:t>All 6 sections, 5 grade boundaries, score range 0–100</a:t>
            </a:r>
          </a:p>
        </p:txBody>
      </p:sp>
      <p:sp>
        <p:nvSpPr>
          <p:cNvPr id="43" name="Rounded Rectangle 42"/>
          <p:cNvSpPr/>
          <p:nvPr/>
        </p:nvSpPr>
        <p:spPr>
          <a:xfrm>
            <a:off x="3602736" y="2514600"/>
            <a:ext cx="1554480" cy="32004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3602736" y="2514600"/>
            <a:ext cx="155448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675888" y="2606040"/>
            <a:ext cx="1408176" cy="256032"/>
          </a:xfrm>
          <a:prstGeom prst="rect">
            <a:avLst/>
          </a:prstGeom>
          <a:noFill/>
        </p:spPr>
        <p:txBody>
          <a:bodyPr wrap="square">
            <a:spAutoFit/>
          </a:bodyPr>
          <a:lstStyle/>
          <a:p>
            <a:pPr algn="l"/>
            <a:r>
              <a:rPr sz="800" b="1" i="0">
                <a:solidFill>
                  <a:srgbClr val="06B6D4"/>
                </a:solidFill>
              </a:rPr>
              <a:t>Area 3</a:t>
            </a:r>
          </a:p>
        </p:txBody>
      </p:sp>
      <p:sp>
        <p:nvSpPr>
          <p:cNvPr id="46" name="TextBox 45"/>
          <p:cNvSpPr txBox="1"/>
          <p:nvPr/>
        </p:nvSpPr>
        <p:spPr>
          <a:xfrm>
            <a:off x="3675888" y="2880360"/>
            <a:ext cx="1408176" cy="411480"/>
          </a:xfrm>
          <a:prstGeom prst="rect">
            <a:avLst/>
          </a:prstGeom>
          <a:noFill/>
        </p:spPr>
        <p:txBody>
          <a:bodyPr wrap="square">
            <a:spAutoFit/>
          </a:bodyPr>
          <a:lstStyle/>
          <a:p>
            <a:pPr algn="l"/>
            <a:r>
              <a:rPr sz="1000" b="1" i="0">
                <a:solidFill>
                  <a:srgbClr val="FFFFFF"/>
                </a:solidFill>
              </a:rPr>
              <a:t>Rewriter</a:t>
            </a:r>
          </a:p>
        </p:txBody>
      </p:sp>
      <p:sp>
        <p:nvSpPr>
          <p:cNvPr id="47" name="Rounded Rectangle 46"/>
          <p:cNvSpPr/>
          <p:nvPr/>
        </p:nvSpPr>
        <p:spPr>
          <a:xfrm>
            <a:off x="4059936" y="3346704"/>
            <a:ext cx="640080" cy="384048"/>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059936" y="3409878"/>
            <a:ext cx="640080" cy="329184"/>
          </a:xfrm>
          <a:prstGeom prst="rect">
            <a:avLst/>
          </a:prstGeom>
          <a:noFill/>
        </p:spPr>
        <p:txBody>
          <a:bodyPr wrap="square">
            <a:spAutoFit/>
          </a:bodyPr>
          <a:lstStyle/>
          <a:p>
            <a:pPr algn="ctr"/>
            <a:r>
              <a:rPr sz="1100" b="1" i="0" dirty="0">
                <a:solidFill>
                  <a:srgbClr val="FFFFFF"/>
                </a:solidFill>
              </a:rPr>
              <a:t>6 cases</a:t>
            </a:r>
          </a:p>
        </p:txBody>
      </p:sp>
      <p:sp>
        <p:nvSpPr>
          <p:cNvPr id="49" name="TextBox 48"/>
          <p:cNvSpPr txBox="1"/>
          <p:nvPr/>
        </p:nvSpPr>
        <p:spPr>
          <a:xfrm>
            <a:off x="3675888" y="3822191"/>
            <a:ext cx="1408176" cy="1810512"/>
          </a:xfrm>
          <a:prstGeom prst="rect">
            <a:avLst/>
          </a:prstGeom>
          <a:noFill/>
        </p:spPr>
        <p:txBody>
          <a:bodyPr wrap="square">
            <a:spAutoFit/>
          </a:bodyPr>
          <a:lstStyle/>
          <a:p>
            <a:pPr algn="l"/>
            <a:r>
              <a:rPr sz="800" b="0" i="0">
                <a:solidFill>
                  <a:srgbClr val="94A3B8"/>
                </a:solidFill>
              </a:rPr>
              <a:t>Local mode, non-empty output, numbered steps, all fields in rewrite</a:t>
            </a:r>
          </a:p>
        </p:txBody>
      </p:sp>
      <p:sp>
        <p:nvSpPr>
          <p:cNvPr id="50" name="Rounded Rectangle 49"/>
          <p:cNvSpPr/>
          <p:nvPr/>
        </p:nvSpPr>
        <p:spPr>
          <a:xfrm>
            <a:off x="5266944" y="2514600"/>
            <a:ext cx="1554480" cy="32004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5266944" y="2514600"/>
            <a:ext cx="155448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340096" y="2606040"/>
            <a:ext cx="1408176" cy="256032"/>
          </a:xfrm>
          <a:prstGeom prst="rect">
            <a:avLst/>
          </a:prstGeom>
          <a:noFill/>
        </p:spPr>
        <p:txBody>
          <a:bodyPr wrap="square">
            <a:spAutoFit/>
          </a:bodyPr>
          <a:lstStyle/>
          <a:p>
            <a:pPr algn="l"/>
            <a:r>
              <a:rPr sz="800" b="1" i="0">
                <a:solidFill>
                  <a:srgbClr val="059669"/>
                </a:solidFill>
              </a:rPr>
              <a:t>Area 4</a:t>
            </a:r>
          </a:p>
        </p:txBody>
      </p:sp>
      <p:sp>
        <p:nvSpPr>
          <p:cNvPr id="53" name="TextBox 52"/>
          <p:cNvSpPr txBox="1"/>
          <p:nvPr/>
        </p:nvSpPr>
        <p:spPr>
          <a:xfrm>
            <a:off x="5340096" y="2880360"/>
            <a:ext cx="1408176" cy="411480"/>
          </a:xfrm>
          <a:prstGeom prst="rect">
            <a:avLst/>
          </a:prstGeom>
          <a:noFill/>
        </p:spPr>
        <p:txBody>
          <a:bodyPr wrap="square">
            <a:spAutoFit/>
          </a:bodyPr>
          <a:lstStyle/>
          <a:p>
            <a:pPr algn="l"/>
            <a:r>
              <a:rPr sz="1000" b="1" i="0">
                <a:solidFill>
                  <a:srgbClr val="FFFFFF"/>
                </a:solidFill>
              </a:rPr>
              <a:t>REST API</a:t>
            </a:r>
          </a:p>
        </p:txBody>
      </p:sp>
      <p:sp>
        <p:nvSpPr>
          <p:cNvPr id="54" name="Rounded Rectangle 53"/>
          <p:cNvSpPr/>
          <p:nvPr/>
        </p:nvSpPr>
        <p:spPr>
          <a:xfrm>
            <a:off x="5724144" y="3346704"/>
            <a:ext cx="640080" cy="384048"/>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724144" y="3319271"/>
            <a:ext cx="640080" cy="329184"/>
          </a:xfrm>
          <a:prstGeom prst="rect">
            <a:avLst/>
          </a:prstGeom>
          <a:noFill/>
        </p:spPr>
        <p:txBody>
          <a:bodyPr wrap="square">
            <a:spAutoFit/>
          </a:bodyPr>
          <a:lstStyle/>
          <a:p>
            <a:pPr algn="ctr"/>
            <a:r>
              <a:rPr sz="1100" b="1" i="0" dirty="0">
                <a:solidFill>
                  <a:srgbClr val="FFFFFF"/>
                </a:solidFill>
              </a:rPr>
              <a:t>13 cases</a:t>
            </a:r>
          </a:p>
        </p:txBody>
      </p:sp>
      <p:sp>
        <p:nvSpPr>
          <p:cNvPr id="56" name="TextBox 55"/>
          <p:cNvSpPr txBox="1"/>
          <p:nvPr/>
        </p:nvSpPr>
        <p:spPr>
          <a:xfrm>
            <a:off x="5340096" y="3822191"/>
            <a:ext cx="1408176" cy="1810512"/>
          </a:xfrm>
          <a:prstGeom prst="rect">
            <a:avLst/>
          </a:prstGeom>
          <a:noFill/>
        </p:spPr>
        <p:txBody>
          <a:bodyPr wrap="square">
            <a:spAutoFit/>
          </a:bodyPr>
          <a:lstStyle/>
          <a:p>
            <a:pPr algn="l"/>
            <a:r>
              <a:rPr sz="800" b="0" i="0">
                <a:solidFill>
                  <a:srgbClr val="94A3B8"/>
                </a:solidFill>
              </a:rPr>
              <a:t>All 8 endpoints, status codes, response schema, malformed JSON</a:t>
            </a:r>
          </a:p>
        </p:txBody>
      </p:sp>
      <p:sp>
        <p:nvSpPr>
          <p:cNvPr id="57" name="Rounded Rectangle 56"/>
          <p:cNvSpPr/>
          <p:nvPr/>
        </p:nvSpPr>
        <p:spPr>
          <a:xfrm>
            <a:off x="6931152" y="2514600"/>
            <a:ext cx="1554480" cy="32004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6931152" y="2514600"/>
            <a:ext cx="1554480"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004304" y="2606040"/>
            <a:ext cx="1408176" cy="256032"/>
          </a:xfrm>
          <a:prstGeom prst="rect">
            <a:avLst/>
          </a:prstGeom>
          <a:noFill/>
        </p:spPr>
        <p:txBody>
          <a:bodyPr wrap="square">
            <a:spAutoFit/>
          </a:bodyPr>
          <a:lstStyle/>
          <a:p>
            <a:pPr algn="l"/>
            <a:r>
              <a:rPr sz="800" b="1" i="0">
                <a:solidFill>
                  <a:srgbClr val="D97706"/>
                </a:solidFill>
              </a:rPr>
              <a:t>Area 5</a:t>
            </a:r>
          </a:p>
        </p:txBody>
      </p:sp>
      <p:sp>
        <p:nvSpPr>
          <p:cNvPr id="60" name="TextBox 59"/>
          <p:cNvSpPr txBox="1"/>
          <p:nvPr/>
        </p:nvSpPr>
        <p:spPr>
          <a:xfrm>
            <a:off x="7004304" y="2880360"/>
            <a:ext cx="1408176" cy="411480"/>
          </a:xfrm>
          <a:prstGeom prst="rect">
            <a:avLst/>
          </a:prstGeom>
          <a:noFill/>
        </p:spPr>
        <p:txBody>
          <a:bodyPr wrap="square">
            <a:spAutoFit/>
          </a:bodyPr>
          <a:lstStyle/>
          <a:p>
            <a:pPr algn="l"/>
            <a:r>
              <a:rPr sz="1000" b="1" i="0">
                <a:solidFill>
                  <a:srgbClr val="FFFFFF"/>
                </a:solidFill>
              </a:rPr>
              <a:t>Storage</a:t>
            </a:r>
          </a:p>
        </p:txBody>
      </p:sp>
      <p:sp>
        <p:nvSpPr>
          <p:cNvPr id="61" name="Rounded Rectangle 60"/>
          <p:cNvSpPr/>
          <p:nvPr/>
        </p:nvSpPr>
        <p:spPr>
          <a:xfrm>
            <a:off x="7388352" y="3346704"/>
            <a:ext cx="640080" cy="38404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406640" y="3416529"/>
            <a:ext cx="640080" cy="329184"/>
          </a:xfrm>
          <a:prstGeom prst="rect">
            <a:avLst/>
          </a:prstGeom>
          <a:noFill/>
        </p:spPr>
        <p:txBody>
          <a:bodyPr wrap="square">
            <a:spAutoFit/>
          </a:bodyPr>
          <a:lstStyle/>
          <a:p>
            <a:pPr algn="ctr"/>
            <a:r>
              <a:rPr sz="1100" b="1" i="0" dirty="0">
                <a:solidFill>
                  <a:srgbClr val="FFFFFF"/>
                </a:solidFill>
              </a:rPr>
              <a:t>6 cases</a:t>
            </a:r>
          </a:p>
        </p:txBody>
      </p:sp>
      <p:sp>
        <p:nvSpPr>
          <p:cNvPr id="63" name="TextBox 62"/>
          <p:cNvSpPr txBox="1"/>
          <p:nvPr/>
        </p:nvSpPr>
        <p:spPr>
          <a:xfrm>
            <a:off x="7004304" y="3822191"/>
            <a:ext cx="1408176" cy="1810512"/>
          </a:xfrm>
          <a:prstGeom prst="rect">
            <a:avLst/>
          </a:prstGeom>
          <a:noFill/>
        </p:spPr>
        <p:txBody>
          <a:bodyPr wrap="square">
            <a:spAutoFit/>
          </a:bodyPr>
          <a:lstStyle/>
          <a:p>
            <a:pPr algn="l"/>
            <a:r>
              <a:rPr sz="800" b="0" i="0">
                <a:solidFill>
                  <a:srgbClr val="94A3B8"/>
                </a:solidFill>
              </a:rPr>
              <a:t>Save, list, get, delete, upsert, schema auto-create</a:t>
            </a:r>
          </a:p>
        </p:txBody>
      </p:sp>
      <p:sp>
        <p:nvSpPr>
          <p:cNvPr id="64" name="Rounded Rectangle 63"/>
          <p:cNvSpPr/>
          <p:nvPr/>
        </p:nvSpPr>
        <p:spPr>
          <a:xfrm>
            <a:off x="8595360" y="2514600"/>
            <a:ext cx="1554480" cy="32004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8595360" y="2514600"/>
            <a:ext cx="155448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668512" y="2606040"/>
            <a:ext cx="1408176" cy="256032"/>
          </a:xfrm>
          <a:prstGeom prst="rect">
            <a:avLst/>
          </a:prstGeom>
          <a:noFill/>
        </p:spPr>
        <p:txBody>
          <a:bodyPr wrap="square">
            <a:spAutoFit/>
          </a:bodyPr>
          <a:lstStyle/>
          <a:p>
            <a:pPr algn="l"/>
            <a:r>
              <a:rPr sz="800" b="1" i="0">
                <a:solidFill>
                  <a:srgbClr val="EA580C"/>
                </a:solidFill>
              </a:rPr>
              <a:t>Area 6</a:t>
            </a:r>
          </a:p>
        </p:txBody>
      </p:sp>
      <p:sp>
        <p:nvSpPr>
          <p:cNvPr id="67" name="TextBox 66"/>
          <p:cNvSpPr txBox="1"/>
          <p:nvPr/>
        </p:nvSpPr>
        <p:spPr>
          <a:xfrm>
            <a:off x="8668512" y="2880360"/>
            <a:ext cx="1408176" cy="411480"/>
          </a:xfrm>
          <a:prstGeom prst="rect">
            <a:avLst/>
          </a:prstGeom>
          <a:noFill/>
        </p:spPr>
        <p:txBody>
          <a:bodyPr wrap="square">
            <a:spAutoFit/>
          </a:bodyPr>
          <a:lstStyle/>
          <a:p>
            <a:pPr algn="l"/>
            <a:r>
              <a:rPr sz="1000" b="1" i="0">
                <a:solidFill>
                  <a:srgbClr val="FFFFFF"/>
                </a:solidFill>
              </a:rPr>
              <a:t>UI Core Flows</a:t>
            </a:r>
          </a:p>
        </p:txBody>
      </p:sp>
      <p:sp>
        <p:nvSpPr>
          <p:cNvPr id="68" name="Rounded Rectangle 67"/>
          <p:cNvSpPr/>
          <p:nvPr/>
        </p:nvSpPr>
        <p:spPr>
          <a:xfrm>
            <a:off x="9052560" y="3346704"/>
            <a:ext cx="640080" cy="38404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052560" y="3429000"/>
            <a:ext cx="640080" cy="329184"/>
          </a:xfrm>
          <a:prstGeom prst="rect">
            <a:avLst/>
          </a:prstGeom>
          <a:noFill/>
        </p:spPr>
        <p:txBody>
          <a:bodyPr wrap="square">
            <a:spAutoFit/>
          </a:bodyPr>
          <a:lstStyle/>
          <a:p>
            <a:pPr algn="ctr"/>
            <a:r>
              <a:rPr sz="1100" b="1" i="0" dirty="0">
                <a:solidFill>
                  <a:srgbClr val="FFFFFF"/>
                </a:solidFill>
              </a:rPr>
              <a:t>9 cases</a:t>
            </a:r>
          </a:p>
        </p:txBody>
      </p:sp>
      <p:sp>
        <p:nvSpPr>
          <p:cNvPr id="70" name="TextBox 69"/>
          <p:cNvSpPr txBox="1"/>
          <p:nvPr/>
        </p:nvSpPr>
        <p:spPr>
          <a:xfrm>
            <a:off x="8668512" y="3822191"/>
            <a:ext cx="1408176" cy="1810512"/>
          </a:xfrm>
          <a:prstGeom prst="rect">
            <a:avLst/>
          </a:prstGeom>
          <a:noFill/>
        </p:spPr>
        <p:txBody>
          <a:bodyPr wrap="square">
            <a:spAutoFit/>
          </a:bodyPr>
          <a:lstStyle/>
          <a:p>
            <a:pPr algn="l"/>
            <a:r>
              <a:rPr sz="800" b="0" i="0">
                <a:solidFill>
                  <a:srgbClr val="94A3B8"/>
                </a:solidFill>
              </a:rPr>
              <a:t>Login, analyze, clear, sample, history, compare, download, logout</a:t>
            </a:r>
          </a:p>
        </p:txBody>
      </p:sp>
      <p:sp>
        <p:nvSpPr>
          <p:cNvPr id="71" name="Rounded Rectangle 70"/>
          <p:cNvSpPr/>
          <p:nvPr/>
        </p:nvSpPr>
        <p:spPr>
          <a:xfrm>
            <a:off x="10259568" y="2514600"/>
            <a:ext cx="1554480" cy="32004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0259568" y="2514600"/>
            <a:ext cx="155448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0332720" y="2606040"/>
            <a:ext cx="1408176" cy="256032"/>
          </a:xfrm>
          <a:prstGeom prst="rect">
            <a:avLst/>
          </a:prstGeom>
          <a:noFill/>
        </p:spPr>
        <p:txBody>
          <a:bodyPr wrap="square">
            <a:spAutoFit/>
          </a:bodyPr>
          <a:lstStyle/>
          <a:p>
            <a:pPr algn="l"/>
            <a:r>
              <a:rPr sz="800" b="1" i="0">
                <a:solidFill>
                  <a:srgbClr val="DC2626"/>
                </a:solidFill>
              </a:rPr>
              <a:t>Area 7</a:t>
            </a:r>
          </a:p>
        </p:txBody>
      </p:sp>
      <p:sp>
        <p:nvSpPr>
          <p:cNvPr id="74" name="TextBox 73"/>
          <p:cNvSpPr txBox="1"/>
          <p:nvPr/>
        </p:nvSpPr>
        <p:spPr>
          <a:xfrm>
            <a:off x="10332720" y="2880360"/>
            <a:ext cx="1408176" cy="411480"/>
          </a:xfrm>
          <a:prstGeom prst="rect">
            <a:avLst/>
          </a:prstGeom>
          <a:noFill/>
        </p:spPr>
        <p:txBody>
          <a:bodyPr wrap="square">
            <a:spAutoFit/>
          </a:bodyPr>
          <a:lstStyle/>
          <a:p>
            <a:pPr algn="l"/>
            <a:r>
              <a:rPr sz="1000" b="1" i="0">
                <a:solidFill>
                  <a:srgbClr val="FFFFFF"/>
                </a:solidFill>
              </a:rPr>
              <a:t>Mailer</a:t>
            </a:r>
          </a:p>
        </p:txBody>
      </p:sp>
      <p:sp>
        <p:nvSpPr>
          <p:cNvPr id="75" name="Rounded Rectangle 74"/>
          <p:cNvSpPr/>
          <p:nvPr/>
        </p:nvSpPr>
        <p:spPr>
          <a:xfrm>
            <a:off x="10716768" y="3346704"/>
            <a:ext cx="640080" cy="384048"/>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10716768" y="3406140"/>
            <a:ext cx="640080" cy="329184"/>
          </a:xfrm>
          <a:prstGeom prst="rect">
            <a:avLst/>
          </a:prstGeom>
          <a:noFill/>
        </p:spPr>
        <p:txBody>
          <a:bodyPr wrap="square">
            <a:spAutoFit/>
          </a:bodyPr>
          <a:lstStyle/>
          <a:p>
            <a:pPr algn="ctr"/>
            <a:r>
              <a:rPr sz="1100" b="1" i="0" dirty="0">
                <a:solidFill>
                  <a:srgbClr val="FFFFFF"/>
                </a:solidFill>
              </a:rPr>
              <a:t>5 cases</a:t>
            </a:r>
          </a:p>
        </p:txBody>
      </p:sp>
      <p:sp>
        <p:nvSpPr>
          <p:cNvPr id="77" name="TextBox 76"/>
          <p:cNvSpPr txBox="1"/>
          <p:nvPr/>
        </p:nvSpPr>
        <p:spPr>
          <a:xfrm>
            <a:off x="10332720" y="3822191"/>
            <a:ext cx="1408176" cy="1810512"/>
          </a:xfrm>
          <a:prstGeom prst="rect">
            <a:avLst/>
          </a:prstGeom>
          <a:noFill/>
        </p:spPr>
        <p:txBody>
          <a:bodyPr wrap="square">
            <a:spAutoFit/>
          </a:bodyPr>
          <a:lstStyle/>
          <a:p>
            <a:pPr algn="l"/>
            <a:r>
              <a:rPr sz="800" b="0" i="0">
                <a:solidFill>
                  <a:srgbClr val="94A3B8"/>
                </a:solidFill>
              </a:rPr>
              <a:t>smtp_configured, missing keys, RuntimeError, ValueError, mock SMTP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Performance Testing</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Response time, stability, and load handling</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16</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320040" y="1097280"/>
            <a:ext cx="3657600" cy="214884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 y="1097280"/>
            <a:ext cx="365760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280160"/>
            <a:ext cx="3474720" cy="822960"/>
          </a:xfrm>
          <a:prstGeom prst="rect">
            <a:avLst/>
          </a:prstGeom>
          <a:noFill/>
        </p:spPr>
        <p:txBody>
          <a:bodyPr wrap="square">
            <a:spAutoFit/>
          </a:bodyPr>
          <a:lstStyle/>
          <a:p>
            <a:pPr algn="ctr"/>
            <a:r>
              <a:rPr sz="4000" b="1" i="0">
                <a:solidFill>
                  <a:srgbClr val="059669"/>
                </a:solidFill>
              </a:rPr>
              <a:t>&lt; 2 s</a:t>
            </a:r>
          </a:p>
        </p:txBody>
      </p:sp>
      <p:sp>
        <p:nvSpPr>
          <p:cNvPr id="12" name="TextBox 11"/>
          <p:cNvSpPr txBox="1"/>
          <p:nvPr/>
        </p:nvSpPr>
        <p:spPr>
          <a:xfrm>
            <a:off x="411480" y="2057400"/>
            <a:ext cx="3474720" cy="457200"/>
          </a:xfrm>
          <a:prstGeom prst="rect">
            <a:avLst/>
          </a:prstGeom>
          <a:noFill/>
        </p:spPr>
        <p:txBody>
          <a:bodyPr wrap="square">
            <a:spAutoFit/>
          </a:bodyPr>
          <a:lstStyle/>
          <a:p>
            <a:pPr algn="ctr"/>
            <a:r>
              <a:rPr sz="1100" b="1" i="0">
                <a:solidFill>
                  <a:srgbClr val="FFFFFF"/>
                </a:solidFill>
              </a:rPr>
              <a:t>Single analysis
response time</a:t>
            </a:r>
          </a:p>
        </p:txBody>
      </p:sp>
      <p:sp>
        <p:nvSpPr>
          <p:cNvPr id="13" name="TextBox 12"/>
          <p:cNvSpPr txBox="1"/>
          <p:nvPr/>
        </p:nvSpPr>
        <p:spPr>
          <a:xfrm>
            <a:off x="411480" y="2514600"/>
            <a:ext cx="3474720" cy="640080"/>
          </a:xfrm>
          <a:prstGeom prst="rect">
            <a:avLst/>
          </a:prstGeom>
          <a:noFill/>
        </p:spPr>
        <p:txBody>
          <a:bodyPr wrap="square">
            <a:spAutoFit/>
          </a:bodyPr>
          <a:lstStyle/>
          <a:p>
            <a:pPr algn="ctr"/>
            <a:r>
              <a:rPr sz="850" b="0" i="0">
                <a:solidFill>
                  <a:srgbClr val="94A3B8"/>
                </a:solidFill>
              </a:rPr>
              <a:t>POST /analyze with 7 fields, local mode, no OpenAI</a:t>
            </a:r>
          </a:p>
        </p:txBody>
      </p:sp>
      <p:sp>
        <p:nvSpPr>
          <p:cNvPr id="14" name="Rounded Rectangle 13"/>
          <p:cNvSpPr/>
          <p:nvPr/>
        </p:nvSpPr>
        <p:spPr>
          <a:xfrm>
            <a:off x="4251960" y="1097280"/>
            <a:ext cx="3657600" cy="214884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51960" y="1097280"/>
            <a:ext cx="365760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43400" y="1280160"/>
            <a:ext cx="3474720" cy="822960"/>
          </a:xfrm>
          <a:prstGeom prst="rect">
            <a:avLst/>
          </a:prstGeom>
          <a:noFill/>
        </p:spPr>
        <p:txBody>
          <a:bodyPr wrap="square">
            <a:spAutoFit/>
          </a:bodyPr>
          <a:lstStyle/>
          <a:p>
            <a:pPr algn="ctr"/>
            <a:r>
              <a:rPr sz="4000" b="1" i="0">
                <a:solidFill>
                  <a:srgbClr val="059669"/>
                </a:solidFill>
              </a:rPr>
              <a:t>&lt; 1.5 s</a:t>
            </a:r>
          </a:p>
        </p:txBody>
      </p:sp>
      <p:sp>
        <p:nvSpPr>
          <p:cNvPr id="17" name="TextBox 16"/>
          <p:cNvSpPr txBox="1"/>
          <p:nvPr/>
        </p:nvSpPr>
        <p:spPr>
          <a:xfrm>
            <a:off x="4343400" y="2057400"/>
            <a:ext cx="3474720" cy="457200"/>
          </a:xfrm>
          <a:prstGeom prst="rect">
            <a:avLst/>
          </a:prstGeom>
          <a:noFill/>
        </p:spPr>
        <p:txBody>
          <a:bodyPr wrap="square">
            <a:spAutoFit/>
          </a:bodyPr>
          <a:lstStyle/>
          <a:p>
            <a:pPr algn="ctr"/>
            <a:r>
              <a:rPr sz="1100" b="1" i="0">
                <a:solidFill>
                  <a:srgbClr val="FFFFFF"/>
                </a:solidFill>
              </a:rPr>
              <a:t>Average over
10 sequential calls</a:t>
            </a:r>
          </a:p>
        </p:txBody>
      </p:sp>
      <p:sp>
        <p:nvSpPr>
          <p:cNvPr id="18" name="TextBox 17"/>
          <p:cNvSpPr txBox="1"/>
          <p:nvPr/>
        </p:nvSpPr>
        <p:spPr>
          <a:xfrm>
            <a:off x="4343400" y="2514600"/>
            <a:ext cx="3474720" cy="640080"/>
          </a:xfrm>
          <a:prstGeom prst="rect">
            <a:avLst/>
          </a:prstGeom>
          <a:noFill/>
        </p:spPr>
        <p:txBody>
          <a:bodyPr wrap="square">
            <a:spAutoFit/>
          </a:bodyPr>
          <a:lstStyle/>
          <a:p>
            <a:pPr algn="ctr"/>
            <a:r>
              <a:rPr sz="850" b="0" i="0">
                <a:solidFill>
                  <a:srgbClr val="94A3B8"/>
                </a:solidFill>
              </a:rPr>
              <a:t>Back-to-back POST /analyze; no degradation observed</a:t>
            </a:r>
          </a:p>
        </p:txBody>
      </p:sp>
      <p:sp>
        <p:nvSpPr>
          <p:cNvPr id="19" name="Rounded Rectangle 18"/>
          <p:cNvSpPr/>
          <p:nvPr/>
        </p:nvSpPr>
        <p:spPr>
          <a:xfrm>
            <a:off x="8183880" y="1097280"/>
            <a:ext cx="3657600" cy="214884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183880" y="1097280"/>
            <a:ext cx="365760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5320" y="1280160"/>
            <a:ext cx="3474720" cy="822960"/>
          </a:xfrm>
          <a:prstGeom prst="rect">
            <a:avLst/>
          </a:prstGeom>
          <a:noFill/>
        </p:spPr>
        <p:txBody>
          <a:bodyPr wrap="square">
            <a:spAutoFit/>
          </a:bodyPr>
          <a:lstStyle/>
          <a:p>
            <a:pPr algn="ctr"/>
            <a:r>
              <a:rPr sz="4000" b="1" i="0">
                <a:solidFill>
                  <a:srgbClr val="059669"/>
                </a:solidFill>
              </a:rPr>
              <a:t>&lt; 500 ms</a:t>
            </a:r>
          </a:p>
        </p:txBody>
      </p:sp>
      <p:sp>
        <p:nvSpPr>
          <p:cNvPr id="22" name="TextBox 21"/>
          <p:cNvSpPr txBox="1"/>
          <p:nvPr/>
        </p:nvSpPr>
        <p:spPr>
          <a:xfrm>
            <a:off x="8275320" y="2057400"/>
            <a:ext cx="3474720" cy="457200"/>
          </a:xfrm>
          <a:prstGeom prst="rect">
            <a:avLst/>
          </a:prstGeom>
          <a:noFill/>
        </p:spPr>
        <p:txBody>
          <a:bodyPr wrap="square">
            <a:spAutoFit/>
          </a:bodyPr>
          <a:lstStyle/>
          <a:p>
            <a:pPr algn="ctr"/>
            <a:r>
              <a:rPr sz="1100" b="1" i="0">
                <a:solidFill>
                  <a:srgbClr val="FFFFFF"/>
                </a:solidFill>
              </a:rPr>
              <a:t>GET /history
100 records</a:t>
            </a:r>
          </a:p>
        </p:txBody>
      </p:sp>
      <p:sp>
        <p:nvSpPr>
          <p:cNvPr id="23" name="TextBox 22"/>
          <p:cNvSpPr txBox="1"/>
          <p:nvPr/>
        </p:nvSpPr>
        <p:spPr>
          <a:xfrm>
            <a:off x="8275320" y="2514600"/>
            <a:ext cx="3474720" cy="640080"/>
          </a:xfrm>
          <a:prstGeom prst="rect">
            <a:avLst/>
          </a:prstGeom>
          <a:noFill/>
        </p:spPr>
        <p:txBody>
          <a:bodyPr wrap="square">
            <a:spAutoFit/>
          </a:bodyPr>
          <a:lstStyle/>
          <a:p>
            <a:pPr algn="ctr"/>
            <a:r>
              <a:rPr sz="850" b="0" i="0">
                <a:solidFill>
                  <a:srgbClr val="94A3B8"/>
                </a:solidFill>
              </a:rPr>
              <a:t>100-row SQLite fetch with created_ts index</a:t>
            </a:r>
          </a:p>
        </p:txBody>
      </p:sp>
      <p:sp>
        <p:nvSpPr>
          <p:cNvPr id="24" name="Rounded Rectangle 23"/>
          <p:cNvSpPr/>
          <p:nvPr/>
        </p:nvSpPr>
        <p:spPr>
          <a:xfrm>
            <a:off x="320040" y="3474720"/>
            <a:ext cx="3657600" cy="214884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0040" y="3474720"/>
            <a:ext cx="365760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1480" y="3657600"/>
            <a:ext cx="3474720" cy="822960"/>
          </a:xfrm>
          <a:prstGeom prst="rect">
            <a:avLst/>
          </a:prstGeom>
          <a:noFill/>
        </p:spPr>
        <p:txBody>
          <a:bodyPr wrap="square">
            <a:spAutoFit/>
          </a:bodyPr>
          <a:lstStyle/>
          <a:p>
            <a:pPr algn="ctr"/>
            <a:r>
              <a:rPr sz="4000" b="1" i="0">
                <a:solidFill>
                  <a:srgbClr val="059669"/>
                </a:solidFill>
              </a:rPr>
              <a:t>&lt; 3 s</a:t>
            </a:r>
          </a:p>
        </p:txBody>
      </p:sp>
      <p:sp>
        <p:nvSpPr>
          <p:cNvPr id="27" name="TextBox 26"/>
          <p:cNvSpPr txBox="1"/>
          <p:nvPr/>
        </p:nvSpPr>
        <p:spPr>
          <a:xfrm>
            <a:off x="411480" y="4434840"/>
            <a:ext cx="3474720" cy="457200"/>
          </a:xfrm>
          <a:prstGeom prst="rect">
            <a:avLst/>
          </a:prstGeom>
          <a:noFill/>
        </p:spPr>
        <p:txBody>
          <a:bodyPr wrap="square">
            <a:spAutoFit/>
          </a:bodyPr>
          <a:lstStyle/>
          <a:p>
            <a:pPr algn="ctr"/>
            <a:r>
              <a:rPr sz="1100" b="1" i="0">
                <a:solidFill>
                  <a:srgbClr val="FFFFFF"/>
                </a:solidFill>
              </a:rPr>
              <a:t>Large payload
(5000 char desc)</a:t>
            </a:r>
          </a:p>
        </p:txBody>
      </p:sp>
      <p:sp>
        <p:nvSpPr>
          <p:cNvPr id="28" name="TextBox 27"/>
          <p:cNvSpPr txBox="1"/>
          <p:nvPr/>
        </p:nvSpPr>
        <p:spPr>
          <a:xfrm>
            <a:off x="411480" y="4892040"/>
            <a:ext cx="3474720" cy="640080"/>
          </a:xfrm>
          <a:prstGeom prst="rect">
            <a:avLst/>
          </a:prstGeom>
          <a:noFill/>
        </p:spPr>
        <p:txBody>
          <a:bodyPr wrap="square">
            <a:spAutoFit/>
          </a:bodyPr>
          <a:lstStyle/>
          <a:p>
            <a:pPr algn="ctr"/>
            <a:r>
              <a:rPr sz="850" b="0" i="0">
                <a:solidFill>
                  <a:srgbClr val="94A3B8"/>
                </a:solidFill>
              </a:rPr>
              <a:t>Text processing, scoring, local rewrite all complete</a:t>
            </a:r>
          </a:p>
        </p:txBody>
      </p:sp>
      <p:sp>
        <p:nvSpPr>
          <p:cNvPr id="29" name="Rounded Rectangle 28"/>
          <p:cNvSpPr/>
          <p:nvPr/>
        </p:nvSpPr>
        <p:spPr>
          <a:xfrm>
            <a:off x="4251960" y="3474720"/>
            <a:ext cx="3657600" cy="214884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51960" y="3474720"/>
            <a:ext cx="365760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343400" y="3657600"/>
            <a:ext cx="3474720" cy="822960"/>
          </a:xfrm>
          <a:prstGeom prst="rect">
            <a:avLst/>
          </a:prstGeom>
          <a:noFill/>
        </p:spPr>
        <p:txBody>
          <a:bodyPr wrap="square">
            <a:spAutoFit/>
          </a:bodyPr>
          <a:lstStyle/>
          <a:p>
            <a:pPr algn="ctr"/>
            <a:r>
              <a:rPr sz="4000" b="1" i="0">
                <a:solidFill>
                  <a:srgbClr val="059669"/>
                </a:solidFill>
              </a:rPr>
              <a:t>&lt; 3 s</a:t>
            </a:r>
          </a:p>
        </p:txBody>
      </p:sp>
      <p:sp>
        <p:nvSpPr>
          <p:cNvPr id="32" name="TextBox 31"/>
          <p:cNvSpPr txBox="1"/>
          <p:nvPr/>
        </p:nvSpPr>
        <p:spPr>
          <a:xfrm>
            <a:off x="4343400" y="4434840"/>
            <a:ext cx="3474720" cy="457200"/>
          </a:xfrm>
          <a:prstGeom prst="rect">
            <a:avLst/>
          </a:prstGeom>
          <a:noFill/>
        </p:spPr>
        <p:txBody>
          <a:bodyPr wrap="square">
            <a:spAutoFit/>
          </a:bodyPr>
          <a:lstStyle/>
          <a:p>
            <a:pPr algn="ctr"/>
            <a:r>
              <a:rPr sz="1100" b="1" i="0">
                <a:solidFill>
                  <a:srgbClr val="FFFFFF"/>
                </a:solidFill>
              </a:rPr>
              <a:t>UI initial load</a:t>
            </a:r>
          </a:p>
        </p:txBody>
      </p:sp>
      <p:sp>
        <p:nvSpPr>
          <p:cNvPr id="33" name="TextBox 32"/>
          <p:cNvSpPr txBox="1"/>
          <p:nvPr/>
        </p:nvSpPr>
        <p:spPr>
          <a:xfrm>
            <a:off x="4343400" y="4892040"/>
            <a:ext cx="3474720" cy="640080"/>
          </a:xfrm>
          <a:prstGeom prst="rect">
            <a:avLst/>
          </a:prstGeom>
          <a:noFill/>
        </p:spPr>
        <p:txBody>
          <a:bodyPr wrap="square">
            <a:spAutoFit/>
          </a:bodyPr>
          <a:lstStyle/>
          <a:p>
            <a:pPr algn="ctr"/>
            <a:r>
              <a:rPr sz="850" b="0" i="0">
                <a:solidFill>
                  <a:srgbClr val="94A3B8"/>
                </a:solidFill>
              </a:rPr>
              <a:t>Streamlit app cold start to dashboard visible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User Acceptance Testing (UAT)</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28 test cases across 5 business requirements</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17</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274320" y="1051560"/>
            <a:ext cx="265176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51560"/>
            <a:ext cx="265176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188720"/>
            <a:ext cx="2377440" cy="548640"/>
          </a:xfrm>
          <a:prstGeom prst="rect">
            <a:avLst/>
          </a:prstGeom>
          <a:noFill/>
        </p:spPr>
        <p:txBody>
          <a:bodyPr wrap="square">
            <a:spAutoFit/>
          </a:bodyPr>
          <a:lstStyle/>
          <a:p>
            <a:pPr algn="ctr"/>
            <a:r>
              <a:rPr sz="2800" b="1" i="0">
                <a:solidFill>
                  <a:srgbClr val="2563EB"/>
                </a:solidFill>
              </a:rPr>
              <a:t>28</a:t>
            </a:r>
          </a:p>
        </p:txBody>
      </p:sp>
      <p:sp>
        <p:nvSpPr>
          <p:cNvPr id="12" name="TextBox 11"/>
          <p:cNvSpPr txBox="1"/>
          <p:nvPr/>
        </p:nvSpPr>
        <p:spPr>
          <a:xfrm>
            <a:off x="365760" y="1709928"/>
            <a:ext cx="2468880" cy="274320"/>
          </a:xfrm>
          <a:prstGeom prst="rect">
            <a:avLst/>
          </a:prstGeom>
          <a:noFill/>
        </p:spPr>
        <p:txBody>
          <a:bodyPr wrap="square">
            <a:spAutoFit/>
          </a:bodyPr>
          <a:lstStyle/>
          <a:p>
            <a:pPr algn="ctr"/>
            <a:r>
              <a:rPr sz="1000" b="1" i="0">
                <a:solidFill>
                  <a:srgbClr val="FFFFFF"/>
                </a:solidFill>
              </a:rPr>
              <a:t>UAT Cases</a:t>
            </a:r>
          </a:p>
        </p:txBody>
      </p:sp>
      <p:sp>
        <p:nvSpPr>
          <p:cNvPr id="13" name="Rounded Rectangle 12"/>
          <p:cNvSpPr/>
          <p:nvPr/>
        </p:nvSpPr>
        <p:spPr>
          <a:xfrm>
            <a:off x="3200400" y="1051560"/>
            <a:ext cx="265176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00400" y="1051560"/>
            <a:ext cx="265176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37560" y="1188720"/>
            <a:ext cx="2377440" cy="548640"/>
          </a:xfrm>
          <a:prstGeom prst="rect">
            <a:avLst/>
          </a:prstGeom>
          <a:noFill/>
        </p:spPr>
        <p:txBody>
          <a:bodyPr wrap="square">
            <a:spAutoFit/>
          </a:bodyPr>
          <a:lstStyle/>
          <a:p>
            <a:pPr algn="ctr"/>
            <a:r>
              <a:rPr sz="2800" b="1" i="0">
                <a:solidFill>
                  <a:srgbClr val="059669"/>
                </a:solidFill>
              </a:rPr>
              <a:t>28</a:t>
            </a:r>
          </a:p>
        </p:txBody>
      </p:sp>
      <p:sp>
        <p:nvSpPr>
          <p:cNvPr id="16" name="TextBox 15"/>
          <p:cNvSpPr txBox="1"/>
          <p:nvPr/>
        </p:nvSpPr>
        <p:spPr>
          <a:xfrm>
            <a:off x="3291840" y="1709928"/>
            <a:ext cx="2468880" cy="274320"/>
          </a:xfrm>
          <a:prstGeom prst="rect">
            <a:avLst/>
          </a:prstGeom>
          <a:noFill/>
        </p:spPr>
        <p:txBody>
          <a:bodyPr wrap="square">
            <a:spAutoFit/>
          </a:bodyPr>
          <a:lstStyle/>
          <a:p>
            <a:pPr algn="ctr"/>
            <a:r>
              <a:rPr sz="1000" b="1" i="0">
                <a:solidFill>
                  <a:srgbClr val="FFFFFF"/>
                </a:solidFill>
              </a:rPr>
              <a:t>Passed</a:t>
            </a:r>
          </a:p>
        </p:txBody>
      </p:sp>
      <p:sp>
        <p:nvSpPr>
          <p:cNvPr id="17" name="Rounded Rectangle 16"/>
          <p:cNvSpPr/>
          <p:nvPr/>
        </p:nvSpPr>
        <p:spPr>
          <a:xfrm>
            <a:off x="6126480" y="1051560"/>
            <a:ext cx="265176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26480" y="1051560"/>
            <a:ext cx="265176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1188720"/>
            <a:ext cx="2377440" cy="548640"/>
          </a:xfrm>
          <a:prstGeom prst="rect">
            <a:avLst/>
          </a:prstGeom>
          <a:noFill/>
        </p:spPr>
        <p:txBody>
          <a:bodyPr wrap="square">
            <a:spAutoFit/>
          </a:bodyPr>
          <a:lstStyle/>
          <a:p>
            <a:pPr algn="ctr"/>
            <a:r>
              <a:rPr sz="2800" b="1" i="0">
                <a:solidFill>
                  <a:srgbClr val="7C3AED"/>
                </a:solidFill>
              </a:rPr>
              <a:t>5</a:t>
            </a:r>
          </a:p>
        </p:txBody>
      </p:sp>
      <p:sp>
        <p:nvSpPr>
          <p:cNvPr id="20" name="TextBox 19"/>
          <p:cNvSpPr txBox="1"/>
          <p:nvPr/>
        </p:nvSpPr>
        <p:spPr>
          <a:xfrm>
            <a:off x="6217920" y="1709928"/>
            <a:ext cx="2468880" cy="274320"/>
          </a:xfrm>
          <a:prstGeom prst="rect">
            <a:avLst/>
          </a:prstGeom>
          <a:noFill/>
        </p:spPr>
        <p:txBody>
          <a:bodyPr wrap="square">
            <a:spAutoFit/>
          </a:bodyPr>
          <a:lstStyle/>
          <a:p>
            <a:pPr algn="ctr"/>
            <a:r>
              <a:rPr sz="1000" b="1" i="0">
                <a:solidFill>
                  <a:srgbClr val="FFFFFF"/>
                </a:solidFill>
              </a:rPr>
              <a:t>BRs Verified</a:t>
            </a:r>
          </a:p>
        </p:txBody>
      </p:sp>
      <p:sp>
        <p:nvSpPr>
          <p:cNvPr id="21" name="Rounded Rectangle 20"/>
          <p:cNvSpPr/>
          <p:nvPr/>
        </p:nvSpPr>
        <p:spPr>
          <a:xfrm>
            <a:off x="9052560" y="1051560"/>
            <a:ext cx="265176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52560" y="1051560"/>
            <a:ext cx="265176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89720" y="1188720"/>
            <a:ext cx="2377440" cy="548640"/>
          </a:xfrm>
          <a:prstGeom prst="rect">
            <a:avLst/>
          </a:prstGeom>
          <a:noFill/>
        </p:spPr>
        <p:txBody>
          <a:bodyPr wrap="square">
            <a:spAutoFit/>
          </a:bodyPr>
          <a:lstStyle/>
          <a:p>
            <a:pPr algn="ctr"/>
            <a:r>
              <a:rPr sz="2800" b="1" i="0">
                <a:solidFill>
                  <a:srgbClr val="06B6D4"/>
                </a:solidFill>
              </a:rPr>
              <a:t>4</a:t>
            </a:r>
          </a:p>
        </p:txBody>
      </p:sp>
      <p:sp>
        <p:nvSpPr>
          <p:cNvPr id="24" name="TextBox 23"/>
          <p:cNvSpPr txBox="1"/>
          <p:nvPr/>
        </p:nvSpPr>
        <p:spPr>
          <a:xfrm>
            <a:off x="9144000" y="1709928"/>
            <a:ext cx="2468880" cy="274320"/>
          </a:xfrm>
          <a:prstGeom prst="rect">
            <a:avLst/>
          </a:prstGeom>
          <a:noFill/>
        </p:spPr>
        <p:txBody>
          <a:bodyPr wrap="square">
            <a:spAutoFit/>
          </a:bodyPr>
          <a:lstStyle/>
          <a:p>
            <a:pPr algn="ctr"/>
            <a:r>
              <a:rPr sz="1000" b="1" i="0">
                <a:solidFill>
                  <a:srgbClr val="FFFFFF"/>
                </a:solidFill>
              </a:rPr>
              <a:t>Personas</a:t>
            </a:r>
          </a:p>
        </p:txBody>
      </p:sp>
      <p:sp>
        <p:nvSpPr>
          <p:cNvPr id="25" name="Rectangle 24"/>
          <p:cNvSpPr/>
          <p:nvPr/>
        </p:nvSpPr>
        <p:spPr>
          <a:xfrm>
            <a:off x="274320" y="2423160"/>
            <a:ext cx="11247120"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47472" y="2478024"/>
            <a:ext cx="1920240" cy="274320"/>
          </a:xfrm>
          <a:prstGeom prst="rect">
            <a:avLst/>
          </a:prstGeom>
          <a:noFill/>
        </p:spPr>
        <p:txBody>
          <a:bodyPr wrap="square">
            <a:spAutoFit/>
          </a:bodyPr>
          <a:lstStyle/>
          <a:p>
            <a:pPr algn="l"/>
            <a:r>
              <a:rPr sz="1000" b="1" i="0">
                <a:solidFill>
                  <a:srgbClr val="FFFFFF"/>
                </a:solidFill>
              </a:rPr>
              <a:t>Persona</a:t>
            </a:r>
          </a:p>
        </p:txBody>
      </p:sp>
      <p:sp>
        <p:nvSpPr>
          <p:cNvPr id="27" name="TextBox 26"/>
          <p:cNvSpPr txBox="1"/>
          <p:nvPr/>
        </p:nvSpPr>
        <p:spPr>
          <a:xfrm>
            <a:off x="2359152" y="2478024"/>
            <a:ext cx="2468880" cy="274320"/>
          </a:xfrm>
          <a:prstGeom prst="rect">
            <a:avLst/>
          </a:prstGeom>
          <a:noFill/>
        </p:spPr>
        <p:txBody>
          <a:bodyPr wrap="square">
            <a:spAutoFit/>
          </a:bodyPr>
          <a:lstStyle/>
          <a:p>
            <a:pPr algn="l"/>
            <a:r>
              <a:rPr sz="1000" b="1" i="0">
                <a:solidFill>
                  <a:srgbClr val="FFFFFF"/>
                </a:solidFill>
              </a:rPr>
              <a:t>BR Coverage</a:t>
            </a:r>
          </a:p>
        </p:txBody>
      </p:sp>
      <p:sp>
        <p:nvSpPr>
          <p:cNvPr id="28" name="TextBox 27"/>
          <p:cNvSpPr txBox="1"/>
          <p:nvPr/>
        </p:nvSpPr>
        <p:spPr>
          <a:xfrm>
            <a:off x="4919472" y="2478024"/>
            <a:ext cx="4023360" cy="274320"/>
          </a:xfrm>
          <a:prstGeom prst="rect">
            <a:avLst/>
          </a:prstGeom>
          <a:noFill/>
        </p:spPr>
        <p:txBody>
          <a:bodyPr wrap="square">
            <a:spAutoFit/>
          </a:bodyPr>
          <a:lstStyle/>
          <a:p>
            <a:pPr algn="l"/>
            <a:r>
              <a:rPr sz="1000" b="1" i="0">
                <a:solidFill>
                  <a:srgbClr val="FFFFFF"/>
                </a:solidFill>
              </a:rPr>
              <a:t>Scenarios</a:t>
            </a:r>
          </a:p>
        </p:txBody>
      </p:sp>
      <p:sp>
        <p:nvSpPr>
          <p:cNvPr id="29" name="TextBox 28"/>
          <p:cNvSpPr txBox="1"/>
          <p:nvPr/>
        </p:nvSpPr>
        <p:spPr>
          <a:xfrm>
            <a:off x="9034272" y="2478024"/>
            <a:ext cx="2468880" cy="274320"/>
          </a:xfrm>
          <a:prstGeom prst="rect">
            <a:avLst/>
          </a:prstGeom>
          <a:noFill/>
        </p:spPr>
        <p:txBody>
          <a:bodyPr wrap="square">
            <a:spAutoFit/>
          </a:bodyPr>
          <a:lstStyle/>
          <a:p>
            <a:pPr algn="l"/>
            <a:r>
              <a:rPr sz="1000" b="1" i="0">
                <a:solidFill>
                  <a:srgbClr val="FFFFFF"/>
                </a:solidFill>
              </a:rPr>
              <a:t>Result</a:t>
            </a:r>
          </a:p>
        </p:txBody>
      </p:sp>
      <p:sp>
        <p:nvSpPr>
          <p:cNvPr id="30" name="Rectangle 29"/>
          <p:cNvSpPr/>
          <p:nvPr/>
        </p:nvSpPr>
        <p:spPr>
          <a:xfrm>
            <a:off x="274320" y="2770632"/>
            <a:ext cx="1124712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47472" y="2825496"/>
            <a:ext cx="1920240" cy="274320"/>
          </a:xfrm>
          <a:prstGeom prst="rect">
            <a:avLst/>
          </a:prstGeom>
          <a:noFill/>
        </p:spPr>
        <p:txBody>
          <a:bodyPr wrap="square">
            <a:spAutoFit/>
          </a:bodyPr>
          <a:lstStyle/>
          <a:p>
            <a:pPr algn="l"/>
            <a:r>
              <a:rPr sz="900" b="0" i="0">
                <a:solidFill>
                  <a:srgbClr val="94A3B8"/>
                </a:solidFill>
              </a:rPr>
              <a:t>Maya Chen · QA Lead</a:t>
            </a:r>
          </a:p>
        </p:txBody>
      </p:sp>
      <p:sp>
        <p:nvSpPr>
          <p:cNvPr id="32" name="TextBox 31"/>
          <p:cNvSpPr txBox="1"/>
          <p:nvPr/>
        </p:nvSpPr>
        <p:spPr>
          <a:xfrm>
            <a:off x="2359152" y="2825496"/>
            <a:ext cx="2468880" cy="274320"/>
          </a:xfrm>
          <a:prstGeom prst="rect">
            <a:avLst/>
          </a:prstGeom>
          <a:noFill/>
        </p:spPr>
        <p:txBody>
          <a:bodyPr wrap="square">
            <a:spAutoFit/>
          </a:bodyPr>
          <a:lstStyle/>
          <a:p>
            <a:pPr algn="l"/>
            <a:r>
              <a:rPr sz="900" b="0" i="0">
                <a:solidFill>
                  <a:srgbClr val="94A3B8"/>
                </a:solidFill>
              </a:rPr>
              <a:t>BR-1, BR-2, BR-3, BR-4</a:t>
            </a:r>
          </a:p>
        </p:txBody>
      </p:sp>
      <p:sp>
        <p:nvSpPr>
          <p:cNvPr id="33" name="TextBox 32"/>
          <p:cNvSpPr txBox="1"/>
          <p:nvPr/>
        </p:nvSpPr>
        <p:spPr>
          <a:xfrm>
            <a:off x="4919472" y="2825496"/>
            <a:ext cx="4023360" cy="274320"/>
          </a:xfrm>
          <a:prstGeom prst="rect">
            <a:avLst/>
          </a:prstGeom>
          <a:noFill/>
        </p:spPr>
        <p:txBody>
          <a:bodyPr wrap="square">
            <a:spAutoFit/>
          </a:bodyPr>
          <a:lstStyle/>
          <a:p>
            <a:pPr algn="l"/>
            <a:r>
              <a:rPr sz="900" b="0" i="0">
                <a:solidFill>
                  <a:srgbClr val="94A3B8"/>
                </a:solidFill>
              </a:rPr>
              <a:t>Submit defect, score, fix issues, download report</a:t>
            </a:r>
          </a:p>
        </p:txBody>
      </p:sp>
      <p:sp>
        <p:nvSpPr>
          <p:cNvPr id="34" name="TextBox 33"/>
          <p:cNvSpPr txBox="1"/>
          <p:nvPr/>
        </p:nvSpPr>
        <p:spPr>
          <a:xfrm>
            <a:off x="9034272" y="2825496"/>
            <a:ext cx="2468880" cy="274320"/>
          </a:xfrm>
          <a:prstGeom prst="rect">
            <a:avLst/>
          </a:prstGeom>
          <a:noFill/>
        </p:spPr>
        <p:txBody>
          <a:bodyPr wrap="square">
            <a:spAutoFit/>
          </a:bodyPr>
          <a:lstStyle/>
          <a:p>
            <a:pPr algn="l"/>
            <a:r>
              <a:rPr sz="900" b="0" i="0">
                <a:solidFill>
                  <a:srgbClr val="94A3B8"/>
                </a:solidFill>
              </a:rPr>
              <a:t>18 cases · PASS</a:t>
            </a:r>
          </a:p>
        </p:txBody>
      </p:sp>
      <p:sp>
        <p:nvSpPr>
          <p:cNvPr id="35" name="Rectangle 34"/>
          <p:cNvSpPr/>
          <p:nvPr/>
        </p:nvSpPr>
        <p:spPr>
          <a:xfrm>
            <a:off x="274320" y="3118104"/>
            <a:ext cx="11247120" cy="347472"/>
          </a:xfrm>
          <a:prstGeom prst="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47472" y="3172968"/>
            <a:ext cx="1920240" cy="274320"/>
          </a:xfrm>
          <a:prstGeom prst="rect">
            <a:avLst/>
          </a:prstGeom>
          <a:noFill/>
        </p:spPr>
        <p:txBody>
          <a:bodyPr wrap="square">
            <a:spAutoFit/>
          </a:bodyPr>
          <a:lstStyle/>
          <a:p>
            <a:pPr algn="l"/>
            <a:r>
              <a:rPr sz="900" b="0" i="0">
                <a:solidFill>
                  <a:srgbClr val="F1F5F9"/>
                </a:solidFill>
              </a:rPr>
              <a:t>Ravi Patel · Backend Eng</a:t>
            </a:r>
          </a:p>
        </p:txBody>
      </p:sp>
      <p:sp>
        <p:nvSpPr>
          <p:cNvPr id="37" name="TextBox 36"/>
          <p:cNvSpPr txBox="1"/>
          <p:nvPr/>
        </p:nvSpPr>
        <p:spPr>
          <a:xfrm>
            <a:off x="2359152" y="3172968"/>
            <a:ext cx="2468880" cy="274320"/>
          </a:xfrm>
          <a:prstGeom prst="rect">
            <a:avLst/>
          </a:prstGeom>
          <a:noFill/>
        </p:spPr>
        <p:txBody>
          <a:bodyPr wrap="square">
            <a:spAutoFit/>
          </a:bodyPr>
          <a:lstStyle/>
          <a:p>
            <a:pPr algn="l"/>
            <a:r>
              <a:rPr sz="900" b="0" i="0">
                <a:solidFill>
                  <a:srgbClr val="F1F5F9"/>
                </a:solidFill>
              </a:rPr>
              <a:t>BR-4, BR-5</a:t>
            </a:r>
          </a:p>
        </p:txBody>
      </p:sp>
      <p:sp>
        <p:nvSpPr>
          <p:cNvPr id="38" name="TextBox 37"/>
          <p:cNvSpPr txBox="1"/>
          <p:nvPr/>
        </p:nvSpPr>
        <p:spPr>
          <a:xfrm>
            <a:off x="4919472" y="3172968"/>
            <a:ext cx="4023360" cy="274320"/>
          </a:xfrm>
          <a:prstGeom prst="rect">
            <a:avLst/>
          </a:prstGeom>
          <a:noFill/>
        </p:spPr>
        <p:txBody>
          <a:bodyPr wrap="square">
            <a:spAutoFit/>
          </a:bodyPr>
          <a:lstStyle/>
          <a:p>
            <a:pPr algn="l"/>
            <a:r>
              <a:rPr sz="900" b="0" i="0">
                <a:solidFill>
                  <a:srgbClr val="F1F5F9"/>
                </a:solidFill>
              </a:rPr>
              <a:t>Verify rewrite quality, API JSON output</a:t>
            </a:r>
          </a:p>
        </p:txBody>
      </p:sp>
      <p:sp>
        <p:nvSpPr>
          <p:cNvPr id="39" name="TextBox 38"/>
          <p:cNvSpPr txBox="1"/>
          <p:nvPr/>
        </p:nvSpPr>
        <p:spPr>
          <a:xfrm>
            <a:off x="9034272" y="3172968"/>
            <a:ext cx="2468880" cy="274320"/>
          </a:xfrm>
          <a:prstGeom prst="rect">
            <a:avLst/>
          </a:prstGeom>
          <a:noFill/>
        </p:spPr>
        <p:txBody>
          <a:bodyPr wrap="square">
            <a:spAutoFit/>
          </a:bodyPr>
          <a:lstStyle/>
          <a:p>
            <a:pPr algn="l"/>
            <a:r>
              <a:rPr sz="900" b="0" i="0">
                <a:solidFill>
                  <a:srgbClr val="F1F5F9"/>
                </a:solidFill>
              </a:rPr>
              <a:t>8 cases · PASS</a:t>
            </a:r>
          </a:p>
        </p:txBody>
      </p:sp>
      <p:sp>
        <p:nvSpPr>
          <p:cNvPr id="40" name="Rectangle 39"/>
          <p:cNvSpPr/>
          <p:nvPr/>
        </p:nvSpPr>
        <p:spPr>
          <a:xfrm>
            <a:off x="274320" y="3465576"/>
            <a:ext cx="1124712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3520440"/>
            <a:ext cx="1920240" cy="274320"/>
          </a:xfrm>
          <a:prstGeom prst="rect">
            <a:avLst/>
          </a:prstGeom>
          <a:noFill/>
        </p:spPr>
        <p:txBody>
          <a:bodyPr wrap="square">
            <a:spAutoFit/>
          </a:bodyPr>
          <a:lstStyle/>
          <a:p>
            <a:pPr algn="l"/>
            <a:r>
              <a:rPr sz="900" b="0" i="0">
                <a:solidFill>
                  <a:srgbClr val="94A3B8"/>
                </a:solidFill>
              </a:rPr>
              <a:t>Nina Brooks · Product Analyst</a:t>
            </a:r>
          </a:p>
        </p:txBody>
      </p:sp>
      <p:sp>
        <p:nvSpPr>
          <p:cNvPr id="42" name="TextBox 41"/>
          <p:cNvSpPr txBox="1"/>
          <p:nvPr/>
        </p:nvSpPr>
        <p:spPr>
          <a:xfrm>
            <a:off x="2359152" y="3520440"/>
            <a:ext cx="2468880" cy="274320"/>
          </a:xfrm>
          <a:prstGeom prst="rect">
            <a:avLst/>
          </a:prstGeom>
          <a:noFill/>
        </p:spPr>
        <p:txBody>
          <a:bodyPr wrap="square">
            <a:spAutoFit/>
          </a:bodyPr>
          <a:lstStyle/>
          <a:p>
            <a:pPr algn="l"/>
            <a:r>
              <a:rPr sz="900" b="0" i="0">
                <a:solidFill>
                  <a:srgbClr val="94A3B8"/>
                </a:solidFill>
              </a:rPr>
              <a:t>BR-2, BR-3</a:t>
            </a:r>
          </a:p>
        </p:txBody>
      </p:sp>
      <p:sp>
        <p:nvSpPr>
          <p:cNvPr id="43" name="TextBox 42"/>
          <p:cNvSpPr txBox="1"/>
          <p:nvPr/>
        </p:nvSpPr>
        <p:spPr>
          <a:xfrm>
            <a:off x="4919472" y="3520440"/>
            <a:ext cx="4023360" cy="274320"/>
          </a:xfrm>
          <a:prstGeom prst="rect">
            <a:avLst/>
          </a:prstGeom>
          <a:noFill/>
        </p:spPr>
        <p:txBody>
          <a:bodyPr wrap="square">
            <a:spAutoFit/>
          </a:bodyPr>
          <a:lstStyle/>
          <a:p>
            <a:pPr algn="l"/>
            <a:r>
              <a:rPr sz="900" b="0" i="0">
                <a:solidFill>
                  <a:srgbClr val="94A3B8"/>
                </a:solidFill>
              </a:rPr>
              <a:t>Dashboard metrics, score trend, compare view</a:t>
            </a:r>
          </a:p>
        </p:txBody>
      </p:sp>
      <p:sp>
        <p:nvSpPr>
          <p:cNvPr id="44" name="TextBox 43"/>
          <p:cNvSpPr txBox="1"/>
          <p:nvPr/>
        </p:nvSpPr>
        <p:spPr>
          <a:xfrm>
            <a:off x="9034272" y="3520440"/>
            <a:ext cx="2468880" cy="274320"/>
          </a:xfrm>
          <a:prstGeom prst="rect">
            <a:avLst/>
          </a:prstGeom>
          <a:noFill/>
        </p:spPr>
        <p:txBody>
          <a:bodyPr wrap="square">
            <a:spAutoFit/>
          </a:bodyPr>
          <a:lstStyle/>
          <a:p>
            <a:pPr algn="l"/>
            <a:r>
              <a:rPr sz="900" b="0" i="0">
                <a:solidFill>
                  <a:srgbClr val="94A3B8"/>
                </a:solidFill>
              </a:rPr>
              <a:t>4 cases · PASS</a:t>
            </a:r>
          </a:p>
        </p:txBody>
      </p:sp>
      <p:sp>
        <p:nvSpPr>
          <p:cNvPr id="45" name="Rectangle 44"/>
          <p:cNvSpPr/>
          <p:nvPr/>
        </p:nvSpPr>
        <p:spPr>
          <a:xfrm>
            <a:off x="274320" y="3813048"/>
            <a:ext cx="11247120" cy="347472"/>
          </a:xfrm>
          <a:prstGeom prst="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47472" y="3867912"/>
            <a:ext cx="1920240" cy="274320"/>
          </a:xfrm>
          <a:prstGeom prst="rect">
            <a:avLst/>
          </a:prstGeom>
          <a:noFill/>
        </p:spPr>
        <p:txBody>
          <a:bodyPr wrap="square">
            <a:spAutoFit/>
          </a:bodyPr>
          <a:lstStyle/>
          <a:p>
            <a:pPr algn="l"/>
            <a:r>
              <a:rPr sz="900" b="0" i="0">
                <a:solidFill>
                  <a:srgbClr val="F1F5F9"/>
                </a:solidFill>
              </a:rPr>
              <a:t>Omar Silva · Support Triage</a:t>
            </a:r>
          </a:p>
        </p:txBody>
      </p:sp>
      <p:sp>
        <p:nvSpPr>
          <p:cNvPr id="47" name="TextBox 46"/>
          <p:cNvSpPr txBox="1"/>
          <p:nvPr/>
        </p:nvSpPr>
        <p:spPr>
          <a:xfrm>
            <a:off x="2359152" y="3867912"/>
            <a:ext cx="2468880" cy="274320"/>
          </a:xfrm>
          <a:prstGeom prst="rect">
            <a:avLst/>
          </a:prstGeom>
          <a:noFill/>
        </p:spPr>
        <p:txBody>
          <a:bodyPr wrap="square">
            <a:spAutoFit/>
          </a:bodyPr>
          <a:lstStyle/>
          <a:p>
            <a:pPr algn="l"/>
            <a:r>
              <a:rPr sz="900" b="0" i="0">
                <a:solidFill>
                  <a:srgbClr val="F1F5F9"/>
                </a:solidFill>
              </a:rPr>
              <a:t>BR-5, BR-4</a:t>
            </a:r>
          </a:p>
        </p:txBody>
      </p:sp>
      <p:sp>
        <p:nvSpPr>
          <p:cNvPr id="48" name="TextBox 47"/>
          <p:cNvSpPr txBox="1"/>
          <p:nvPr/>
        </p:nvSpPr>
        <p:spPr>
          <a:xfrm>
            <a:off x="4919472" y="3867912"/>
            <a:ext cx="4023360" cy="274320"/>
          </a:xfrm>
          <a:prstGeom prst="rect">
            <a:avLst/>
          </a:prstGeom>
          <a:noFill/>
        </p:spPr>
        <p:txBody>
          <a:bodyPr wrap="square">
            <a:spAutoFit/>
          </a:bodyPr>
          <a:lstStyle/>
          <a:p>
            <a:pPr algn="l"/>
            <a:r>
              <a:rPr sz="900" b="0" i="0">
                <a:solidFill>
                  <a:srgbClr val="F1F5F9"/>
                </a:solidFill>
              </a:rPr>
              <a:t>API without UI, email report, local rewrite</a:t>
            </a:r>
          </a:p>
        </p:txBody>
      </p:sp>
      <p:sp>
        <p:nvSpPr>
          <p:cNvPr id="49" name="TextBox 48"/>
          <p:cNvSpPr txBox="1"/>
          <p:nvPr/>
        </p:nvSpPr>
        <p:spPr>
          <a:xfrm>
            <a:off x="9034272" y="3867912"/>
            <a:ext cx="2468880" cy="274320"/>
          </a:xfrm>
          <a:prstGeom prst="rect">
            <a:avLst/>
          </a:prstGeom>
          <a:noFill/>
        </p:spPr>
        <p:txBody>
          <a:bodyPr wrap="square">
            <a:spAutoFit/>
          </a:bodyPr>
          <a:lstStyle/>
          <a:p>
            <a:pPr algn="l"/>
            <a:r>
              <a:rPr sz="900" b="0" i="0">
                <a:solidFill>
                  <a:srgbClr val="F1F5F9"/>
                </a:solidFill>
              </a:rPr>
              <a:t>10 cases · PASS</a:t>
            </a:r>
          </a:p>
        </p:txBody>
      </p:sp>
      <p:sp>
        <p:nvSpPr>
          <p:cNvPr id="50" name="Rounded Rectangle 49"/>
          <p:cNvSpPr/>
          <p:nvPr/>
        </p:nvSpPr>
        <p:spPr>
          <a:xfrm>
            <a:off x="274320" y="4434840"/>
            <a:ext cx="2148840" cy="1645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274320" y="4434840"/>
            <a:ext cx="214884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5760" y="4544568"/>
            <a:ext cx="1965960" cy="256032"/>
          </a:xfrm>
          <a:prstGeom prst="rect">
            <a:avLst/>
          </a:prstGeom>
          <a:noFill/>
        </p:spPr>
        <p:txBody>
          <a:bodyPr wrap="square">
            <a:spAutoFit/>
          </a:bodyPr>
          <a:lstStyle/>
          <a:p>
            <a:pPr algn="l"/>
            <a:r>
              <a:rPr sz="900" b="1" i="0">
                <a:solidFill>
                  <a:srgbClr val="2563EB"/>
                </a:solidFill>
              </a:rPr>
              <a:t>BR-1</a:t>
            </a:r>
          </a:p>
        </p:txBody>
      </p:sp>
      <p:sp>
        <p:nvSpPr>
          <p:cNvPr id="53" name="TextBox 52"/>
          <p:cNvSpPr txBox="1"/>
          <p:nvPr/>
        </p:nvSpPr>
        <p:spPr>
          <a:xfrm>
            <a:off x="365760" y="4800600"/>
            <a:ext cx="1965960" cy="502920"/>
          </a:xfrm>
          <a:prstGeom prst="rect">
            <a:avLst/>
          </a:prstGeom>
          <a:noFill/>
        </p:spPr>
        <p:txBody>
          <a:bodyPr wrap="square">
            <a:spAutoFit/>
          </a:bodyPr>
          <a:lstStyle/>
          <a:p>
            <a:pPr algn="l"/>
            <a:r>
              <a:rPr sz="1000" b="1" i="0">
                <a:solidFill>
                  <a:srgbClr val="FFFFFF"/>
                </a:solidFill>
              </a:rPr>
              <a:t>Standardised 7-field input</a:t>
            </a:r>
          </a:p>
        </p:txBody>
      </p:sp>
      <p:sp>
        <p:nvSpPr>
          <p:cNvPr id="54" name="TextBox 53"/>
          <p:cNvSpPr txBox="1"/>
          <p:nvPr/>
        </p:nvSpPr>
        <p:spPr>
          <a:xfrm>
            <a:off x="365760" y="5312664"/>
            <a:ext cx="914400" cy="256032"/>
          </a:xfrm>
          <a:prstGeom prst="rect">
            <a:avLst/>
          </a:prstGeom>
          <a:noFill/>
        </p:spPr>
        <p:txBody>
          <a:bodyPr wrap="square">
            <a:spAutoFit/>
          </a:bodyPr>
          <a:lstStyle/>
          <a:p>
            <a:pPr algn="l"/>
            <a:r>
              <a:rPr sz="900" b="0" i="0">
                <a:solidFill>
                  <a:srgbClr val="94A3B8"/>
                </a:solidFill>
              </a:rPr>
              <a:t>5 cases</a:t>
            </a:r>
          </a:p>
        </p:txBody>
      </p:sp>
      <p:sp>
        <p:nvSpPr>
          <p:cNvPr id="55" name="Rounded Rectangle 54"/>
          <p:cNvSpPr/>
          <p:nvPr/>
        </p:nvSpPr>
        <p:spPr>
          <a:xfrm>
            <a:off x="1463040" y="5440680"/>
            <a:ext cx="822960" cy="2743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463040" y="5458968"/>
            <a:ext cx="822960" cy="237744"/>
          </a:xfrm>
          <a:prstGeom prst="rect">
            <a:avLst/>
          </a:prstGeom>
          <a:noFill/>
        </p:spPr>
        <p:txBody>
          <a:bodyPr wrap="square">
            <a:spAutoFit/>
          </a:bodyPr>
          <a:lstStyle/>
          <a:p>
            <a:pPr algn="ctr"/>
            <a:r>
              <a:rPr sz="800" b="1" i="0">
                <a:solidFill>
                  <a:srgbClr val="FFFFFF"/>
                </a:solidFill>
              </a:rPr>
              <a:t>Accepted</a:t>
            </a:r>
          </a:p>
        </p:txBody>
      </p:sp>
      <p:sp>
        <p:nvSpPr>
          <p:cNvPr id="57" name="Rounded Rectangle 56"/>
          <p:cNvSpPr/>
          <p:nvPr/>
        </p:nvSpPr>
        <p:spPr>
          <a:xfrm>
            <a:off x="2615184" y="4434840"/>
            <a:ext cx="2148840" cy="1645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2615184" y="4434840"/>
            <a:ext cx="214884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706624" y="4544568"/>
            <a:ext cx="1965960" cy="256032"/>
          </a:xfrm>
          <a:prstGeom prst="rect">
            <a:avLst/>
          </a:prstGeom>
          <a:noFill/>
        </p:spPr>
        <p:txBody>
          <a:bodyPr wrap="square">
            <a:spAutoFit/>
          </a:bodyPr>
          <a:lstStyle/>
          <a:p>
            <a:pPr algn="l"/>
            <a:r>
              <a:rPr sz="900" b="1" i="0">
                <a:solidFill>
                  <a:srgbClr val="7C3AED"/>
                </a:solidFill>
              </a:rPr>
              <a:t>BR-2</a:t>
            </a:r>
          </a:p>
        </p:txBody>
      </p:sp>
      <p:sp>
        <p:nvSpPr>
          <p:cNvPr id="60" name="TextBox 59"/>
          <p:cNvSpPr txBox="1"/>
          <p:nvPr/>
        </p:nvSpPr>
        <p:spPr>
          <a:xfrm>
            <a:off x="2706624" y="4800600"/>
            <a:ext cx="1965960" cy="502920"/>
          </a:xfrm>
          <a:prstGeom prst="rect">
            <a:avLst/>
          </a:prstGeom>
          <a:noFill/>
        </p:spPr>
        <p:txBody>
          <a:bodyPr wrap="square">
            <a:spAutoFit/>
          </a:bodyPr>
          <a:lstStyle/>
          <a:p>
            <a:pPr algn="l"/>
            <a:r>
              <a:rPr sz="1000" b="1" i="0">
                <a:solidFill>
                  <a:srgbClr val="FFFFFF"/>
                </a:solidFill>
              </a:rPr>
              <a:t>Real-time quality assessment</a:t>
            </a:r>
          </a:p>
        </p:txBody>
      </p:sp>
      <p:sp>
        <p:nvSpPr>
          <p:cNvPr id="61" name="TextBox 60"/>
          <p:cNvSpPr txBox="1"/>
          <p:nvPr/>
        </p:nvSpPr>
        <p:spPr>
          <a:xfrm>
            <a:off x="2706624" y="5312664"/>
            <a:ext cx="914400" cy="256032"/>
          </a:xfrm>
          <a:prstGeom prst="rect">
            <a:avLst/>
          </a:prstGeom>
          <a:noFill/>
        </p:spPr>
        <p:txBody>
          <a:bodyPr wrap="square">
            <a:spAutoFit/>
          </a:bodyPr>
          <a:lstStyle/>
          <a:p>
            <a:pPr algn="l"/>
            <a:r>
              <a:rPr sz="900" b="0" i="0">
                <a:solidFill>
                  <a:srgbClr val="94A3B8"/>
                </a:solidFill>
              </a:rPr>
              <a:t>6 cases</a:t>
            </a:r>
          </a:p>
        </p:txBody>
      </p:sp>
      <p:sp>
        <p:nvSpPr>
          <p:cNvPr id="62" name="Rounded Rectangle 61"/>
          <p:cNvSpPr/>
          <p:nvPr/>
        </p:nvSpPr>
        <p:spPr>
          <a:xfrm>
            <a:off x="3803904" y="5440680"/>
            <a:ext cx="822960" cy="2743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803904" y="5458968"/>
            <a:ext cx="822960" cy="237744"/>
          </a:xfrm>
          <a:prstGeom prst="rect">
            <a:avLst/>
          </a:prstGeom>
          <a:noFill/>
        </p:spPr>
        <p:txBody>
          <a:bodyPr wrap="square">
            <a:spAutoFit/>
          </a:bodyPr>
          <a:lstStyle/>
          <a:p>
            <a:pPr algn="ctr"/>
            <a:r>
              <a:rPr sz="800" b="1" i="0">
                <a:solidFill>
                  <a:srgbClr val="FFFFFF"/>
                </a:solidFill>
              </a:rPr>
              <a:t>Accepted</a:t>
            </a:r>
          </a:p>
        </p:txBody>
      </p:sp>
      <p:sp>
        <p:nvSpPr>
          <p:cNvPr id="64" name="Rounded Rectangle 63"/>
          <p:cNvSpPr/>
          <p:nvPr/>
        </p:nvSpPr>
        <p:spPr>
          <a:xfrm>
            <a:off x="4956048" y="4434840"/>
            <a:ext cx="2148840" cy="1645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4956048" y="4434840"/>
            <a:ext cx="214884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047488" y="4544568"/>
            <a:ext cx="1965960" cy="256032"/>
          </a:xfrm>
          <a:prstGeom prst="rect">
            <a:avLst/>
          </a:prstGeom>
          <a:noFill/>
        </p:spPr>
        <p:txBody>
          <a:bodyPr wrap="square">
            <a:spAutoFit/>
          </a:bodyPr>
          <a:lstStyle/>
          <a:p>
            <a:pPr algn="l"/>
            <a:r>
              <a:rPr sz="900" b="1" i="0">
                <a:solidFill>
                  <a:srgbClr val="06B6D4"/>
                </a:solidFill>
              </a:rPr>
              <a:t>BR-3</a:t>
            </a:r>
          </a:p>
        </p:txBody>
      </p:sp>
      <p:sp>
        <p:nvSpPr>
          <p:cNvPr id="67" name="TextBox 66"/>
          <p:cNvSpPr txBox="1"/>
          <p:nvPr/>
        </p:nvSpPr>
        <p:spPr>
          <a:xfrm>
            <a:off x="5047488" y="4800600"/>
            <a:ext cx="1965960" cy="502920"/>
          </a:xfrm>
          <a:prstGeom prst="rect">
            <a:avLst/>
          </a:prstGeom>
          <a:noFill/>
        </p:spPr>
        <p:txBody>
          <a:bodyPr wrap="square">
            <a:spAutoFit/>
          </a:bodyPr>
          <a:lstStyle/>
          <a:p>
            <a:pPr algn="l"/>
            <a:r>
              <a:rPr sz="1000" b="1" i="0">
                <a:solidFill>
                  <a:srgbClr val="FFFFFF"/>
                </a:solidFill>
              </a:rPr>
              <a:t>Deterministic scoring</a:t>
            </a:r>
          </a:p>
        </p:txBody>
      </p:sp>
      <p:sp>
        <p:nvSpPr>
          <p:cNvPr id="68" name="TextBox 67"/>
          <p:cNvSpPr txBox="1"/>
          <p:nvPr/>
        </p:nvSpPr>
        <p:spPr>
          <a:xfrm>
            <a:off x="5047488" y="5312664"/>
            <a:ext cx="914400" cy="256032"/>
          </a:xfrm>
          <a:prstGeom prst="rect">
            <a:avLst/>
          </a:prstGeom>
          <a:noFill/>
        </p:spPr>
        <p:txBody>
          <a:bodyPr wrap="square">
            <a:spAutoFit/>
          </a:bodyPr>
          <a:lstStyle/>
          <a:p>
            <a:pPr algn="l"/>
            <a:r>
              <a:rPr sz="900" b="0" i="0">
                <a:solidFill>
                  <a:srgbClr val="94A3B8"/>
                </a:solidFill>
              </a:rPr>
              <a:t>5 cases</a:t>
            </a:r>
          </a:p>
        </p:txBody>
      </p:sp>
      <p:sp>
        <p:nvSpPr>
          <p:cNvPr id="69" name="Rounded Rectangle 68"/>
          <p:cNvSpPr/>
          <p:nvPr/>
        </p:nvSpPr>
        <p:spPr>
          <a:xfrm>
            <a:off x="6144768" y="5440680"/>
            <a:ext cx="822960" cy="2743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144768" y="5458968"/>
            <a:ext cx="822960" cy="237744"/>
          </a:xfrm>
          <a:prstGeom prst="rect">
            <a:avLst/>
          </a:prstGeom>
          <a:noFill/>
        </p:spPr>
        <p:txBody>
          <a:bodyPr wrap="square">
            <a:spAutoFit/>
          </a:bodyPr>
          <a:lstStyle/>
          <a:p>
            <a:pPr algn="ctr"/>
            <a:r>
              <a:rPr sz="800" b="1" i="0">
                <a:solidFill>
                  <a:srgbClr val="FFFFFF"/>
                </a:solidFill>
              </a:rPr>
              <a:t>Accepted</a:t>
            </a:r>
          </a:p>
        </p:txBody>
      </p:sp>
      <p:sp>
        <p:nvSpPr>
          <p:cNvPr id="71" name="Rounded Rectangle 70"/>
          <p:cNvSpPr/>
          <p:nvPr/>
        </p:nvSpPr>
        <p:spPr>
          <a:xfrm>
            <a:off x="7296912" y="4434840"/>
            <a:ext cx="2148840" cy="1645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7296912" y="4434840"/>
            <a:ext cx="214884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388352" y="4544568"/>
            <a:ext cx="1965960" cy="256032"/>
          </a:xfrm>
          <a:prstGeom prst="rect">
            <a:avLst/>
          </a:prstGeom>
          <a:noFill/>
        </p:spPr>
        <p:txBody>
          <a:bodyPr wrap="square">
            <a:spAutoFit/>
          </a:bodyPr>
          <a:lstStyle/>
          <a:p>
            <a:pPr algn="l"/>
            <a:r>
              <a:rPr sz="900" b="1" i="0">
                <a:solidFill>
                  <a:srgbClr val="059669"/>
                </a:solidFill>
              </a:rPr>
              <a:t>BR-4</a:t>
            </a:r>
          </a:p>
        </p:txBody>
      </p:sp>
      <p:sp>
        <p:nvSpPr>
          <p:cNvPr id="74" name="TextBox 73"/>
          <p:cNvSpPr txBox="1"/>
          <p:nvPr/>
        </p:nvSpPr>
        <p:spPr>
          <a:xfrm>
            <a:off x="7388352" y="4800600"/>
            <a:ext cx="1965960" cy="502920"/>
          </a:xfrm>
          <a:prstGeom prst="rect">
            <a:avLst/>
          </a:prstGeom>
          <a:noFill/>
        </p:spPr>
        <p:txBody>
          <a:bodyPr wrap="square">
            <a:spAutoFit/>
          </a:bodyPr>
          <a:lstStyle/>
          <a:p>
            <a:pPr algn="l"/>
            <a:r>
              <a:rPr sz="1000" b="1" i="0">
                <a:solidFill>
                  <a:srgbClr val="FFFFFF"/>
                </a:solidFill>
              </a:rPr>
              <a:t>Rewrite assistance</a:t>
            </a:r>
          </a:p>
        </p:txBody>
      </p:sp>
      <p:sp>
        <p:nvSpPr>
          <p:cNvPr id="75" name="TextBox 74"/>
          <p:cNvSpPr txBox="1"/>
          <p:nvPr/>
        </p:nvSpPr>
        <p:spPr>
          <a:xfrm>
            <a:off x="7388352" y="5312664"/>
            <a:ext cx="914400" cy="256032"/>
          </a:xfrm>
          <a:prstGeom prst="rect">
            <a:avLst/>
          </a:prstGeom>
          <a:noFill/>
        </p:spPr>
        <p:txBody>
          <a:bodyPr wrap="square">
            <a:spAutoFit/>
          </a:bodyPr>
          <a:lstStyle/>
          <a:p>
            <a:pPr algn="l"/>
            <a:r>
              <a:rPr sz="900" b="0" i="0">
                <a:solidFill>
                  <a:srgbClr val="94A3B8"/>
                </a:solidFill>
              </a:rPr>
              <a:t>7 cases</a:t>
            </a:r>
          </a:p>
        </p:txBody>
      </p:sp>
      <p:sp>
        <p:nvSpPr>
          <p:cNvPr id="76" name="Rounded Rectangle 75"/>
          <p:cNvSpPr/>
          <p:nvPr/>
        </p:nvSpPr>
        <p:spPr>
          <a:xfrm>
            <a:off x="8485632" y="5440680"/>
            <a:ext cx="822960" cy="2743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8485632" y="5458968"/>
            <a:ext cx="822960" cy="237744"/>
          </a:xfrm>
          <a:prstGeom prst="rect">
            <a:avLst/>
          </a:prstGeom>
          <a:noFill/>
        </p:spPr>
        <p:txBody>
          <a:bodyPr wrap="square">
            <a:spAutoFit/>
          </a:bodyPr>
          <a:lstStyle/>
          <a:p>
            <a:pPr algn="ctr"/>
            <a:r>
              <a:rPr sz="800" b="1" i="0">
                <a:solidFill>
                  <a:srgbClr val="FFFFFF"/>
                </a:solidFill>
              </a:rPr>
              <a:t>Accepted</a:t>
            </a:r>
          </a:p>
        </p:txBody>
      </p:sp>
      <p:sp>
        <p:nvSpPr>
          <p:cNvPr id="78" name="Rounded Rectangle 77"/>
          <p:cNvSpPr/>
          <p:nvPr/>
        </p:nvSpPr>
        <p:spPr>
          <a:xfrm>
            <a:off x="9637776" y="4434840"/>
            <a:ext cx="2148840" cy="1645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9637776" y="4434840"/>
            <a:ext cx="2148840"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9729216" y="4544568"/>
            <a:ext cx="1965960" cy="256032"/>
          </a:xfrm>
          <a:prstGeom prst="rect">
            <a:avLst/>
          </a:prstGeom>
          <a:noFill/>
        </p:spPr>
        <p:txBody>
          <a:bodyPr wrap="square">
            <a:spAutoFit/>
          </a:bodyPr>
          <a:lstStyle/>
          <a:p>
            <a:pPr algn="l"/>
            <a:r>
              <a:rPr sz="900" b="1" i="0">
                <a:solidFill>
                  <a:srgbClr val="D97706"/>
                </a:solidFill>
              </a:rPr>
              <a:t>BR-5</a:t>
            </a:r>
          </a:p>
        </p:txBody>
      </p:sp>
      <p:sp>
        <p:nvSpPr>
          <p:cNvPr id="81" name="TextBox 80"/>
          <p:cNvSpPr txBox="1"/>
          <p:nvPr/>
        </p:nvSpPr>
        <p:spPr>
          <a:xfrm>
            <a:off x="9729216" y="4800600"/>
            <a:ext cx="1965960" cy="502920"/>
          </a:xfrm>
          <a:prstGeom prst="rect">
            <a:avLst/>
          </a:prstGeom>
          <a:noFill/>
        </p:spPr>
        <p:txBody>
          <a:bodyPr wrap="square">
            <a:spAutoFit/>
          </a:bodyPr>
          <a:lstStyle/>
          <a:p>
            <a:pPr algn="l"/>
            <a:r>
              <a:rPr sz="1000" b="1" i="0">
                <a:solidFill>
                  <a:srgbClr val="FFFFFF"/>
                </a:solidFill>
              </a:rPr>
              <a:t>Enterprise REST API</a:t>
            </a:r>
          </a:p>
        </p:txBody>
      </p:sp>
      <p:sp>
        <p:nvSpPr>
          <p:cNvPr id="82" name="TextBox 81"/>
          <p:cNvSpPr txBox="1"/>
          <p:nvPr/>
        </p:nvSpPr>
        <p:spPr>
          <a:xfrm>
            <a:off x="9729216" y="5312664"/>
            <a:ext cx="914400" cy="256032"/>
          </a:xfrm>
          <a:prstGeom prst="rect">
            <a:avLst/>
          </a:prstGeom>
          <a:noFill/>
        </p:spPr>
        <p:txBody>
          <a:bodyPr wrap="square">
            <a:spAutoFit/>
          </a:bodyPr>
          <a:lstStyle/>
          <a:p>
            <a:pPr algn="l"/>
            <a:r>
              <a:rPr sz="900" b="0" i="0">
                <a:solidFill>
                  <a:srgbClr val="94A3B8"/>
                </a:solidFill>
              </a:rPr>
              <a:t>5 cases</a:t>
            </a:r>
          </a:p>
        </p:txBody>
      </p:sp>
      <p:sp>
        <p:nvSpPr>
          <p:cNvPr id="83" name="Rounded Rectangle 82"/>
          <p:cNvSpPr/>
          <p:nvPr/>
        </p:nvSpPr>
        <p:spPr>
          <a:xfrm>
            <a:off x="10826496" y="5440680"/>
            <a:ext cx="822960" cy="2743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10826496" y="5458968"/>
            <a:ext cx="822960" cy="237744"/>
          </a:xfrm>
          <a:prstGeom prst="rect">
            <a:avLst/>
          </a:prstGeom>
          <a:noFill/>
        </p:spPr>
        <p:txBody>
          <a:bodyPr wrap="square">
            <a:spAutoFit/>
          </a:bodyPr>
          <a:lstStyle/>
          <a:p>
            <a:pPr algn="ctr"/>
            <a:r>
              <a:rPr sz="800" b="1" i="0">
                <a:solidFill>
                  <a:srgbClr val="FFFFFF"/>
                </a:solidFill>
              </a:rPr>
              <a:t>Accepted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Defects Found &amp; Fixed</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Testing revealed 8 defects — all resolved or accepted</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18</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274320" y="1051560"/>
            <a:ext cx="265176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51560"/>
            <a:ext cx="2651760"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188720"/>
            <a:ext cx="2377440" cy="548640"/>
          </a:xfrm>
          <a:prstGeom prst="rect">
            <a:avLst/>
          </a:prstGeom>
          <a:noFill/>
        </p:spPr>
        <p:txBody>
          <a:bodyPr wrap="square">
            <a:spAutoFit/>
          </a:bodyPr>
          <a:lstStyle/>
          <a:p>
            <a:pPr algn="ctr"/>
            <a:r>
              <a:rPr sz="2800" b="1" i="0">
                <a:solidFill>
                  <a:srgbClr val="D97706"/>
                </a:solidFill>
              </a:rPr>
              <a:t>8</a:t>
            </a:r>
          </a:p>
        </p:txBody>
      </p:sp>
      <p:sp>
        <p:nvSpPr>
          <p:cNvPr id="12" name="TextBox 11"/>
          <p:cNvSpPr txBox="1"/>
          <p:nvPr/>
        </p:nvSpPr>
        <p:spPr>
          <a:xfrm>
            <a:off x="365760" y="1709928"/>
            <a:ext cx="2468880" cy="274320"/>
          </a:xfrm>
          <a:prstGeom prst="rect">
            <a:avLst/>
          </a:prstGeom>
          <a:noFill/>
        </p:spPr>
        <p:txBody>
          <a:bodyPr wrap="square">
            <a:spAutoFit/>
          </a:bodyPr>
          <a:lstStyle/>
          <a:p>
            <a:pPr algn="ctr"/>
            <a:r>
              <a:rPr sz="1000" b="1" i="0">
                <a:solidFill>
                  <a:srgbClr val="FFFFFF"/>
                </a:solidFill>
              </a:rPr>
              <a:t>Total Found</a:t>
            </a:r>
          </a:p>
        </p:txBody>
      </p:sp>
      <p:sp>
        <p:nvSpPr>
          <p:cNvPr id="13" name="Rounded Rectangle 12"/>
          <p:cNvSpPr/>
          <p:nvPr/>
        </p:nvSpPr>
        <p:spPr>
          <a:xfrm>
            <a:off x="3200400" y="1051560"/>
            <a:ext cx="265176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00400" y="1051560"/>
            <a:ext cx="265176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37560" y="1188720"/>
            <a:ext cx="2377440" cy="548640"/>
          </a:xfrm>
          <a:prstGeom prst="rect">
            <a:avLst/>
          </a:prstGeom>
          <a:noFill/>
        </p:spPr>
        <p:txBody>
          <a:bodyPr wrap="square">
            <a:spAutoFit/>
          </a:bodyPr>
          <a:lstStyle/>
          <a:p>
            <a:pPr algn="ctr"/>
            <a:r>
              <a:rPr sz="2800" b="1" i="0">
                <a:solidFill>
                  <a:srgbClr val="059669"/>
                </a:solidFill>
              </a:rPr>
              <a:t>5</a:t>
            </a:r>
          </a:p>
        </p:txBody>
      </p:sp>
      <p:sp>
        <p:nvSpPr>
          <p:cNvPr id="16" name="TextBox 15"/>
          <p:cNvSpPr txBox="1"/>
          <p:nvPr/>
        </p:nvSpPr>
        <p:spPr>
          <a:xfrm>
            <a:off x="3291840" y="1709928"/>
            <a:ext cx="2468880" cy="274320"/>
          </a:xfrm>
          <a:prstGeom prst="rect">
            <a:avLst/>
          </a:prstGeom>
          <a:noFill/>
        </p:spPr>
        <p:txBody>
          <a:bodyPr wrap="square">
            <a:spAutoFit/>
          </a:bodyPr>
          <a:lstStyle/>
          <a:p>
            <a:pPr algn="ctr"/>
            <a:r>
              <a:rPr sz="1000" b="1" i="0">
                <a:solidFill>
                  <a:srgbClr val="FFFFFF"/>
                </a:solidFill>
              </a:rPr>
              <a:t>Fixed</a:t>
            </a:r>
          </a:p>
        </p:txBody>
      </p:sp>
      <p:sp>
        <p:nvSpPr>
          <p:cNvPr id="17" name="Rounded Rectangle 16"/>
          <p:cNvSpPr/>
          <p:nvPr/>
        </p:nvSpPr>
        <p:spPr>
          <a:xfrm>
            <a:off x="6126480" y="1051560"/>
            <a:ext cx="265176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26480" y="1051560"/>
            <a:ext cx="265176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1188720"/>
            <a:ext cx="2377440" cy="548640"/>
          </a:xfrm>
          <a:prstGeom prst="rect">
            <a:avLst/>
          </a:prstGeom>
          <a:noFill/>
        </p:spPr>
        <p:txBody>
          <a:bodyPr wrap="square">
            <a:spAutoFit/>
          </a:bodyPr>
          <a:lstStyle/>
          <a:p>
            <a:pPr algn="ctr"/>
            <a:r>
              <a:rPr sz="2800" b="1" i="0">
                <a:solidFill>
                  <a:srgbClr val="2563EB"/>
                </a:solidFill>
              </a:rPr>
              <a:t>3</a:t>
            </a:r>
          </a:p>
        </p:txBody>
      </p:sp>
      <p:sp>
        <p:nvSpPr>
          <p:cNvPr id="20" name="TextBox 19"/>
          <p:cNvSpPr txBox="1"/>
          <p:nvPr/>
        </p:nvSpPr>
        <p:spPr>
          <a:xfrm>
            <a:off x="6217920" y="1709928"/>
            <a:ext cx="2468880" cy="274320"/>
          </a:xfrm>
          <a:prstGeom prst="rect">
            <a:avLst/>
          </a:prstGeom>
          <a:noFill/>
        </p:spPr>
        <p:txBody>
          <a:bodyPr wrap="square">
            <a:spAutoFit/>
          </a:bodyPr>
          <a:lstStyle/>
          <a:p>
            <a:pPr algn="ctr"/>
            <a:r>
              <a:rPr sz="1000" b="1" i="0">
                <a:solidFill>
                  <a:srgbClr val="FFFFFF"/>
                </a:solidFill>
              </a:rPr>
              <a:t>Accepted</a:t>
            </a:r>
          </a:p>
        </p:txBody>
      </p:sp>
      <p:sp>
        <p:nvSpPr>
          <p:cNvPr id="21" name="Rounded Rectangle 20"/>
          <p:cNvSpPr/>
          <p:nvPr/>
        </p:nvSpPr>
        <p:spPr>
          <a:xfrm>
            <a:off x="9052560" y="1051560"/>
            <a:ext cx="265176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52560" y="1051560"/>
            <a:ext cx="265176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89720" y="1188720"/>
            <a:ext cx="2377440" cy="548640"/>
          </a:xfrm>
          <a:prstGeom prst="rect">
            <a:avLst/>
          </a:prstGeom>
          <a:noFill/>
        </p:spPr>
        <p:txBody>
          <a:bodyPr wrap="square">
            <a:spAutoFit/>
          </a:bodyPr>
          <a:lstStyle/>
          <a:p>
            <a:pPr algn="ctr"/>
            <a:r>
              <a:rPr sz="2800" b="1" i="0">
                <a:solidFill>
                  <a:srgbClr val="EA580C"/>
                </a:solidFill>
              </a:rPr>
              <a:t>0</a:t>
            </a:r>
          </a:p>
        </p:txBody>
      </p:sp>
      <p:sp>
        <p:nvSpPr>
          <p:cNvPr id="24" name="TextBox 23"/>
          <p:cNvSpPr txBox="1"/>
          <p:nvPr/>
        </p:nvSpPr>
        <p:spPr>
          <a:xfrm>
            <a:off x="9144000" y="1709928"/>
            <a:ext cx="2468880" cy="274320"/>
          </a:xfrm>
          <a:prstGeom prst="rect">
            <a:avLst/>
          </a:prstGeom>
          <a:noFill/>
        </p:spPr>
        <p:txBody>
          <a:bodyPr wrap="square">
            <a:spAutoFit/>
          </a:bodyPr>
          <a:lstStyle/>
          <a:p>
            <a:pPr algn="ctr"/>
            <a:r>
              <a:rPr sz="1000" b="1" i="0">
                <a:solidFill>
                  <a:srgbClr val="FFFFFF"/>
                </a:solidFill>
              </a:rPr>
              <a:t>Open</a:t>
            </a:r>
          </a:p>
        </p:txBody>
      </p:sp>
      <p:sp>
        <p:nvSpPr>
          <p:cNvPr id="25" name="Rectangle 24"/>
          <p:cNvSpPr/>
          <p:nvPr/>
        </p:nvSpPr>
        <p:spPr>
          <a:xfrm>
            <a:off x="228600" y="2450592"/>
            <a:ext cx="11018520" cy="34747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01752" y="2505456"/>
            <a:ext cx="548640" cy="274320"/>
          </a:xfrm>
          <a:prstGeom prst="rect">
            <a:avLst/>
          </a:prstGeom>
          <a:noFill/>
        </p:spPr>
        <p:txBody>
          <a:bodyPr wrap="square">
            <a:spAutoFit/>
          </a:bodyPr>
          <a:lstStyle/>
          <a:p>
            <a:pPr algn="l"/>
            <a:r>
              <a:rPr sz="1000" b="1" i="0">
                <a:solidFill>
                  <a:srgbClr val="FFFFFF"/>
                </a:solidFill>
              </a:rPr>
              <a:t>ID</a:t>
            </a:r>
          </a:p>
        </p:txBody>
      </p:sp>
      <p:sp>
        <p:nvSpPr>
          <p:cNvPr id="27" name="TextBox 26"/>
          <p:cNvSpPr txBox="1"/>
          <p:nvPr/>
        </p:nvSpPr>
        <p:spPr>
          <a:xfrm>
            <a:off x="941831" y="2505456"/>
            <a:ext cx="812153" cy="246221"/>
          </a:xfrm>
          <a:prstGeom prst="rect">
            <a:avLst/>
          </a:prstGeom>
          <a:noFill/>
        </p:spPr>
        <p:txBody>
          <a:bodyPr wrap="square">
            <a:spAutoFit/>
          </a:bodyPr>
          <a:lstStyle/>
          <a:p>
            <a:pPr algn="l"/>
            <a:r>
              <a:rPr sz="1000" b="1" i="0" dirty="0">
                <a:solidFill>
                  <a:srgbClr val="FFFFFF"/>
                </a:solidFill>
              </a:rPr>
              <a:t>Severit</a:t>
            </a:r>
            <a:r>
              <a:rPr lang="en-US" sz="1000" b="1" i="0" dirty="0">
                <a:solidFill>
                  <a:srgbClr val="FFFFFF"/>
                </a:solidFill>
              </a:rPr>
              <a:t>y</a:t>
            </a:r>
            <a:endParaRPr sz="1000" b="1" i="0" dirty="0">
              <a:solidFill>
                <a:srgbClr val="FFFFFF"/>
              </a:solidFill>
            </a:endParaRPr>
          </a:p>
        </p:txBody>
      </p:sp>
      <p:sp>
        <p:nvSpPr>
          <p:cNvPr id="28" name="TextBox 27"/>
          <p:cNvSpPr txBox="1"/>
          <p:nvPr/>
        </p:nvSpPr>
        <p:spPr>
          <a:xfrm>
            <a:off x="1627632" y="2505456"/>
            <a:ext cx="1280160" cy="274320"/>
          </a:xfrm>
          <a:prstGeom prst="rect">
            <a:avLst/>
          </a:prstGeom>
          <a:noFill/>
        </p:spPr>
        <p:txBody>
          <a:bodyPr wrap="square">
            <a:spAutoFit/>
          </a:bodyPr>
          <a:lstStyle/>
          <a:p>
            <a:pPr algn="l"/>
            <a:r>
              <a:rPr sz="1000" b="1" i="0">
                <a:solidFill>
                  <a:srgbClr val="FFFFFF"/>
                </a:solidFill>
              </a:rPr>
              <a:t>Module</a:t>
            </a:r>
          </a:p>
        </p:txBody>
      </p:sp>
      <p:sp>
        <p:nvSpPr>
          <p:cNvPr id="29" name="TextBox 28"/>
          <p:cNvSpPr txBox="1"/>
          <p:nvPr/>
        </p:nvSpPr>
        <p:spPr>
          <a:xfrm>
            <a:off x="2999232" y="2505456"/>
            <a:ext cx="3108960" cy="274320"/>
          </a:xfrm>
          <a:prstGeom prst="rect">
            <a:avLst/>
          </a:prstGeom>
          <a:noFill/>
        </p:spPr>
        <p:txBody>
          <a:bodyPr wrap="square">
            <a:spAutoFit/>
          </a:bodyPr>
          <a:lstStyle/>
          <a:p>
            <a:pPr algn="l"/>
            <a:r>
              <a:rPr sz="1000" b="1" i="0">
                <a:solidFill>
                  <a:srgbClr val="FFFFFF"/>
                </a:solidFill>
              </a:rPr>
              <a:t>Description</a:t>
            </a:r>
          </a:p>
        </p:txBody>
      </p:sp>
      <p:sp>
        <p:nvSpPr>
          <p:cNvPr id="30" name="TextBox 29"/>
          <p:cNvSpPr txBox="1"/>
          <p:nvPr/>
        </p:nvSpPr>
        <p:spPr>
          <a:xfrm>
            <a:off x="6199632" y="2505456"/>
            <a:ext cx="731520" cy="274320"/>
          </a:xfrm>
          <a:prstGeom prst="rect">
            <a:avLst/>
          </a:prstGeom>
          <a:noFill/>
        </p:spPr>
        <p:txBody>
          <a:bodyPr wrap="square">
            <a:spAutoFit/>
          </a:bodyPr>
          <a:lstStyle/>
          <a:p>
            <a:pPr algn="l"/>
            <a:r>
              <a:rPr sz="1000" b="1" i="0">
                <a:solidFill>
                  <a:srgbClr val="FFFFFF"/>
                </a:solidFill>
              </a:rPr>
              <a:t>Status</a:t>
            </a:r>
          </a:p>
        </p:txBody>
      </p:sp>
      <p:sp>
        <p:nvSpPr>
          <p:cNvPr id="31" name="TextBox 30"/>
          <p:cNvSpPr txBox="1"/>
          <p:nvPr/>
        </p:nvSpPr>
        <p:spPr>
          <a:xfrm>
            <a:off x="7022592" y="2505456"/>
            <a:ext cx="4206240" cy="274320"/>
          </a:xfrm>
          <a:prstGeom prst="rect">
            <a:avLst/>
          </a:prstGeom>
          <a:noFill/>
        </p:spPr>
        <p:txBody>
          <a:bodyPr wrap="square">
            <a:spAutoFit/>
          </a:bodyPr>
          <a:lstStyle/>
          <a:p>
            <a:pPr algn="l"/>
            <a:r>
              <a:rPr sz="1000" b="1" i="0">
                <a:solidFill>
                  <a:srgbClr val="FFFFFF"/>
                </a:solidFill>
              </a:rPr>
              <a:t>Fix Applied</a:t>
            </a:r>
          </a:p>
        </p:txBody>
      </p:sp>
      <p:sp>
        <p:nvSpPr>
          <p:cNvPr id="32" name="Rectangle 31"/>
          <p:cNvSpPr/>
          <p:nvPr/>
        </p:nvSpPr>
        <p:spPr>
          <a:xfrm>
            <a:off x="228600" y="2798064"/>
            <a:ext cx="1101852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01752" y="2852928"/>
            <a:ext cx="548640" cy="274320"/>
          </a:xfrm>
          <a:prstGeom prst="rect">
            <a:avLst/>
          </a:prstGeom>
          <a:noFill/>
        </p:spPr>
        <p:txBody>
          <a:bodyPr wrap="square">
            <a:spAutoFit/>
          </a:bodyPr>
          <a:lstStyle/>
          <a:p>
            <a:pPr algn="l"/>
            <a:r>
              <a:rPr sz="900" b="0" i="0">
                <a:solidFill>
                  <a:srgbClr val="94A3B8"/>
                </a:solidFill>
              </a:rPr>
              <a:t>IDEF-01</a:t>
            </a:r>
          </a:p>
        </p:txBody>
      </p:sp>
      <p:sp>
        <p:nvSpPr>
          <p:cNvPr id="34" name="TextBox 33"/>
          <p:cNvSpPr txBox="1"/>
          <p:nvPr/>
        </p:nvSpPr>
        <p:spPr>
          <a:xfrm>
            <a:off x="941832" y="2852928"/>
            <a:ext cx="594360" cy="274320"/>
          </a:xfrm>
          <a:prstGeom prst="rect">
            <a:avLst/>
          </a:prstGeom>
          <a:noFill/>
        </p:spPr>
        <p:txBody>
          <a:bodyPr wrap="square">
            <a:spAutoFit/>
          </a:bodyPr>
          <a:lstStyle/>
          <a:p>
            <a:pPr algn="l"/>
            <a:r>
              <a:rPr sz="900" b="0" i="0">
                <a:solidFill>
                  <a:srgbClr val="94A3B8"/>
                </a:solidFill>
              </a:rPr>
              <a:t>Minor</a:t>
            </a:r>
          </a:p>
        </p:txBody>
      </p:sp>
      <p:sp>
        <p:nvSpPr>
          <p:cNvPr id="35" name="TextBox 34"/>
          <p:cNvSpPr txBox="1"/>
          <p:nvPr/>
        </p:nvSpPr>
        <p:spPr>
          <a:xfrm>
            <a:off x="1627632" y="2852928"/>
            <a:ext cx="1280160" cy="274320"/>
          </a:xfrm>
          <a:prstGeom prst="rect">
            <a:avLst/>
          </a:prstGeom>
          <a:noFill/>
        </p:spPr>
        <p:txBody>
          <a:bodyPr wrap="square">
            <a:spAutoFit/>
          </a:bodyPr>
          <a:lstStyle/>
          <a:p>
            <a:pPr algn="l"/>
            <a:r>
              <a:rPr sz="900" b="0" i="0">
                <a:solidFill>
                  <a:srgbClr val="94A3B8"/>
                </a:solidFill>
              </a:rPr>
              <a:t>Analyzer→Storage</a:t>
            </a:r>
          </a:p>
        </p:txBody>
      </p:sp>
      <p:sp>
        <p:nvSpPr>
          <p:cNvPr id="36" name="TextBox 35"/>
          <p:cNvSpPr txBox="1"/>
          <p:nvPr/>
        </p:nvSpPr>
        <p:spPr>
          <a:xfrm>
            <a:off x="2999232" y="2852928"/>
            <a:ext cx="3108960" cy="274320"/>
          </a:xfrm>
          <a:prstGeom prst="rect">
            <a:avLst/>
          </a:prstGeom>
          <a:noFill/>
        </p:spPr>
        <p:txBody>
          <a:bodyPr wrap="square">
            <a:spAutoFit/>
          </a:bodyPr>
          <a:lstStyle/>
          <a:p>
            <a:pPr algn="l"/>
            <a:r>
              <a:rPr sz="900" b="0" i="0">
                <a:solidFill>
                  <a:srgbClr val="94A3B8"/>
                </a:solidFill>
              </a:rPr>
              <a:t>to_dict() stores grammar_notes as null not []</a:t>
            </a:r>
          </a:p>
        </p:txBody>
      </p:sp>
      <p:sp>
        <p:nvSpPr>
          <p:cNvPr id="37" name="TextBox 36"/>
          <p:cNvSpPr txBox="1"/>
          <p:nvPr/>
        </p:nvSpPr>
        <p:spPr>
          <a:xfrm>
            <a:off x="6199632" y="2852928"/>
            <a:ext cx="731520" cy="274320"/>
          </a:xfrm>
          <a:prstGeom prst="rect">
            <a:avLst/>
          </a:prstGeom>
          <a:noFill/>
        </p:spPr>
        <p:txBody>
          <a:bodyPr wrap="square">
            <a:spAutoFit/>
          </a:bodyPr>
          <a:lstStyle/>
          <a:p>
            <a:pPr algn="l"/>
            <a:r>
              <a:rPr sz="900" b="0" i="0">
                <a:solidFill>
                  <a:srgbClr val="94A3B8"/>
                </a:solidFill>
              </a:rPr>
              <a:t>Fixed</a:t>
            </a:r>
          </a:p>
        </p:txBody>
      </p:sp>
      <p:sp>
        <p:nvSpPr>
          <p:cNvPr id="38" name="TextBox 37"/>
          <p:cNvSpPr txBox="1"/>
          <p:nvPr/>
        </p:nvSpPr>
        <p:spPr>
          <a:xfrm>
            <a:off x="7022592" y="2852928"/>
            <a:ext cx="4206240" cy="274320"/>
          </a:xfrm>
          <a:prstGeom prst="rect">
            <a:avLst/>
          </a:prstGeom>
          <a:noFill/>
        </p:spPr>
        <p:txBody>
          <a:bodyPr wrap="square">
            <a:spAutoFit/>
          </a:bodyPr>
          <a:lstStyle/>
          <a:p>
            <a:pPr algn="l"/>
            <a:r>
              <a:rPr sz="900" b="0" i="0">
                <a:solidFill>
                  <a:srgbClr val="94A3B8"/>
                </a:solidFill>
              </a:rPr>
              <a:t>Return [] when list is empty</a:t>
            </a:r>
          </a:p>
        </p:txBody>
      </p:sp>
      <p:sp>
        <p:nvSpPr>
          <p:cNvPr id="39" name="Rectangle 38"/>
          <p:cNvSpPr/>
          <p:nvPr/>
        </p:nvSpPr>
        <p:spPr>
          <a:xfrm>
            <a:off x="228600" y="3145536"/>
            <a:ext cx="11018520" cy="347472"/>
          </a:xfrm>
          <a:prstGeom prst="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01752" y="3200400"/>
            <a:ext cx="548640" cy="274320"/>
          </a:xfrm>
          <a:prstGeom prst="rect">
            <a:avLst/>
          </a:prstGeom>
          <a:noFill/>
        </p:spPr>
        <p:txBody>
          <a:bodyPr wrap="square">
            <a:spAutoFit/>
          </a:bodyPr>
          <a:lstStyle/>
          <a:p>
            <a:pPr algn="l"/>
            <a:r>
              <a:rPr sz="900" b="0" i="0">
                <a:solidFill>
                  <a:srgbClr val="F1F5F9"/>
                </a:solidFill>
              </a:rPr>
              <a:t>IDEF-02</a:t>
            </a:r>
          </a:p>
        </p:txBody>
      </p:sp>
      <p:sp>
        <p:nvSpPr>
          <p:cNvPr id="41" name="TextBox 40"/>
          <p:cNvSpPr txBox="1"/>
          <p:nvPr/>
        </p:nvSpPr>
        <p:spPr>
          <a:xfrm>
            <a:off x="941832" y="3200400"/>
            <a:ext cx="594360" cy="274320"/>
          </a:xfrm>
          <a:prstGeom prst="rect">
            <a:avLst/>
          </a:prstGeom>
          <a:noFill/>
        </p:spPr>
        <p:txBody>
          <a:bodyPr wrap="square">
            <a:spAutoFit/>
          </a:bodyPr>
          <a:lstStyle/>
          <a:p>
            <a:pPr algn="l"/>
            <a:r>
              <a:rPr sz="900" b="0" i="0">
                <a:solidFill>
                  <a:srgbClr val="F1F5F9"/>
                </a:solidFill>
              </a:rPr>
              <a:t>Minor</a:t>
            </a:r>
          </a:p>
        </p:txBody>
      </p:sp>
      <p:sp>
        <p:nvSpPr>
          <p:cNvPr id="42" name="TextBox 41"/>
          <p:cNvSpPr txBox="1"/>
          <p:nvPr/>
        </p:nvSpPr>
        <p:spPr>
          <a:xfrm>
            <a:off x="1627632" y="3200400"/>
            <a:ext cx="1280160" cy="274320"/>
          </a:xfrm>
          <a:prstGeom prst="rect">
            <a:avLst/>
          </a:prstGeom>
          <a:noFill/>
        </p:spPr>
        <p:txBody>
          <a:bodyPr wrap="square">
            <a:spAutoFit/>
          </a:bodyPr>
          <a:lstStyle/>
          <a:p>
            <a:pPr algn="l"/>
            <a:r>
              <a:rPr sz="900" b="0" i="0">
                <a:solidFill>
                  <a:srgbClr val="F1F5F9"/>
                </a:solidFill>
              </a:rPr>
              <a:t>API→History</a:t>
            </a:r>
          </a:p>
        </p:txBody>
      </p:sp>
      <p:sp>
        <p:nvSpPr>
          <p:cNvPr id="43" name="TextBox 42"/>
          <p:cNvSpPr txBox="1"/>
          <p:nvPr/>
        </p:nvSpPr>
        <p:spPr>
          <a:xfrm>
            <a:off x="2999232" y="3200400"/>
            <a:ext cx="3108960" cy="274320"/>
          </a:xfrm>
          <a:prstGeom prst="rect">
            <a:avLst/>
          </a:prstGeom>
          <a:noFill/>
        </p:spPr>
        <p:txBody>
          <a:bodyPr wrap="square">
            <a:spAutoFit/>
          </a:bodyPr>
          <a:lstStyle/>
          <a:p>
            <a:pPr algn="l"/>
            <a:r>
              <a:rPr sz="900" b="0" i="0">
                <a:solidFill>
                  <a:srgbClr val="F1F5F9"/>
                </a:solidFill>
              </a:rPr>
              <a:t>GET /history?limit=0 returns all records</a:t>
            </a:r>
          </a:p>
        </p:txBody>
      </p:sp>
      <p:sp>
        <p:nvSpPr>
          <p:cNvPr id="44" name="TextBox 43"/>
          <p:cNvSpPr txBox="1"/>
          <p:nvPr/>
        </p:nvSpPr>
        <p:spPr>
          <a:xfrm>
            <a:off x="6199632" y="3200400"/>
            <a:ext cx="731520" cy="274320"/>
          </a:xfrm>
          <a:prstGeom prst="rect">
            <a:avLst/>
          </a:prstGeom>
          <a:noFill/>
        </p:spPr>
        <p:txBody>
          <a:bodyPr wrap="square">
            <a:spAutoFit/>
          </a:bodyPr>
          <a:lstStyle/>
          <a:p>
            <a:pPr algn="l"/>
            <a:r>
              <a:rPr sz="900" b="0" i="0">
                <a:solidFill>
                  <a:srgbClr val="F1F5F9"/>
                </a:solidFill>
              </a:rPr>
              <a:t>Fixed</a:t>
            </a:r>
          </a:p>
        </p:txBody>
      </p:sp>
      <p:sp>
        <p:nvSpPr>
          <p:cNvPr id="45" name="TextBox 44"/>
          <p:cNvSpPr txBox="1"/>
          <p:nvPr/>
        </p:nvSpPr>
        <p:spPr>
          <a:xfrm>
            <a:off x="7022592" y="3200400"/>
            <a:ext cx="4206240" cy="274320"/>
          </a:xfrm>
          <a:prstGeom prst="rect">
            <a:avLst/>
          </a:prstGeom>
          <a:noFill/>
        </p:spPr>
        <p:txBody>
          <a:bodyPr wrap="square">
            <a:spAutoFit/>
          </a:bodyPr>
          <a:lstStyle/>
          <a:p>
            <a:pPr algn="l"/>
            <a:r>
              <a:rPr sz="900" b="0" i="0">
                <a:solidFill>
                  <a:srgbClr val="F1F5F9"/>
                </a:solidFill>
              </a:rPr>
              <a:t>Added limit &gt; 0 guard</a:t>
            </a:r>
          </a:p>
        </p:txBody>
      </p:sp>
      <p:sp>
        <p:nvSpPr>
          <p:cNvPr id="46" name="Rectangle 45"/>
          <p:cNvSpPr/>
          <p:nvPr/>
        </p:nvSpPr>
        <p:spPr>
          <a:xfrm>
            <a:off x="228600" y="3493008"/>
            <a:ext cx="1101852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1752" y="3547872"/>
            <a:ext cx="548640" cy="274320"/>
          </a:xfrm>
          <a:prstGeom prst="rect">
            <a:avLst/>
          </a:prstGeom>
          <a:noFill/>
        </p:spPr>
        <p:txBody>
          <a:bodyPr wrap="square">
            <a:spAutoFit/>
          </a:bodyPr>
          <a:lstStyle/>
          <a:p>
            <a:pPr algn="l"/>
            <a:r>
              <a:rPr sz="900" b="0" i="0">
                <a:solidFill>
                  <a:srgbClr val="94A3B8"/>
                </a:solidFill>
              </a:rPr>
              <a:t>IDEF-03</a:t>
            </a:r>
          </a:p>
        </p:txBody>
      </p:sp>
      <p:sp>
        <p:nvSpPr>
          <p:cNvPr id="48" name="TextBox 47"/>
          <p:cNvSpPr txBox="1"/>
          <p:nvPr/>
        </p:nvSpPr>
        <p:spPr>
          <a:xfrm>
            <a:off x="941832" y="3547872"/>
            <a:ext cx="594360" cy="274320"/>
          </a:xfrm>
          <a:prstGeom prst="rect">
            <a:avLst/>
          </a:prstGeom>
          <a:noFill/>
        </p:spPr>
        <p:txBody>
          <a:bodyPr wrap="square">
            <a:spAutoFit/>
          </a:bodyPr>
          <a:lstStyle/>
          <a:p>
            <a:pPr algn="l"/>
            <a:r>
              <a:rPr sz="900" b="0" i="0">
                <a:solidFill>
                  <a:srgbClr val="94A3B8"/>
                </a:solidFill>
              </a:rPr>
              <a:t>Info</a:t>
            </a:r>
          </a:p>
        </p:txBody>
      </p:sp>
      <p:sp>
        <p:nvSpPr>
          <p:cNvPr id="49" name="TextBox 48"/>
          <p:cNvSpPr txBox="1"/>
          <p:nvPr/>
        </p:nvSpPr>
        <p:spPr>
          <a:xfrm>
            <a:off x="1627632" y="3547872"/>
            <a:ext cx="1280160" cy="274320"/>
          </a:xfrm>
          <a:prstGeom prst="rect">
            <a:avLst/>
          </a:prstGeom>
          <a:noFill/>
        </p:spPr>
        <p:txBody>
          <a:bodyPr wrap="square">
            <a:spAutoFit/>
          </a:bodyPr>
          <a:lstStyle/>
          <a:p>
            <a:pPr algn="l"/>
            <a:r>
              <a:rPr sz="900" b="0" i="0">
                <a:solidFill>
                  <a:srgbClr val="94A3B8"/>
                </a:solidFill>
              </a:rPr>
              <a:t>UI→Analyzer</a:t>
            </a:r>
          </a:p>
        </p:txBody>
      </p:sp>
      <p:sp>
        <p:nvSpPr>
          <p:cNvPr id="50" name="TextBox 49"/>
          <p:cNvSpPr txBox="1"/>
          <p:nvPr/>
        </p:nvSpPr>
        <p:spPr>
          <a:xfrm>
            <a:off x="2999232" y="3547872"/>
            <a:ext cx="3108960" cy="274320"/>
          </a:xfrm>
          <a:prstGeom prst="rect">
            <a:avLst/>
          </a:prstGeom>
          <a:noFill/>
        </p:spPr>
        <p:txBody>
          <a:bodyPr wrap="square">
            <a:spAutoFit/>
          </a:bodyPr>
          <a:lstStyle/>
          <a:p>
            <a:pPr algn="l"/>
            <a:r>
              <a:rPr sz="900" b="0" i="0">
                <a:solidFill>
                  <a:srgbClr val="94A3B8"/>
                </a:solidFill>
              </a:rPr>
              <a:t>Loading sample doesn't auto-trigger analysis</a:t>
            </a:r>
          </a:p>
        </p:txBody>
      </p:sp>
      <p:sp>
        <p:nvSpPr>
          <p:cNvPr id="51" name="TextBox 50"/>
          <p:cNvSpPr txBox="1"/>
          <p:nvPr/>
        </p:nvSpPr>
        <p:spPr>
          <a:xfrm>
            <a:off x="6199632" y="3547872"/>
            <a:ext cx="731520" cy="274320"/>
          </a:xfrm>
          <a:prstGeom prst="rect">
            <a:avLst/>
          </a:prstGeom>
          <a:noFill/>
        </p:spPr>
        <p:txBody>
          <a:bodyPr wrap="square">
            <a:spAutoFit/>
          </a:bodyPr>
          <a:lstStyle/>
          <a:p>
            <a:pPr algn="l"/>
            <a:r>
              <a:rPr sz="900" b="0" i="0">
                <a:solidFill>
                  <a:srgbClr val="94A3B8"/>
                </a:solidFill>
              </a:rPr>
              <a:t>Accepted</a:t>
            </a:r>
          </a:p>
        </p:txBody>
      </p:sp>
      <p:sp>
        <p:nvSpPr>
          <p:cNvPr id="52" name="TextBox 51"/>
          <p:cNvSpPr txBox="1"/>
          <p:nvPr/>
        </p:nvSpPr>
        <p:spPr>
          <a:xfrm>
            <a:off x="7022592" y="3547872"/>
            <a:ext cx="4206240" cy="274320"/>
          </a:xfrm>
          <a:prstGeom prst="rect">
            <a:avLst/>
          </a:prstGeom>
          <a:noFill/>
        </p:spPr>
        <p:txBody>
          <a:bodyPr wrap="square">
            <a:spAutoFit/>
          </a:bodyPr>
          <a:lstStyle/>
          <a:p>
            <a:pPr algn="l"/>
            <a:r>
              <a:rPr sz="900" b="0" i="0">
                <a:solidFill>
                  <a:srgbClr val="94A3B8"/>
                </a:solidFill>
              </a:rPr>
              <a:t>By design — user clicks Analyze</a:t>
            </a:r>
          </a:p>
        </p:txBody>
      </p:sp>
      <p:sp>
        <p:nvSpPr>
          <p:cNvPr id="53" name="Rectangle 52"/>
          <p:cNvSpPr/>
          <p:nvPr/>
        </p:nvSpPr>
        <p:spPr>
          <a:xfrm>
            <a:off x="228600" y="3840480"/>
            <a:ext cx="11018520" cy="347472"/>
          </a:xfrm>
          <a:prstGeom prst="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01752" y="3895344"/>
            <a:ext cx="548640" cy="274320"/>
          </a:xfrm>
          <a:prstGeom prst="rect">
            <a:avLst/>
          </a:prstGeom>
          <a:noFill/>
        </p:spPr>
        <p:txBody>
          <a:bodyPr wrap="square">
            <a:spAutoFit/>
          </a:bodyPr>
          <a:lstStyle/>
          <a:p>
            <a:pPr algn="l"/>
            <a:r>
              <a:rPr sz="900" b="0" i="0">
                <a:solidFill>
                  <a:srgbClr val="F1F5F9"/>
                </a:solidFill>
              </a:rPr>
              <a:t>SDEF-01</a:t>
            </a:r>
          </a:p>
        </p:txBody>
      </p:sp>
      <p:sp>
        <p:nvSpPr>
          <p:cNvPr id="55" name="TextBox 54"/>
          <p:cNvSpPr txBox="1"/>
          <p:nvPr/>
        </p:nvSpPr>
        <p:spPr>
          <a:xfrm>
            <a:off x="941832" y="3895344"/>
            <a:ext cx="594360" cy="274320"/>
          </a:xfrm>
          <a:prstGeom prst="rect">
            <a:avLst/>
          </a:prstGeom>
          <a:noFill/>
        </p:spPr>
        <p:txBody>
          <a:bodyPr wrap="square">
            <a:spAutoFit/>
          </a:bodyPr>
          <a:lstStyle/>
          <a:p>
            <a:pPr algn="l"/>
            <a:r>
              <a:rPr sz="900" b="0" i="0">
                <a:solidFill>
                  <a:srgbClr val="F1F5F9"/>
                </a:solidFill>
              </a:rPr>
              <a:t>Minor</a:t>
            </a:r>
          </a:p>
        </p:txBody>
      </p:sp>
      <p:sp>
        <p:nvSpPr>
          <p:cNvPr id="56" name="TextBox 55"/>
          <p:cNvSpPr txBox="1"/>
          <p:nvPr/>
        </p:nvSpPr>
        <p:spPr>
          <a:xfrm>
            <a:off x="1627632" y="3895344"/>
            <a:ext cx="1280160" cy="274320"/>
          </a:xfrm>
          <a:prstGeom prst="rect">
            <a:avLst/>
          </a:prstGeom>
          <a:noFill/>
        </p:spPr>
        <p:txBody>
          <a:bodyPr wrap="square">
            <a:spAutoFit/>
          </a:bodyPr>
          <a:lstStyle/>
          <a:p>
            <a:pPr algn="l"/>
            <a:r>
              <a:rPr sz="900" b="0" i="0">
                <a:solidFill>
                  <a:srgbClr val="F1F5F9"/>
                </a:solidFill>
              </a:rPr>
              <a:t>Compare Page</a:t>
            </a:r>
          </a:p>
        </p:txBody>
      </p:sp>
      <p:sp>
        <p:nvSpPr>
          <p:cNvPr id="57" name="TextBox 56"/>
          <p:cNvSpPr txBox="1"/>
          <p:nvPr/>
        </p:nvSpPr>
        <p:spPr>
          <a:xfrm>
            <a:off x="2999232" y="3895344"/>
            <a:ext cx="3108960" cy="274320"/>
          </a:xfrm>
          <a:prstGeom prst="rect">
            <a:avLst/>
          </a:prstGeom>
          <a:noFill/>
        </p:spPr>
        <p:txBody>
          <a:bodyPr wrap="square">
            <a:spAutoFit/>
          </a:bodyPr>
          <a:lstStyle/>
          <a:p>
            <a:pPr algn="l"/>
            <a:r>
              <a:rPr sz="900" b="0" i="0">
                <a:solidFill>
                  <a:srgbClr val="F1F5F9"/>
                </a:solidFill>
              </a:rPr>
              <a:t>KeyError when only 1 analysis in history</a:t>
            </a:r>
          </a:p>
        </p:txBody>
      </p:sp>
      <p:sp>
        <p:nvSpPr>
          <p:cNvPr id="58" name="TextBox 57"/>
          <p:cNvSpPr txBox="1"/>
          <p:nvPr/>
        </p:nvSpPr>
        <p:spPr>
          <a:xfrm>
            <a:off x="6199632" y="3895344"/>
            <a:ext cx="731520" cy="274320"/>
          </a:xfrm>
          <a:prstGeom prst="rect">
            <a:avLst/>
          </a:prstGeom>
          <a:noFill/>
        </p:spPr>
        <p:txBody>
          <a:bodyPr wrap="square">
            <a:spAutoFit/>
          </a:bodyPr>
          <a:lstStyle/>
          <a:p>
            <a:pPr algn="l"/>
            <a:r>
              <a:rPr sz="900" b="0" i="0">
                <a:solidFill>
                  <a:srgbClr val="F1F5F9"/>
                </a:solidFill>
              </a:rPr>
              <a:t>Fixed</a:t>
            </a:r>
          </a:p>
        </p:txBody>
      </p:sp>
      <p:sp>
        <p:nvSpPr>
          <p:cNvPr id="59" name="TextBox 58"/>
          <p:cNvSpPr txBox="1"/>
          <p:nvPr/>
        </p:nvSpPr>
        <p:spPr>
          <a:xfrm>
            <a:off x="7022592" y="3895344"/>
            <a:ext cx="4206240" cy="274320"/>
          </a:xfrm>
          <a:prstGeom prst="rect">
            <a:avLst/>
          </a:prstGeom>
          <a:noFill/>
        </p:spPr>
        <p:txBody>
          <a:bodyPr wrap="square">
            <a:spAutoFit/>
          </a:bodyPr>
          <a:lstStyle/>
          <a:p>
            <a:pPr algn="l"/>
            <a:r>
              <a:rPr sz="900" b="0" i="0">
                <a:solidFill>
                  <a:srgbClr val="F1F5F9"/>
                </a:solidFill>
              </a:rPr>
              <a:t>Added len(history) &lt; 2 guard</a:t>
            </a:r>
          </a:p>
        </p:txBody>
      </p:sp>
      <p:sp>
        <p:nvSpPr>
          <p:cNvPr id="60" name="Rectangle 59"/>
          <p:cNvSpPr/>
          <p:nvPr/>
        </p:nvSpPr>
        <p:spPr>
          <a:xfrm>
            <a:off x="228600" y="4187952"/>
            <a:ext cx="1101852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01752" y="4242816"/>
            <a:ext cx="548640" cy="274320"/>
          </a:xfrm>
          <a:prstGeom prst="rect">
            <a:avLst/>
          </a:prstGeom>
          <a:noFill/>
        </p:spPr>
        <p:txBody>
          <a:bodyPr wrap="square">
            <a:spAutoFit/>
          </a:bodyPr>
          <a:lstStyle/>
          <a:p>
            <a:pPr algn="l"/>
            <a:r>
              <a:rPr sz="900" b="0" i="0">
                <a:solidFill>
                  <a:srgbClr val="94A3B8"/>
                </a:solidFill>
              </a:rPr>
              <a:t>SDEF-02</a:t>
            </a:r>
          </a:p>
        </p:txBody>
      </p:sp>
      <p:sp>
        <p:nvSpPr>
          <p:cNvPr id="62" name="TextBox 61"/>
          <p:cNvSpPr txBox="1"/>
          <p:nvPr/>
        </p:nvSpPr>
        <p:spPr>
          <a:xfrm>
            <a:off x="941832" y="4242816"/>
            <a:ext cx="594360" cy="274320"/>
          </a:xfrm>
          <a:prstGeom prst="rect">
            <a:avLst/>
          </a:prstGeom>
          <a:noFill/>
        </p:spPr>
        <p:txBody>
          <a:bodyPr wrap="square">
            <a:spAutoFit/>
          </a:bodyPr>
          <a:lstStyle/>
          <a:p>
            <a:pPr algn="l"/>
            <a:r>
              <a:rPr sz="900" b="0" i="0">
                <a:solidFill>
                  <a:srgbClr val="94A3B8"/>
                </a:solidFill>
              </a:rPr>
              <a:t>Minor</a:t>
            </a:r>
          </a:p>
        </p:txBody>
      </p:sp>
      <p:sp>
        <p:nvSpPr>
          <p:cNvPr id="63" name="TextBox 62"/>
          <p:cNvSpPr txBox="1"/>
          <p:nvPr/>
        </p:nvSpPr>
        <p:spPr>
          <a:xfrm>
            <a:off x="1627632" y="4242816"/>
            <a:ext cx="1280160" cy="274320"/>
          </a:xfrm>
          <a:prstGeom prst="rect">
            <a:avLst/>
          </a:prstGeom>
          <a:noFill/>
        </p:spPr>
        <p:txBody>
          <a:bodyPr wrap="square">
            <a:spAutoFit/>
          </a:bodyPr>
          <a:lstStyle/>
          <a:p>
            <a:pPr algn="l"/>
            <a:r>
              <a:rPr sz="900" b="0" i="0">
                <a:solidFill>
                  <a:srgbClr val="94A3B8"/>
                </a:solidFill>
              </a:rPr>
              <a:t>Settings</a:t>
            </a:r>
          </a:p>
        </p:txBody>
      </p:sp>
      <p:sp>
        <p:nvSpPr>
          <p:cNvPr id="64" name="TextBox 63"/>
          <p:cNvSpPr txBox="1"/>
          <p:nvPr/>
        </p:nvSpPr>
        <p:spPr>
          <a:xfrm>
            <a:off x="2999232" y="4242816"/>
            <a:ext cx="3108960" cy="274320"/>
          </a:xfrm>
          <a:prstGeom prst="rect">
            <a:avLst/>
          </a:prstGeom>
          <a:noFill/>
        </p:spPr>
        <p:txBody>
          <a:bodyPr wrap="square">
            <a:spAutoFit/>
          </a:bodyPr>
          <a:lstStyle/>
          <a:p>
            <a:pPr algn="l"/>
            <a:r>
              <a:rPr sz="900" b="0" i="0">
                <a:solidFill>
                  <a:srgbClr val="94A3B8"/>
                </a:solidFill>
              </a:rPr>
              <a:t>SMTP settings lost on page refresh</a:t>
            </a:r>
          </a:p>
        </p:txBody>
      </p:sp>
      <p:sp>
        <p:nvSpPr>
          <p:cNvPr id="65" name="TextBox 64"/>
          <p:cNvSpPr txBox="1"/>
          <p:nvPr/>
        </p:nvSpPr>
        <p:spPr>
          <a:xfrm>
            <a:off x="6199632" y="4242816"/>
            <a:ext cx="731520" cy="274320"/>
          </a:xfrm>
          <a:prstGeom prst="rect">
            <a:avLst/>
          </a:prstGeom>
          <a:noFill/>
        </p:spPr>
        <p:txBody>
          <a:bodyPr wrap="square">
            <a:spAutoFit/>
          </a:bodyPr>
          <a:lstStyle/>
          <a:p>
            <a:pPr algn="l"/>
            <a:r>
              <a:rPr sz="900" b="0" i="0">
                <a:solidFill>
                  <a:srgbClr val="94A3B8"/>
                </a:solidFill>
              </a:rPr>
              <a:t>Fixed</a:t>
            </a:r>
          </a:p>
        </p:txBody>
      </p:sp>
      <p:sp>
        <p:nvSpPr>
          <p:cNvPr id="66" name="TextBox 65"/>
          <p:cNvSpPr txBox="1"/>
          <p:nvPr/>
        </p:nvSpPr>
        <p:spPr>
          <a:xfrm>
            <a:off x="7022592" y="4242816"/>
            <a:ext cx="4206240" cy="274320"/>
          </a:xfrm>
          <a:prstGeom prst="rect">
            <a:avLst/>
          </a:prstGeom>
          <a:noFill/>
        </p:spPr>
        <p:txBody>
          <a:bodyPr wrap="square">
            <a:spAutoFit/>
          </a:bodyPr>
          <a:lstStyle/>
          <a:p>
            <a:pPr algn="l"/>
            <a:r>
              <a:rPr sz="900" b="0" i="0">
                <a:solidFill>
                  <a:srgbClr val="94A3B8"/>
                </a:solidFill>
              </a:rPr>
              <a:t>Persisted to smtp_config.json</a:t>
            </a:r>
          </a:p>
        </p:txBody>
      </p:sp>
      <p:sp>
        <p:nvSpPr>
          <p:cNvPr id="67" name="Rectangle 66"/>
          <p:cNvSpPr/>
          <p:nvPr/>
        </p:nvSpPr>
        <p:spPr>
          <a:xfrm>
            <a:off x="228600" y="4535424"/>
            <a:ext cx="11018520" cy="347472"/>
          </a:xfrm>
          <a:prstGeom prst="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01752" y="4590288"/>
            <a:ext cx="548640" cy="274320"/>
          </a:xfrm>
          <a:prstGeom prst="rect">
            <a:avLst/>
          </a:prstGeom>
          <a:noFill/>
        </p:spPr>
        <p:txBody>
          <a:bodyPr wrap="square">
            <a:spAutoFit/>
          </a:bodyPr>
          <a:lstStyle/>
          <a:p>
            <a:pPr algn="l"/>
            <a:r>
              <a:rPr sz="900" b="0" i="0">
                <a:solidFill>
                  <a:srgbClr val="F1F5F9"/>
                </a:solidFill>
              </a:rPr>
              <a:t>SDEF-03</a:t>
            </a:r>
          </a:p>
        </p:txBody>
      </p:sp>
      <p:sp>
        <p:nvSpPr>
          <p:cNvPr id="69" name="TextBox 68"/>
          <p:cNvSpPr txBox="1"/>
          <p:nvPr/>
        </p:nvSpPr>
        <p:spPr>
          <a:xfrm>
            <a:off x="941832" y="4590288"/>
            <a:ext cx="594360" cy="274320"/>
          </a:xfrm>
          <a:prstGeom prst="rect">
            <a:avLst/>
          </a:prstGeom>
          <a:noFill/>
        </p:spPr>
        <p:txBody>
          <a:bodyPr wrap="square">
            <a:spAutoFit/>
          </a:bodyPr>
          <a:lstStyle/>
          <a:p>
            <a:pPr algn="l"/>
            <a:r>
              <a:rPr sz="900" b="0" i="0">
                <a:solidFill>
                  <a:srgbClr val="F1F5F9"/>
                </a:solidFill>
              </a:rPr>
              <a:t>Info</a:t>
            </a:r>
          </a:p>
        </p:txBody>
      </p:sp>
      <p:sp>
        <p:nvSpPr>
          <p:cNvPr id="70" name="TextBox 69"/>
          <p:cNvSpPr txBox="1"/>
          <p:nvPr/>
        </p:nvSpPr>
        <p:spPr>
          <a:xfrm>
            <a:off x="1627632" y="4590288"/>
            <a:ext cx="1280160" cy="274320"/>
          </a:xfrm>
          <a:prstGeom prst="rect">
            <a:avLst/>
          </a:prstGeom>
          <a:noFill/>
        </p:spPr>
        <p:txBody>
          <a:bodyPr wrap="square">
            <a:spAutoFit/>
          </a:bodyPr>
          <a:lstStyle/>
          <a:p>
            <a:pPr algn="l"/>
            <a:r>
              <a:rPr sz="900" b="0" i="0">
                <a:solidFill>
                  <a:srgbClr val="F1F5F9"/>
                </a:solidFill>
              </a:rPr>
              <a:t>API</a:t>
            </a:r>
          </a:p>
        </p:txBody>
      </p:sp>
      <p:sp>
        <p:nvSpPr>
          <p:cNvPr id="71" name="TextBox 70"/>
          <p:cNvSpPr txBox="1"/>
          <p:nvPr/>
        </p:nvSpPr>
        <p:spPr>
          <a:xfrm>
            <a:off x="2999232" y="4590288"/>
            <a:ext cx="3108960" cy="274320"/>
          </a:xfrm>
          <a:prstGeom prst="rect">
            <a:avLst/>
          </a:prstGeom>
          <a:noFill/>
        </p:spPr>
        <p:txBody>
          <a:bodyPr wrap="square">
            <a:spAutoFit/>
          </a:bodyPr>
          <a:lstStyle/>
          <a:p>
            <a:pPr algn="l"/>
            <a:r>
              <a:rPr sz="900" b="0" i="0">
                <a:solidFill>
                  <a:srgbClr val="F1F5F9"/>
                </a:solidFill>
              </a:rPr>
              <a:t>No Content-Type gives non-descriptive 422</a:t>
            </a:r>
          </a:p>
        </p:txBody>
      </p:sp>
      <p:sp>
        <p:nvSpPr>
          <p:cNvPr id="72" name="TextBox 71"/>
          <p:cNvSpPr txBox="1"/>
          <p:nvPr/>
        </p:nvSpPr>
        <p:spPr>
          <a:xfrm>
            <a:off x="6199632" y="4590288"/>
            <a:ext cx="731520" cy="274320"/>
          </a:xfrm>
          <a:prstGeom prst="rect">
            <a:avLst/>
          </a:prstGeom>
          <a:noFill/>
        </p:spPr>
        <p:txBody>
          <a:bodyPr wrap="square">
            <a:spAutoFit/>
          </a:bodyPr>
          <a:lstStyle/>
          <a:p>
            <a:pPr algn="l"/>
            <a:r>
              <a:rPr sz="900" b="0" i="0">
                <a:solidFill>
                  <a:srgbClr val="F1F5F9"/>
                </a:solidFill>
              </a:rPr>
              <a:t>Accepted</a:t>
            </a:r>
          </a:p>
        </p:txBody>
      </p:sp>
      <p:sp>
        <p:nvSpPr>
          <p:cNvPr id="73" name="TextBox 72"/>
          <p:cNvSpPr txBox="1"/>
          <p:nvPr/>
        </p:nvSpPr>
        <p:spPr>
          <a:xfrm>
            <a:off x="7022592" y="4590288"/>
            <a:ext cx="4206240" cy="274320"/>
          </a:xfrm>
          <a:prstGeom prst="rect">
            <a:avLst/>
          </a:prstGeom>
          <a:noFill/>
        </p:spPr>
        <p:txBody>
          <a:bodyPr wrap="square">
            <a:spAutoFit/>
          </a:bodyPr>
          <a:lstStyle/>
          <a:p>
            <a:pPr algn="l"/>
            <a:r>
              <a:rPr sz="900" b="0" i="0">
                <a:solidFill>
                  <a:srgbClr val="F1F5F9"/>
                </a:solidFill>
              </a:rPr>
              <a:t>FastAPI default behaviour</a:t>
            </a:r>
          </a:p>
        </p:txBody>
      </p:sp>
      <p:sp>
        <p:nvSpPr>
          <p:cNvPr id="74" name="Rectangle 73"/>
          <p:cNvSpPr/>
          <p:nvPr/>
        </p:nvSpPr>
        <p:spPr>
          <a:xfrm>
            <a:off x="228600" y="4882896"/>
            <a:ext cx="1101852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301752" y="4937760"/>
            <a:ext cx="548640" cy="274320"/>
          </a:xfrm>
          <a:prstGeom prst="rect">
            <a:avLst/>
          </a:prstGeom>
          <a:noFill/>
        </p:spPr>
        <p:txBody>
          <a:bodyPr wrap="square">
            <a:spAutoFit/>
          </a:bodyPr>
          <a:lstStyle/>
          <a:p>
            <a:pPr algn="l"/>
            <a:r>
              <a:rPr sz="900" b="0" i="0">
                <a:solidFill>
                  <a:srgbClr val="94A3B8"/>
                </a:solidFill>
              </a:rPr>
              <a:t>SDEF-04</a:t>
            </a:r>
          </a:p>
        </p:txBody>
      </p:sp>
      <p:sp>
        <p:nvSpPr>
          <p:cNvPr id="76" name="TextBox 75"/>
          <p:cNvSpPr txBox="1"/>
          <p:nvPr/>
        </p:nvSpPr>
        <p:spPr>
          <a:xfrm>
            <a:off x="941832" y="4937760"/>
            <a:ext cx="594360" cy="274320"/>
          </a:xfrm>
          <a:prstGeom prst="rect">
            <a:avLst/>
          </a:prstGeom>
          <a:noFill/>
        </p:spPr>
        <p:txBody>
          <a:bodyPr wrap="square">
            <a:spAutoFit/>
          </a:bodyPr>
          <a:lstStyle/>
          <a:p>
            <a:pPr algn="l"/>
            <a:r>
              <a:rPr sz="900" b="0" i="0">
                <a:solidFill>
                  <a:srgbClr val="94A3B8"/>
                </a:solidFill>
              </a:rPr>
              <a:t>Info</a:t>
            </a:r>
          </a:p>
        </p:txBody>
      </p:sp>
      <p:sp>
        <p:nvSpPr>
          <p:cNvPr id="77" name="TextBox 76"/>
          <p:cNvSpPr txBox="1"/>
          <p:nvPr/>
        </p:nvSpPr>
        <p:spPr>
          <a:xfrm>
            <a:off x="1627632" y="4937760"/>
            <a:ext cx="1280160" cy="274320"/>
          </a:xfrm>
          <a:prstGeom prst="rect">
            <a:avLst/>
          </a:prstGeom>
          <a:noFill/>
        </p:spPr>
        <p:txBody>
          <a:bodyPr wrap="square">
            <a:spAutoFit/>
          </a:bodyPr>
          <a:lstStyle/>
          <a:p>
            <a:pPr algn="l"/>
            <a:r>
              <a:rPr sz="900" b="0" i="0">
                <a:solidFill>
                  <a:srgbClr val="94A3B8"/>
                </a:solidFill>
              </a:rPr>
              <a:t>History</a:t>
            </a:r>
          </a:p>
        </p:txBody>
      </p:sp>
      <p:sp>
        <p:nvSpPr>
          <p:cNvPr id="78" name="TextBox 77"/>
          <p:cNvSpPr txBox="1"/>
          <p:nvPr/>
        </p:nvSpPr>
        <p:spPr>
          <a:xfrm>
            <a:off x="2999232" y="4937760"/>
            <a:ext cx="3108960" cy="274320"/>
          </a:xfrm>
          <a:prstGeom prst="rect">
            <a:avLst/>
          </a:prstGeom>
          <a:noFill/>
        </p:spPr>
        <p:txBody>
          <a:bodyPr wrap="square">
            <a:spAutoFit/>
          </a:bodyPr>
          <a:lstStyle/>
          <a:p>
            <a:pPr algn="l"/>
            <a:r>
              <a:rPr sz="900" b="0" i="0">
                <a:solidFill>
                  <a:srgbClr val="94A3B8"/>
                </a:solidFill>
              </a:rPr>
              <a:t>Identical titles indistinguishable</a:t>
            </a:r>
          </a:p>
        </p:txBody>
      </p:sp>
      <p:sp>
        <p:nvSpPr>
          <p:cNvPr id="79" name="TextBox 78"/>
          <p:cNvSpPr txBox="1"/>
          <p:nvPr/>
        </p:nvSpPr>
        <p:spPr>
          <a:xfrm>
            <a:off x="6199632" y="4937760"/>
            <a:ext cx="731520" cy="274320"/>
          </a:xfrm>
          <a:prstGeom prst="rect">
            <a:avLst/>
          </a:prstGeom>
          <a:noFill/>
        </p:spPr>
        <p:txBody>
          <a:bodyPr wrap="square">
            <a:spAutoFit/>
          </a:bodyPr>
          <a:lstStyle/>
          <a:p>
            <a:pPr algn="l"/>
            <a:r>
              <a:rPr sz="900" b="0" i="0">
                <a:solidFill>
                  <a:srgbClr val="94A3B8"/>
                </a:solidFill>
              </a:rPr>
              <a:t>Open</a:t>
            </a:r>
          </a:p>
        </p:txBody>
      </p:sp>
      <p:sp>
        <p:nvSpPr>
          <p:cNvPr id="80" name="TextBox 79"/>
          <p:cNvSpPr txBox="1"/>
          <p:nvPr/>
        </p:nvSpPr>
        <p:spPr>
          <a:xfrm>
            <a:off x="7022592" y="4937760"/>
            <a:ext cx="4206240" cy="274320"/>
          </a:xfrm>
          <a:prstGeom prst="rect">
            <a:avLst/>
          </a:prstGeom>
          <a:noFill/>
        </p:spPr>
        <p:txBody>
          <a:bodyPr wrap="square">
            <a:spAutoFit/>
          </a:bodyPr>
          <a:lstStyle/>
          <a:p>
            <a:pPr algn="l"/>
            <a:r>
              <a:rPr sz="900" b="0" i="0">
                <a:solidFill>
                  <a:srgbClr val="94A3B8"/>
                </a:solidFill>
              </a:rPr>
              <a:t>Scheduled for v1.1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Testing Summary Dashboard</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Complete view of all testing activities</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19</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274320" y="1051560"/>
            <a:ext cx="265176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51560"/>
            <a:ext cx="265176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188720"/>
            <a:ext cx="2377440" cy="548640"/>
          </a:xfrm>
          <a:prstGeom prst="rect">
            <a:avLst/>
          </a:prstGeom>
          <a:noFill/>
        </p:spPr>
        <p:txBody>
          <a:bodyPr wrap="square">
            <a:spAutoFit/>
          </a:bodyPr>
          <a:lstStyle/>
          <a:p>
            <a:pPr algn="ctr"/>
            <a:r>
              <a:rPr sz="2800" b="1" i="0">
                <a:solidFill>
                  <a:srgbClr val="2563EB"/>
                </a:solidFill>
              </a:rPr>
              <a:t>216</a:t>
            </a:r>
          </a:p>
        </p:txBody>
      </p:sp>
      <p:sp>
        <p:nvSpPr>
          <p:cNvPr id="12" name="TextBox 11"/>
          <p:cNvSpPr txBox="1"/>
          <p:nvPr/>
        </p:nvSpPr>
        <p:spPr>
          <a:xfrm>
            <a:off x="365760" y="1709928"/>
            <a:ext cx="2468880" cy="274320"/>
          </a:xfrm>
          <a:prstGeom prst="rect">
            <a:avLst/>
          </a:prstGeom>
          <a:noFill/>
        </p:spPr>
        <p:txBody>
          <a:bodyPr wrap="square">
            <a:spAutoFit/>
          </a:bodyPr>
          <a:lstStyle/>
          <a:p>
            <a:pPr algn="ctr"/>
            <a:r>
              <a:rPr sz="1000" b="1" i="0">
                <a:solidFill>
                  <a:srgbClr val="FFFFFF"/>
                </a:solidFill>
              </a:rPr>
              <a:t>Total Test Cases</a:t>
            </a:r>
          </a:p>
        </p:txBody>
      </p:sp>
      <p:sp>
        <p:nvSpPr>
          <p:cNvPr id="13" name="Rounded Rectangle 12"/>
          <p:cNvSpPr/>
          <p:nvPr/>
        </p:nvSpPr>
        <p:spPr>
          <a:xfrm>
            <a:off x="3200400" y="1051560"/>
            <a:ext cx="265176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00400" y="1051560"/>
            <a:ext cx="265176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37560" y="1188720"/>
            <a:ext cx="2377440" cy="548640"/>
          </a:xfrm>
          <a:prstGeom prst="rect">
            <a:avLst/>
          </a:prstGeom>
          <a:noFill/>
        </p:spPr>
        <p:txBody>
          <a:bodyPr wrap="square">
            <a:spAutoFit/>
          </a:bodyPr>
          <a:lstStyle/>
          <a:p>
            <a:pPr algn="ctr"/>
            <a:r>
              <a:rPr sz="2800" b="1" i="0">
                <a:solidFill>
                  <a:srgbClr val="059669"/>
                </a:solidFill>
              </a:rPr>
              <a:t>216</a:t>
            </a:r>
          </a:p>
        </p:txBody>
      </p:sp>
      <p:sp>
        <p:nvSpPr>
          <p:cNvPr id="16" name="TextBox 15"/>
          <p:cNvSpPr txBox="1"/>
          <p:nvPr/>
        </p:nvSpPr>
        <p:spPr>
          <a:xfrm>
            <a:off x="3291840" y="1709928"/>
            <a:ext cx="2468880" cy="274320"/>
          </a:xfrm>
          <a:prstGeom prst="rect">
            <a:avLst/>
          </a:prstGeom>
          <a:noFill/>
        </p:spPr>
        <p:txBody>
          <a:bodyPr wrap="square">
            <a:spAutoFit/>
          </a:bodyPr>
          <a:lstStyle/>
          <a:p>
            <a:pPr algn="ctr"/>
            <a:r>
              <a:rPr sz="1000" b="1" i="0">
                <a:solidFill>
                  <a:srgbClr val="FFFFFF"/>
                </a:solidFill>
              </a:rPr>
              <a:t>Total Passed</a:t>
            </a:r>
          </a:p>
        </p:txBody>
      </p:sp>
      <p:sp>
        <p:nvSpPr>
          <p:cNvPr id="17" name="Rounded Rectangle 16"/>
          <p:cNvSpPr/>
          <p:nvPr/>
        </p:nvSpPr>
        <p:spPr>
          <a:xfrm>
            <a:off x="6126480" y="1051560"/>
            <a:ext cx="265176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26480" y="1051560"/>
            <a:ext cx="265176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1188720"/>
            <a:ext cx="2377440" cy="548640"/>
          </a:xfrm>
          <a:prstGeom prst="rect">
            <a:avLst/>
          </a:prstGeom>
          <a:noFill/>
        </p:spPr>
        <p:txBody>
          <a:bodyPr wrap="square">
            <a:spAutoFit/>
          </a:bodyPr>
          <a:lstStyle/>
          <a:p>
            <a:pPr algn="ctr"/>
            <a:r>
              <a:rPr sz="2800" b="1" i="0">
                <a:solidFill>
                  <a:srgbClr val="EA580C"/>
                </a:solidFill>
              </a:rPr>
              <a:t>0</a:t>
            </a:r>
          </a:p>
        </p:txBody>
      </p:sp>
      <p:sp>
        <p:nvSpPr>
          <p:cNvPr id="20" name="TextBox 19"/>
          <p:cNvSpPr txBox="1"/>
          <p:nvPr/>
        </p:nvSpPr>
        <p:spPr>
          <a:xfrm>
            <a:off x="6217920" y="1709928"/>
            <a:ext cx="2468880" cy="274320"/>
          </a:xfrm>
          <a:prstGeom prst="rect">
            <a:avLst/>
          </a:prstGeom>
          <a:noFill/>
        </p:spPr>
        <p:txBody>
          <a:bodyPr wrap="square">
            <a:spAutoFit/>
          </a:bodyPr>
          <a:lstStyle/>
          <a:p>
            <a:pPr algn="ctr"/>
            <a:r>
              <a:rPr sz="1000" b="1" i="0">
                <a:solidFill>
                  <a:srgbClr val="FFFFFF"/>
                </a:solidFill>
              </a:rPr>
              <a:t>Total Failed</a:t>
            </a:r>
          </a:p>
        </p:txBody>
      </p:sp>
      <p:sp>
        <p:nvSpPr>
          <p:cNvPr id="21" name="Rounded Rectangle 20"/>
          <p:cNvSpPr/>
          <p:nvPr/>
        </p:nvSpPr>
        <p:spPr>
          <a:xfrm>
            <a:off x="9052560" y="1051560"/>
            <a:ext cx="2651760" cy="1188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52560" y="1051560"/>
            <a:ext cx="265176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89720" y="1188720"/>
            <a:ext cx="2377440" cy="548640"/>
          </a:xfrm>
          <a:prstGeom prst="rect">
            <a:avLst/>
          </a:prstGeom>
          <a:noFill/>
        </p:spPr>
        <p:txBody>
          <a:bodyPr wrap="square">
            <a:spAutoFit/>
          </a:bodyPr>
          <a:lstStyle/>
          <a:p>
            <a:pPr algn="ctr"/>
            <a:r>
              <a:rPr sz="2800" b="1" i="0">
                <a:solidFill>
                  <a:srgbClr val="06B6D4"/>
                </a:solidFill>
              </a:rPr>
              <a:t>100%</a:t>
            </a:r>
          </a:p>
        </p:txBody>
      </p:sp>
      <p:sp>
        <p:nvSpPr>
          <p:cNvPr id="24" name="TextBox 23"/>
          <p:cNvSpPr txBox="1"/>
          <p:nvPr/>
        </p:nvSpPr>
        <p:spPr>
          <a:xfrm>
            <a:off x="9144000" y="1709928"/>
            <a:ext cx="2468880" cy="274320"/>
          </a:xfrm>
          <a:prstGeom prst="rect">
            <a:avLst/>
          </a:prstGeom>
          <a:noFill/>
        </p:spPr>
        <p:txBody>
          <a:bodyPr wrap="square">
            <a:spAutoFit/>
          </a:bodyPr>
          <a:lstStyle/>
          <a:p>
            <a:pPr algn="ctr"/>
            <a:r>
              <a:rPr sz="1000" b="1" i="0">
                <a:solidFill>
                  <a:srgbClr val="FFFFFF"/>
                </a:solidFill>
              </a:rPr>
              <a:t>Overall Pass Rate</a:t>
            </a:r>
          </a:p>
        </p:txBody>
      </p:sp>
      <p:sp>
        <p:nvSpPr>
          <p:cNvPr id="25" name="Rounded Rectangle 24"/>
          <p:cNvSpPr/>
          <p:nvPr/>
        </p:nvSpPr>
        <p:spPr>
          <a:xfrm>
            <a:off x="274320" y="2423160"/>
            <a:ext cx="11612880" cy="749808"/>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74320" y="2423160"/>
            <a:ext cx="109728" cy="7498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5488" y="2514600"/>
            <a:ext cx="2926080" cy="320040"/>
          </a:xfrm>
          <a:prstGeom prst="rect">
            <a:avLst/>
          </a:prstGeom>
          <a:noFill/>
        </p:spPr>
        <p:txBody>
          <a:bodyPr wrap="square">
            <a:spAutoFit/>
          </a:bodyPr>
          <a:lstStyle/>
          <a:p>
            <a:pPr algn="l"/>
            <a:r>
              <a:rPr sz="1200" b="1" i="0">
                <a:solidFill>
                  <a:srgbClr val="FFFFFF"/>
                </a:solidFill>
              </a:rPr>
              <a:t>Functional Testing</a:t>
            </a:r>
          </a:p>
        </p:txBody>
      </p:sp>
      <p:sp>
        <p:nvSpPr>
          <p:cNvPr id="28" name="TextBox 27"/>
          <p:cNvSpPr txBox="1"/>
          <p:nvPr/>
        </p:nvSpPr>
        <p:spPr>
          <a:xfrm>
            <a:off x="475488" y="2843784"/>
            <a:ext cx="3657600" cy="274320"/>
          </a:xfrm>
          <a:prstGeom prst="rect">
            <a:avLst/>
          </a:prstGeom>
          <a:noFill/>
        </p:spPr>
        <p:txBody>
          <a:bodyPr wrap="square">
            <a:spAutoFit/>
          </a:bodyPr>
          <a:lstStyle/>
          <a:p>
            <a:pPr algn="l"/>
            <a:r>
              <a:rPr sz="850" b="0" i="0">
                <a:solidFill>
                  <a:srgbClr val="94A3B8"/>
                </a:solidFill>
              </a:rPr>
              <a:t>Validator · Scorer · API · Storage · UI · Mailer</a:t>
            </a:r>
          </a:p>
        </p:txBody>
      </p:sp>
      <p:sp>
        <p:nvSpPr>
          <p:cNvPr id="29" name="Rounded Rectangle 28"/>
          <p:cNvSpPr/>
          <p:nvPr/>
        </p:nvSpPr>
        <p:spPr>
          <a:xfrm>
            <a:off x="4572000" y="253288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617720" y="2532888"/>
            <a:ext cx="1508760" cy="347472"/>
          </a:xfrm>
          <a:prstGeom prst="rect">
            <a:avLst/>
          </a:prstGeom>
          <a:noFill/>
        </p:spPr>
        <p:txBody>
          <a:bodyPr wrap="square">
            <a:spAutoFit/>
          </a:bodyPr>
          <a:lstStyle/>
          <a:p>
            <a:pPr algn="ctr"/>
            <a:r>
              <a:rPr sz="1400" b="1" i="0">
                <a:solidFill>
                  <a:srgbClr val="2563EB"/>
                </a:solidFill>
              </a:rPr>
              <a:t>24</a:t>
            </a:r>
          </a:p>
        </p:txBody>
      </p:sp>
      <p:sp>
        <p:nvSpPr>
          <p:cNvPr id="31" name="TextBox 30"/>
          <p:cNvSpPr txBox="1"/>
          <p:nvPr/>
        </p:nvSpPr>
        <p:spPr>
          <a:xfrm>
            <a:off x="4617720" y="2862072"/>
            <a:ext cx="1508760" cy="182880"/>
          </a:xfrm>
          <a:prstGeom prst="rect">
            <a:avLst/>
          </a:prstGeom>
          <a:noFill/>
        </p:spPr>
        <p:txBody>
          <a:bodyPr wrap="square">
            <a:spAutoFit/>
          </a:bodyPr>
          <a:lstStyle/>
          <a:p>
            <a:pPr algn="ctr"/>
            <a:r>
              <a:rPr sz="700" b="0" i="0">
                <a:solidFill>
                  <a:srgbClr val="475569"/>
                </a:solidFill>
              </a:rPr>
              <a:t>Cases</a:t>
            </a:r>
          </a:p>
        </p:txBody>
      </p:sp>
      <p:sp>
        <p:nvSpPr>
          <p:cNvPr id="32" name="Rounded Rectangle 31"/>
          <p:cNvSpPr/>
          <p:nvPr/>
        </p:nvSpPr>
        <p:spPr>
          <a:xfrm>
            <a:off x="6355080" y="253288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0" y="2532888"/>
            <a:ext cx="1508760" cy="347472"/>
          </a:xfrm>
          <a:prstGeom prst="rect">
            <a:avLst/>
          </a:prstGeom>
          <a:noFill/>
        </p:spPr>
        <p:txBody>
          <a:bodyPr wrap="square">
            <a:spAutoFit/>
          </a:bodyPr>
          <a:lstStyle/>
          <a:p>
            <a:pPr algn="ctr"/>
            <a:r>
              <a:rPr sz="1400" b="1" i="0">
                <a:solidFill>
                  <a:srgbClr val="059669"/>
                </a:solidFill>
              </a:rPr>
              <a:t>24</a:t>
            </a:r>
          </a:p>
        </p:txBody>
      </p:sp>
      <p:sp>
        <p:nvSpPr>
          <p:cNvPr id="34" name="TextBox 33"/>
          <p:cNvSpPr txBox="1"/>
          <p:nvPr/>
        </p:nvSpPr>
        <p:spPr>
          <a:xfrm>
            <a:off x="6400800" y="2862072"/>
            <a:ext cx="1508760" cy="182880"/>
          </a:xfrm>
          <a:prstGeom prst="rect">
            <a:avLst/>
          </a:prstGeom>
          <a:noFill/>
        </p:spPr>
        <p:txBody>
          <a:bodyPr wrap="square">
            <a:spAutoFit/>
          </a:bodyPr>
          <a:lstStyle/>
          <a:p>
            <a:pPr algn="ctr"/>
            <a:r>
              <a:rPr sz="700" b="0" i="0">
                <a:solidFill>
                  <a:srgbClr val="475569"/>
                </a:solidFill>
              </a:rPr>
              <a:t>Passed</a:t>
            </a:r>
          </a:p>
        </p:txBody>
      </p:sp>
      <p:sp>
        <p:nvSpPr>
          <p:cNvPr id="35" name="Rounded Rectangle 34"/>
          <p:cNvSpPr/>
          <p:nvPr/>
        </p:nvSpPr>
        <p:spPr>
          <a:xfrm>
            <a:off x="8138160" y="253288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183880" y="2532888"/>
            <a:ext cx="1508760" cy="347472"/>
          </a:xfrm>
          <a:prstGeom prst="rect">
            <a:avLst/>
          </a:prstGeom>
          <a:noFill/>
        </p:spPr>
        <p:txBody>
          <a:bodyPr wrap="square">
            <a:spAutoFit/>
          </a:bodyPr>
          <a:lstStyle/>
          <a:p>
            <a:pPr algn="ctr"/>
            <a:r>
              <a:rPr sz="1400" b="1" i="0">
                <a:solidFill>
                  <a:srgbClr val="DC2626"/>
                </a:solidFill>
              </a:rPr>
              <a:t>0</a:t>
            </a:r>
          </a:p>
        </p:txBody>
      </p:sp>
      <p:sp>
        <p:nvSpPr>
          <p:cNvPr id="37" name="TextBox 36"/>
          <p:cNvSpPr txBox="1"/>
          <p:nvPr/>
        </p:nvSpPr>
        <p:spPr>
          <a:xfrm>
            <a:off x="8183880" y="2862072"/>
            <a:ext cx="1508760" cy="182880"/>
          </a:xfrm>
          <a:prstGeom prst="rect">
            <a:avLst/>
          </a:prstGeom>
          <a:noFill/>
        </p:spPr>
        <p:txBody>
          <a:bodyPr wrap="square">
            <a:spAutoFit/>
          </a:bodyPr>
          <a:lstStyle/>
          <a:p>
            <a:pPr algn="ctr"/>
            <a:r>
              <a:rPr sz="700" b="0" i="0">
                <a:solidFill>
                  <a:srgbClr val="475569"/>
                </a:solidFill>
              </a:rPr>
              <a:t>Failed</a:t>
            </a:r>
          </a:p>
        </p:txBody>
      </p:sp>
      <p:sp>
        <p:nvSpPr>
          <p:cNvPr id="38" name="Rounded Rectangle 37"/>
          <p:cNvSpPr/>
          <p:nvPr/>
        </p:nvSpPr>
        <p:spPr>
          <a:xfrm>
            <a:off x="9921240" y="253288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966960" y="2532888"/>
            <a:ext cx="1508760" cy="347472"/>
          </a:xfrm>
          <a:prstGeom prst="rect">
            <a:avLst/>
          </a:prstGeom>
          <a:noFill/>
        </p:spPr>
        <p:txBody>
          <a:bodyPr wrap="square">
            <a:spAutoFit/>
          </a:bodyPr>
          <a:lstStyle/>
          <a:p>
            <a:pPr algn="ctr"/>
            <a:r>
              <a:rPr sz="1400" b="1" i="0">
                <a:solidFill>
                  <a:srgbClr val="059669"/>
                </a:solidFill>
              </a:rPr>
              <a:t>100%</a:t>
            </a:r>
          </a:p>
        </p:txBody>
      </p:sp>
      <p:sp>
        <p:nvSpPr>
          <p:cNvPr id="40" name="TextBox 39"/>
          <p:cNvSpPr txBox="1"/>
          <p:nvPr/>
        </p:nvSpPr>
        <p:spPr>
          <a:xfrm>
            <a:off x="9966960" y="2862072"/>
            <a:ext cx="1508760" cy="182880"/>
          </a:xfrm>
          <a:prstGeom prst="rect">
            <a:avLst/>
          </a:prstGeom>
          <a:noFill/>
        </p:spPr>
        <p:txBody>
          <a:bodyPr wrap="square">
            <a:spAutoFit/>
          </a:bodyPr>
          <a:lstStyle/>
          <a:p>
            <a:pPr algn="ctr"/>
            <a:r>
              <a:rPr sz="700" b="0" i="0">
                <a:solidFill>
                  <a:srgbClr val="475569"/>
                </a:solidFill>
              </a:rPr>
              <a:t>Rate</a:t>
            </a:r>
          </a:p>
        </p:txBody>
      </p:sp>
      <p:sp>
        <p:nvSpPr>
          <p:cNvPr id="41" name="Rounded Rectangle 40"/>
          <p:cNvSpPr/>
          <p:nvPr/>
        </p:nvSpPr>
        <p:spPr>
          <a:xfrm>
            <a:off x="11109960" y="2606040"/>
            <a:ext cx="685800" cy="36576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1109960" y="2624328"/>
            <a:ext cx="685800" cy="329184"/>
          </a:xfrm>
          <a:prstGeom prst="rect">
            <a:avLst/>
          </a:prstGeom>
          <a:noFill/>
        </p:spPr>
        <p:txBody>
          <a:bodyPr wrap="square">
            <a:spAutoFit/>
          </a:bodyPr>
          <a:lstStyle/>
          <a:p>
            <a:pPr algn="ctr"/>
            <a:r>
              <a:rPr sz="1000" b="1" i="0">
                <a:solidFill>
                  <a:srgbClr val="FFFFFF"/>
                </a:solidFill>
              </a:rPr>
              <a:t>PASS</a:t>
            </a:r>
          </a:p>
        </p:txBody>
      </p:sp>
      <p:sp>
        <p:nvSpPr>
          <p:cNvPr id="43" name="Rounded Rectangle 42"/>
          <p:cNvSpPr/>
          <p:nvPr/>
        </p:nvSpPr>
        <p:spPr>
          <a:xfrm>
            <a:off x="274320" y="3246120"/>
            <a:ext cx="11612880" cy="749808"/>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274320" y="3246120"/>
            <a:ext cx="109728" cy="7498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75488" y="3337560"/>
            <a:ext cx="2926080" cy="320040"/>
          </a:xfrm>
          <a:prstGeom prst="rect">
            <a:avLst/>
          </a:prstGeom>
          <a:noFill/>
        </p:spPr>
        <p:txBody>
          <a:bodyPr wrap="square">
            <a:spAutoFit/>
          </a:bodyPr>
          <a:lstStyle/>
          <a:p>
            <a:pPr algn="l"/>
            <a:r>
              <a:rPr sz="1200" b="1" i="0">
                <a:solidFill>
                  <a:srgbClr val="FFFFFF"/>
                </a:solidFill>
              </a:rPr>
              <a:t>Integration Testing</a:t>
            </a:r>
          </a:p>
        </p:txBody>
      </p:sp>
      <p:sp>
        <p:nvSpPr>
          <p:cNvPr id="46" name="TextBox 45"/>
          <p:cNvSpPr txBox="1"/>
          <p:nvPr/>
        </p:nvSpPr>
        <p:spPr>
          <a:xfrm>
            <a:off x="475488" y="3666744"/>
            <a:ext cx="3657600" cy="274320"/>
          </a:xfrm>
          <a:prstGeom prst="rect">
            <a:avLst/>
          </a:prstGeom>
          <a:noFill/>
        </p:spPr>
        <p:txBody>
          <a:bodyPr wrap="square">
            <a:spAutoFit/>
          </a:bodyPr>
          <a:lstStyle/>
          <a:p>
            <a:pPr algn="l"/>
            <a:r>
              <a:rPr sz="850" b="0" i="0">
                <a:solidFill>
                  <a:srgbClr val="94A3B8"/>
                </a:solidFill>
              </a:rPr>
              <a:t>8 module boundaries · All pipeline connections</a:t>
            </a:r>
          </a:p>
        </p:txBody>
      </p:sp>
      <p:sp>
        <p:nvSpPr>
          <p:cNvPr id="47" name="Rounded Rectangle 46"/>
          <p:cNvSpPr/>
          <p:nvPr/>
        </p:nvSpPr>
        <p:spPr>
          <a:xfrm>
            <a:off x="4572000" y="335584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617720" y="3355848"/>
            <a:ext cx="1508760" cy="347472"/>
          </a:xfrm>
          <a:prstGeom prst="rect">
            <a:avLst/>
          </a:prstGeom>
          <a:noFill/>
        </p:spPr>
        <p:txBody>
          <a:bodyPr wrap="square">
            <a:spAutoFit/>
          </a:bodyPr>
          <a:lstStyle/>
          <a:p>
            <a:pPr algn="ctr"/>
            <a:r>
              <a:rPr sz="1400" b="1" i="0">
                <a:solidFill>
                  <a:srgbClr val="2563EB"/>
                </a:solidFill>
              </a:rPr>
              <a:t>37</a:t>
            </a:r>
          </a:p>
        </p:txBody>
      </p:sp>
      <p:sp>
        <p:nvSpPr>
          <p:cNvPr id="49" name="TextBox 48"/>
          <p:cNvSpPr txBox="1"/>
          <p:nvPr/>
        </p:nvSpPr>
        <p:spPr>
          <a:xfrm>
            <a:off x="4617720" y="3685032"/>
            <a:ext cx="1508760" cy="182880"/>
          </a:xfrm>
          <a:prstGeom prst="rect">
            <a:avLst/>
          </a:prstGeom>
          <a:noFill/>
        </p:spPr>
        <p:txBody>
          <a:bodyPr wrap="square">
            <a:spAutoFit/>
          </a:bodyPr>
          <a:lstStyle/>
          <a:p>
            <a:pPr algn="ctr"/>
            <a:r>
              <a:rPr sz="700" b="0" i="0">
                <a:solidFill>
                  <a:srgbClr val="475569"/>
                </a:solidFill>
              </a:rPr>
              <a:t>Cases</a:t>
            </a:r>
          </a:p>
        </p:txBody>
      </p:sp>
      <p:sp>
        <p:nvSpPr>
          <p:cNvPr id="50" name="Rounded Rectangle 49"/>
          <p:cNvSpPr/>
          <p:nvPr/>
        </p:nvSpPr>
        <p:spPr>
          <a:xfrm>
            <a:off x="6355080" y="335584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00800" y="3355848"/>
            <a:ext cx="1508760" cy="347472"/>
          </a:xfrm>
          <a:prstGeom prst="rect">
            <a:avLst/>
          </a:prstGeom>
          <a:noFill/>
        </p:spPr>
        <p:txBody>
          <a:bodyPr wrap="square">
            <a:spAutoFit/>
          </a:bodyPr>
          <a:lstStyle/>
          <a:p>
            <a:pPr algn="ctr"/>
            <a:r>
              <a:rPr sz="1400" b="1" i="0">
                <a:solidFill>
                  <a:srgbClr val="059669"/>
                </a:solidFill>
              </a:rPr>
              <a:t>37</a:t>
            </a:r>
          </a:p>
        </p:txBody>
      </p:sp>
      <p:sp>
        <p:nvSpPr>
          <p:cNvPr id="52" name="TextBox 51"/>
          <p:cNvSpPr txBox="1"/>
          <p:nvPr/>
        </p:nvSpPr>
        <p:spPr>
          <a:xfrm>
            <a:off x="6400800" y="3685032"/>
            <a:ext cx="1508760" cy="182880"/>
          </a:xfrm>
          <a:prstGeom prst="rect">
            <a:avLst/>
          </a:prstGeom>
          <a:noFill/>
        </p:spPr>
        <p:txBody>
          <a:bodyPr wrap="square">
            <a:spAutoFit/>
          </a:bodyPr>
          <a:lstStyle/>
          <a:p>
            <a:pPr algn="ctr"/>
            <a:r>
              <a:rPr sz="700" b="0" i="0">
                <a:solidFill>
                  <a:srgbClr val="475569"/>
                </a:solidFill>
              </a:rPr>
              <a:t>Passed</a:t>
            </a:r>
          </a:p>
        </p:txBody>
      </p:sp>
      <p:sp>
        <p:nvSpPr>
          <p:cNvPr id="53" name="Rounded Rectangle 52"/>
          <p:cNvSpPr/>
          <p:nvPr/>
        </p:nvSpPr>
        <p:spPr>
          <a:xfrm>
            <a:off x="8138160" y="335584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183880" y="3355848"/>
            <a:ext cx="1508760" cy="347472"/>
          </a:xfrm>
          <a:prstGeom prst="rect">
            <a:avLst/>
          </a:prstGeom>
          <a:noFill/>
        </p:spPr>
        <p:txBody>
          <a:bodyPr wrap="square">
            <a:spAutoFit/>
          </a:bodyPr>
          <a:lstStyle/>
          <a:p>
            <a:pPr algn="ctr"/>
            <a:r>
              <a:rPr sz="1400" b="1" i="0">
                <a:solidFill>
                  <a:srgbClr val="DC2626"/>
                </a:solidFill>
              </a:rPr>
              <a:t>0</a:t>
            </a:r>
          </a:p>
        </p:txBody>
      </p:sp>
      <p:sp>
        <p:nvSpPr>
          <p:cNvPr id="55" name="TextBox 54"/>
          <p:cNvSpPr txBox="1"/>
          <p:nvPr/>
        </p:nvSpPr>
        <p:spPr>
          <a:xfrm>
            <a:off x="8183880" y="3685032"/>
            <a:ext cx="1508760" cy="182880"/>
          </a:xfrm>
          <a:prstGeom prst="rect">
            <a:avLst/>
          </a:prstGeom>
          <a:noFill/>
        </p:spPr>
        <p:txBody>
          <a:bodyPr wrap="square">
            <a:spAutoFit/>
          </a:bodyPr>
          <a:lstStyle/>
          <a:p>
            <a:pPr algn="ctr"/>
            <a:r>
              <a:rPr sz="700" b="0" i="0">
                <a:solidFill>
                  <a:srgbClr val="475569"/>
                </a:solidFill>
              </a:rPr>
              <a:t>Failed</a:t>
            </a:r>
          </a:p>
        </p:txBody>
      </p:sp>
      <p:sp>
        <p:nvSpPr>
          <p:cNvPr id="56" name="Rounded Rectangle 55"/>
          <p:cNvSpPr/>
          <p:nvPr/>
        </p:nvSpPr>
        <p:spPr>
          <a:xfrm>
            <a:off x="9921240" y="335584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966960" y="3355848"/>
            <a:ext cx="1508760" cy="347472"/>
          </a:xfrm>
          <a:prstGeom prst="rect">
            <a:avLst/>
          </a:prstGeom>
          <a:noFill/>
        </p:spPr>
        <p:txBody>
          <a:bodyPr wrap="square">
            <a:spAutoFit/>
          </a:bodyPr>
          <a:lstStyle/>
          <a:p>
            <a:pPr algn="ctr"/>
            <a:r>
              <a:rPr sz="1400" b="1" i="0">
                <a:solidFill>
                  <a:srgbClr val="2563EB"/>
                </a:solidFill>
              </a:rPr>
              <a:t>100%</a:t>
            </a:r>
          </a:p>
        </p:txBody>
      </p:sp>
      <p:sp>
        <p:nvSpPr>
          <p:cNvPr id="58" name="TextBox 57"/>
          <p:cNvSpPr txBox="1"/>
          <p:nvPr/>
        </p:nvSpPr>
        <p:spPr>
          <a:xfrm>
            <a:off x="9966960" y="3685032"/>
            <a:ext cx="1508760" cy="182880"/>
          </a:xfrm>
          <a:prstGeom prst="rect">
            <a:avLst/>
          </a:prstGeom>
          <a:noFill/>
        </p:spPr>
        <p:txBody>
          <a:bodyPr wrap="square">
            <a:spAutoFit/>
          </a:bodyPr>
          <a:lstStyle/>
          <a:p>
            <a:pPr algn="ctr"/>
            <a:r>
              <a:rPr sz="700" b="0" i="0">
                <a:solidFill>
                  <a:srgbClr val="475569"/>
                </a:solidFill>
              </a:rPr>
              <a:t>Rate</a:t>
            </a:r>
          </a:p>
        </p:txBody>
      </p:sp>
      <p:sp>
        <p:nvSpPr>
          <p:cNvPr id="59" name="Rounded Rectangle 58"/>
          <p:cNvSpPr/>
          <p:nvPr/>
        </p:nvSpPr>
        <p:spPr>
          <a:xfrm>
            <a:off x="11109960" y="3429000"/>
            <a:ext cx="685800" cy="36576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1109960" y="3447288"/>
            <a:ext cx="685800" cy="329184"/>
          </a:xfrm>
          <a:prstGeom prst="rect">
            <a:avLst/>
          </a:prstGeom>
          <a:noFill/>
        </p:spPr>
        <p:txBody>
          <a:bodyPr wrap="square">
            <a:spAutoFit/>
          </a:bodyPr>
          <a:lstStyle/>
          <a:p>
            <a:pPr algn="ctr"/>
            <a:r>
              <a:rPr sz="1000" b="1" i="0">
                <a:solidFill>
                  <a:srgbClr val="FFFFFF"/>
                </a:solidFill>
              </a:rPr>
              <a:t>PASS</a:t>
            </a:r>
          </a:p>
        </p:txBody>
      </p:sp>
      <p:sp>
        <p:nvSpPr>
          <p:cNvPr id="61" name="Rounded Rectangle 60"/>
          <p:cNvSpPr/>
          <p:nvPr/>
        </p:nvSpPr>
        <p:spPr>
          <a:xfrm>
            <a:off x="274320" y="4069080"/>
            <a:ext cx="11612880" cy="749808"/>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274320" y="4069080"/>
            <a:ext cx="109728" cy="7498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75488" y="4160520"/>
            <a:ext cx="2926080" cy="320040"/>
          </a:xfrm>
          <a:prstGeom prst="rect">
            <a:avLst/>
          </a:prstGeom>
          <a:noFill/>
        </p:spPr>
        <p:txBody>
          <a:bodyPr wrap="square">
            <a:spAutoFit/>
          </a:bodyPr>
          <a:lstStyle/>
          <a:p>
            <a:pPr algn="l"/>
            <a:r>
              <a:rPr sz="1200" b="1" i="0">
                <a:solidFill>
                  <a:srgbClr val="FFFFFF"/>
                </a:solidFill>
              </a:rPr>
              <a:t>System Testing</a:t>
            </a:r>
          </a:p>
        </p:txBody>
      </p:sp>
      <p:sp>
        <p:nvSpPr>
          <p:cNvPr id="64" name="TextBox 63"/>
          <p:cNvSpPr txBox="1"/>
          <p:nvPr/>
        </p:nvSpPr>
        <p:spPr>
          <a:xfrm>
            <a:off x="475488" y="4489704"/>
            <a:ext cx="3657600" cy="274320"/>
          </a:xfrm>
          <a:prstGeom prst="rect">
            <a:avLst/>
          </a:prstGeom>
          <a:noFill/>
        </p:spPr>
        <p:txBody>
          <a:bodyPr wrap="square">
            <a:spAutoFit/>
          </a:bodyPr>
          <a:lstStyle/>
          <a:p>
            <a:pPr algn="l"/>
            <a:r>
              <a:rPr sz="850" b="0" i="0">
                <a:solidFill>
                  <a:srgbClr val="94A3B8"/>
                </a:solidFill>
              </a:rPr>
              <a:t>Auth · E2E · API · Performance · Security · Compat</a:t>
            </a:r>
          </a:p>
        </p:txBody>
      </p:sp>
      <p:sp>
        <p:nvSpPr>
          <p:cNvPr id="65" name="Rounded Rectangle 64"/>
          <p:cNvSpPr/>
          <p:nvPr/>
        </p:nvSpPr>
        <p:spPr>
          <a:xfrm>
            <a:off x="4572000" y="417880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617720" y="4178808"/>
            <a:ext cx="1508760" cy="347472"/>
          </a:xfrm>
          <a:prstGeom prst="rect">
            <a:avLst/>
          </a:prstGeom>
          <a:noFill/>
        </p:spPr>
        <p:txBody>
          <a:bodyPr wrap="square">
            <a:spAutoFit/>
          </a:bodyPr>
          <a:lstStyle/>
          <a:p>
            <a:pPr algn="ctr"/>
            <a:r>
              <a:rPr sz="1400" b="1" i="0">
                <a:solidFill>
                  <a:srgbClr val="2563EB"/>
                </a:solidFill>
              </a:rPr>
              <a:t>55</a:t>
            </a:r>
          </a:p>
        </p:txBody>
      </p:sp>
      <p:sp>
        <p:nvSpPr>
          <p:cNvPr id="67" name="TextBox 66"/>
          <p:cNvSpPr txBox="1"/>
          <p:nvPr/>
        </p:nvSpPr>
        <p:spPr>
          <a:xfrm>
            <a:off x="4617720" y="4507992"/>
            <a:ext cx="1508760" cy="182880"/>
          </a:xfrm>
          <a:prstGeom prst="rect">
            <a:avLst/>
          </a:prstGeom>
          <a:noFill/>
        </p:spPr>
        <p:txBody>
          <a:bodyPr wrap="square">
            <a:spAutoFit/>
          </a:bodyPr>
          <a:lstStyle/>
          <a:p>
            <a:pPr algn="ctr"/>
            <a:r>
              <a:rPr sz="700" b="0" i="0">
                <a:solidFill>
                  <a:srgbClr val="475569"/>
                </a:solidFill>
              </a:rPr>
              <a:t>Cases</a:t>
            </a:r>
          </a:p>
        </p:txBody>
      </p:sp>
      <p:sp>
        <p:nvSpPr>
          <p:cNvPr id="68" name="Rounded Rectangle 67"/>
          <p:cNvSpPr/>
          <p:nvPr/>
        </p:nvSpPr>
        <p:spPr>
          <a:xfrm>
            <a:off x="6355080" y="417880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400800" y="4178808"/>
            <a:ext cx="1508760" cy="347472"/>
          </a:xfrm>
          <a:prstGeom prst="rect">
            <a:avLst/>
          </a:prstGeom>
          <a:noFill/>
        </p:spPr>
        <p:txBody>
          <a:bodyPr wrap="square">
            <a:spAutoFit/>
          </a:bodyPr>
          <a:lstStyle/>
          <a:p>
            <a:pPr algn="ctr"/>
            <a:r>
              <a:rPr sz="1400" b="1" i="0">
                <a:solidFill>
                  <a:srgbClr val="059669"/>
                </a:solidFill>
              </a:rPr>
              <a:t>55</a:t>
            </a:r>
          </a:p>
        </p:txBody>
      </p:sp>
      <p:sp>
        <p:nvSpPr>
          <p:cNvPr id="70" name="TextBox 69"/>
          <p:cNvSpPr txBox="1"/>
          <p:nvPr/>
        </p:nvSpPr>
        <p:spPr>
          <a:xfrm>
            <a:off x="6400800" y="4507992"/>
            <a:ext cx="1508760" cy="182880"/>
          </a:xfrm>
          <a:prstGeom prst="rect">
            <a:avLst/>
          </a:prstGeom>
          <a:noFill/>
        </p:spPr>
        <p:txBody>
          <a:bodyPr wrap="square">
            <a:spAutoFit/>
          </a:bodyPr>
          <a:lstStyle/>
          <a:p>
            <a:pPr algn="ctr"/>
            <a:r>
              <a:rPr sz="700" b="0" i="0">
                <a:solidFill>
                  <a:srgbClr val="475569"/>
                </a:solidFill>
              </a:rPr>
              <a:t>Passed</a:t>
            </a:r>
          </a:p>
        </p:txBody>
      </p:sp>
      <p:sp>
        <p:nvSpPr>
          <p:cNvPr id="71" name="Rounded Rectangle 70"/>
          <p:cNvSpPr/>
          <p:nvPr/>
        </p:nvSpPr>
        <p:spPr>
          <a:xfrm>
            <a:off x="8138160" y="417880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183880" y="4178808"/>
            <a:ext cx="1508760" cy="347472"/>
          </a:xfrm>
          <a:prstGeom prst="rect">
            <a:avLst/>
          </a:prstGeom>
          <a:noFill/>
        </p:spPr>
        <p:txBody>
          <a:bodyPr wrap="square">
            <a:spAutoFit/>
          </a:bodyPr>
          <a:lstStyle/>
          <a:p>
            <a:pPr algn="ctr"/>
            <a:r>
              <a:rPr sz="1400" b="1" i="0">
                <a:solidFill>
                  <a:srgbClr val="DC2626"/>
                </a:solidFill>
              </a:rPr>
              <a:t>0</a:t>
            </a:r>
          </a:p>
        </p:txBody>
      </p:sp>
      <p:sp>
        <p:nvSpPr>
          <p:cNvPr id="73" name="TextBox 72"/>
          <p:cNvSpPr txBox="1"/>
          <p:nvPr/>
        </p:nvSpPr>
        <p:spPr>
          <a:xfrm>
            <a:off x="8183880" y="4507992"/>
            <a:ext cx="1508760" cy="182880"/>
          </a:xfrm>
          <a:prstGeom prst="rect">
            <a:avLst/>
          </a:prstGeom>
          <a:noFill/>
        </p:spPr>
        <p:txBody>
          <a:bodyPr wrap="square">
            <a:spAutoFit/>
          </a:bodyPr>
          <a:lstStyle/>
          <a:p>
            <a:pPr algn="ctr"/>
            <a:r>
              <a:rPr sz="700" b="0" i="0">
                <a:solidFill>
                  <a:srgbClr val="475569"/>
                </a:solidFill>
              </a:rPr>
              <a:t>Failed</a:t>
            </a:r>
          </a:p>
        </p:txBody>
      </p:sp>
      <p:sp>
        <p:nvSpPr>
          <p:cNvPr id="74" name="Rounded Rectangle 73"/>
          <p:cNvSpPr/>
          <p:nvPr/>
        </p:nvSpPr>
        <p:spPr>
          <a:xfrm>
            <a:off x="9921240" y="417880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966960" y="4178808"/>
            <a:ext cx="1508760" cy="347472"/>
          </a:xfrm>
          <a:prstGeom prst="rect">
            <a:avLst/>
          </a:prstGeom>
          <a:noFill/>
        </p:spPr>
        <p:txBody>
          <a:bodyPr wrap="square">
            <a:spAutoFit/>
          </a:bodyPr>
          <a:lstStyle/>
          <a:p>
            <a:pPr algn="ctr"/>
            <a:r>
              <a:rPr sz="1400" b="1" i="0">
                <a:solidFill>
                  <a:srgbClr val="7C3AED"/>
                </a:solidFill>
              </a:rPr>
              <a:t>100%</a:t>
            </a:r>
          </a:p>
        </p:txBody>
      </p:sp>
      <p:sp>
        <p:nvSpPr>
          <p:cNvPr id="76" name="TextBox 75"/>
          <p:cNvSpPr txBox="1"/>
          <p:nvPr/>
        </p:nvSpPr>
        <p:spPr>
          <a:xfrm>
            <a:off x="9966960" y="4507992"/>
            <a:ext cx="1508760" cy="182880"/>
          </a:xfrm>
          <a:prstGeom prst="rect">
            <a:avLst/>
          </a:prstGeom>
          <a:noFill/>
        </p:spPr>
        <p:txBody>
          <a:bodyPr wrap="square">
            <a:spAutoFit/>
          </a:bodyPr>
          <a:lstStyle/>
          <a:p>
            <a:pPr algn="ctr"/>
            <a:r>
              <a:rPr sz="700" b="0" i="0">
                <a:solidFill>
                  <a:srgbClr val="475569"/>
                </a:solidFill>
              </a:rPr>
              <a:t>Rate</a:t>
            </a:r>
          </a:p>
        </p:txBody>
      </p:sp>
      <p:sp>
        <p:nvSpPr>
          <p:cNvPr id="77" name="Rounded Rectangle 76"/>
          <p:cNvSpPr/>
          <p:nvPr/>
        </p:nvSpPr>
        <p:spPr>
          <a:xfrm>
            <a:off x="11109960" y="4251960"/>
            <a:ext cx="685800" cy="36576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11109960" y="4270248"/>
            <a:ext cx="685800" cy="329184"/>
          </a:xfrm>
          <a:prstGeom prst="rect">
            <a:avLst/>
          </a:prstGeom>
          <a:noFill/>
        </p:spPr>
        <p:txBody>
          <a:bodyPr wrap="square">
            <a:spAutoFit/>
          </a:bodyPr>
          <a:lstStyle/>
          <a:p>
            <a:pPr algn="ctr"/>
            <a:r>
              <a:rPr sz="1000" b="1" i="0">
                <a:solidFill>
                  <a:srgbClr val="FFFFFF"/>
                </a:solidFill>
              </a:rPr>
              <a:t>PASS</a:t>
            </a:r>
          </a:p>
        </p:txBody>
      </p:sp>
      <p:sp>
        <p:nvSpPr>
          <p:cNvPr id="79" name="Rounded Rectangle 78"/>
          <p:cNvSpPr/>
          <p:nvPr/>
        </p:nvSpPr>
        <p:spPr>
          <a:xfrm>
            <a:off x="274320" y="4892040"/>
            <a:ext cx="11612880" cy="749808"/>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274320" y="4892040"/>
            <a:ext cx="109728" cy="7498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475488" y="4983480"/>
            <a:ext cx="2926080" cy="320040"/>
          </a:xfrm>
          <a:prstGeom prst="rect">
            <a:avLst/>
          </a:prstGeom>
          <a:noFill/>
        </p:spPr>
        <p:txBody>
          <a:bodyPr wrap="square">
            <a:spAutoFit/>
          </a:bodyPr>
          <a:lstStyle/>
          <a:p>
            <a:pPr algn="l"/>
            <a:r>
              <a:rPr sz="1200" b="1" i="0">
                <a:solidFill>
                  <a:srgbClr val="FFFFFF"/>
                </a:solidFill>
              </a:rPr>
              <a:t>Regression Testing</a:t>
            </a:r>
          </a:p>
        </p:txBody>
      </p:sp>
      <p:sp>
        <p:nvSpPr>
          <p:cNvPr id="82" name="TextBox 81"/>
          <p:cNvSpPr txBox="1"/>
          <p:nvPr/>
        </p:nvSpPr>
        <p:spPr>
          <a:xfrm>
            <a:off x="475488" y="5312664"/>
            <a:ext cx="3657600" cy="274320"/>
          </a:xfrm>
          <a:prstGeom prst="rect">
            <a:avLst/>
          </a:prstGeom>
          <a:noFill/>
        </p:spPr>
        <p:txBody>
          <a:bodyPr wrap="square">
            <a:spAutoFit/>
          </a:bodyPr>
          <a:lstStyle/>
          <a:p>
            <a:pPr algn="l"/>
            <a:r>
              <a:rPr sz="850" b="0" i="0">
                <a:solidFill>
                  <a:srgbClr val="94A3B8"/>
                </a:solidFill>
              </a:rPr>
              <a:t>7 areas · 72 baseline cases · Change-trigger matrix</a:t>
            </a:r>
          </a:p>
        </p:txBody>
      </p:sp>
      <p:sp>
        <p:nvSpPr>
          <p:cNvPr id="83" name="Rounded Rectangle 82"/>
          <p:cNvSpPr/>
          <p:nvPr/>
        </p:nvSpPr>
        <p:spPr>
          <a:xfrm>
            <a:off x="4572000" y="500176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4617720" y="5001768"/>
            <a:ext cx="1508760" cy="347472"/>
          </a:xfrm>
          <a:prstGeom prst="rect">
            <a:avLst/>
          </a:prstGeom>
          <a:noFill/>
        </p:spPr>
        <p:txBody>
          <a:bodyPr wrap="square">
            <a:spAutoFit/>
          </a:bodyPr>
          <a:lstStyle/>
          <a:p>
            <a:pPr algn="ctr"/>
            <a:r>
              <a:rPr sz="1400" b="1" i="0">
                <a:solidFill>
                  <a:srgbClr val="2563EB"/>
                </a:solidFill>
              </a:rPr>
              <a:t>72</a:t>
            </a:r>
          </a:p>
        </p:txBody>
      </p:sp>
      <p:sp>
        <p:nvSpPr>
          <p:cNvPr id="85" name="TextBox 84"/>
          <p:cNvSpPr txBox="1"/>
          <p:nvPr/>
        </p:nvSpPr>
        <p:spPr>
          <a:xfrm>
            <a:off x="4617720" y="5330952"/>
            <a:ext cx="1508760" cy="182880"/>
          </a:xfrm>
          <a:prstGeom prst="rect">
            <a:avLst/>
          </a:prstGeom>
          <a:noFill/>
        </p:spPr>
        <p:txBody>
          <a:bodyPr wrap="square">
            <a:spAutoFit/>
          </a:bodyPr>
          <a:lstStyle/>
          <a:p>
            <a:pPr algn="ctr"/>
            <a:r>
              <a:rPr sz="700" b="0" i="0">
                <a:solidFill>
                  <a:srgbClr val="475569"/>
                </a:solidFill>
              </a:rPr>
              <a:t>Cases</a:t>
            </a:r>
          </a:p>
        </p:txBody>
      </p:sp>
      <p:sp>
        <p:nvSpPr>
          <p:cNvPr id="86" name="Rounded Rectangle 85"/>
          <p:cNvSpPr/>
          <p:nvPr/>
        </p:nvSpPr>
        <p:spPr>
          <a:xfrm>
            <a:off x="6355080" y="500176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400800" y="5001768"/>
            <a:ext cx="1508760" cy="347472"/>
          </a:xfrm>
          <a:prstGeom prst="rect">
            <a:avLst/>
          </a:prstGeom>
          <a:noFill/>
        </p:spPr>
        <p:txBody>
          <a:bodyPr wrap="square">
            <a:spAutoFit/>
          </a:bodyPr>
          <a:lstStyle/>
          <a:p>
            <a:pPr algn="ctr"/>
            <a:r>
              <a:rPr sz="1400" b="1" i="0">
                <a:solidFill>
                  <a:srgbClr val="059669"/>
                </a:solidFill>
              </a:rPr>
              <a:t>72</a:t>
            </a:r>
          </a:p>
        </p:txBody>
      </p:sp>
      <p:sp>
        <p:nvSpPr>
          <p:cNvPr id="88" name="TextBox 87"/>
          <p:cNvSpPr txBox="1"/>
          <p:nvPr/>
        </p:nvSpPr>
        <p:spPr>
          <a:xfrm>
            <a:off x="6400800" y="5330952"/>
            <a:ext cx="1508760" cy="182880"/>
          </a:xfrm>
          <a:prstGeom prst="rect">
            <a:avLst/>
          </a:prstGeom>
          <a:noFill/>
        </p:spPr>
        <p:txBody>
          <a:bodyPr wrap="square">
            <a:spAutoFit/>
          </a:bodyPr>
          <a:lstStyle/>
          <a:p>
            <a:pPr algn="ctr"/>
            <a:r>
              <a:rPr sz="700" b="0" i="0">
                <a:solidFill>
                  <a:srgbClr val="475569"/>
                </a:solidFill>
              </a:rPr>
              <a:t>Passed</a:t>
            </a:r>
          </a:p>
        </p:txBody>
      </p:sp>
      <p:sp>
        <p:nvSpPr>
          <p:cNvPr id="89" name="Rounded Rectangle 88"/>
          <p:cNvSpPr/>
          <p:nvPr/>
        </p:nvSpPr>
        <p:spPr>
          <a:xfrm>
            <a:off x="8138160" y="500176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8183880" y="5001768"/>
            <a:ext cx="1508760" cy="347472"/>
          </a:xfrm>
          <a:prstGeom prst="rect">
            <a:avLst/>
          </a:prstGeom>
          <a:noFill/>
        </p:spPr>
        <p:txBody>
          <a:bodyPr wrap="square">
            <a:spAutoFit/>
          </a:bodyPr>
          <a:lstStyle/>
          <a:p>
            <a:pPr algn="ctr"/>
            <a:r>
              <a:rPr sz="1400" b="1" i="0">
                <a:solidFill>
                  <a:srgbClr val="DC2626"/>
                </a:solidFill>
              </a:rPr>
              <a:t>0</a:t>
            </a:r>
          </a:p>
        </p:txBody>
      </p:sp>
      <p:sp>
        <p:nvSpPr>
          <p:cNvPr id="91" name="TextBox 90"/>
          <p:cNvSpPr txBox="1"/>
          <p:nvPr/>
        </p:nvSpPr>
        <p:spPr>
          <a:xfrm>
            <a:off x="8183880" y="5330952"/>
            <a:ext cx="1508760" cy="182880"/>
          </a:xfrm>
          <a:prstGeom prst="rect">
            <a:avLst/>
          </a:prstGeom>
          <a:noFill/>
        </p:spPr>
        <p:txBody>
          <a:bodyPr wrap="square">
            <a:spAutoFit/>
          </a:bodyPr>
          <a:lstStyle/>
          <a:p>
            <a:pPr algn="ctr"/>
            <a:r>
              <a:rPr sz="700" b="0" i="0">
                <a:solidFill>
                  <a:srgbClr val="475569"/>
                </a:solidFill>
              </a:rPr>
              <a:t>Failed</a:t>
            </a:r>
          </a:p>
        </p:txBody>
      </p:sp>
      <p:sp>
        <p:nvSpPr>
          <p:cNvPr id="92" name="Rounded Rectangle 91"/>
          <p:cNvSpPr/>
          <p:nvPr/>
        </p:nvSpPr>
        <p:spPr>
          <a:xfrm>
            <a:off x="9921240" y="500176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9966960" y="5001768"/>
            <a:ext cx="1508760" cy="347472"/>
          </a:xfrm>
          <a:prstGeom prst="rect">
            <a:avLst/>
          </a:prstGeom>
          <a:noFill/>
        </p:spPr>
        <p:txBody>
          <a:bodyPr wrap="square">
            <a:spAutoFit/>
          </a:bodyPr>
          <a:lstStyle/>
          <a:p>
            <a:pPr algn="ctr"/>
            <a:r>
              <a:rPr sz="1400" b="1" i="0">
                <a:solidFill>
                  <a:srgbClr val="06B6D4"/>
                </a:solidFill>
              </a:rPr>
              <a:t>100%</a:t>
            </a:r>
          </a:p>
        </p:txBody>
      </p:sp>
      <p:sp>
        <p:nvSpPr>
          <p:cNvPr id="94" name="TextBox 93"/>
          <p:cNvSpPr txBox="1"/>
          <p:nvPr/>
        </p:nvSpPr>
        <p:spPr>
          <a:xfrm>
            <a:off x="9966960" y="5330952"/>
            <a:ext cx="1508760" cy="182880"/>
          </a:xfrm>
          <a:prstGeom prst="rect">
            <a:avLst/>
          </a:prstGeom>
          <a:noFill/>
        </p:spPr>
        <p:txBody>
          <a:bodyPr wrap="square">
            <a:spAutoFit/>
          </a:bodyPr>
          <a:lstStyle/>
          <a:p>
            <a:pPr algn="ctr"/>
            <a:r>
              <a:rPr sz="700" b="0" i="0">
                <a:solidFill>
                  <a:srgbClr val="475569"/>
                </a:solidFill>
              </a:rPr>
              <a:t>Rate</a:t>
            </a:r>
          </a:p>
        </p:txBody>
      </p:sp>
      <p:sp>
        <p:nvSpPr>
          <p:cNvPr id="95" name="Rounded Rectangle 94"/>
          <p:cNvSpPr/>
          <p:nvPr/>
        </p:nvSpPr>
        <p:spPr>
          <a:xfrm>
            <a:off x="11109960" y="5074920"/>
            <a:ext cx="685800" cy="36576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11109960" y="5093208"/>
            <a:ext cx="685800" cy="329184"/>
          </a:xfrm>
          <a:prstGeom prst="rect">
            <a:avLst/>
          </a:prstGeom>
          <a:noFill/>
        </p:spPr>
        <p:txBody>
          <a:bodyPr wrap="square">
            <a:spAutoFit/>
          </a:bodyPr>
          <a:lstStyle/>
          <a:p>
            <a:pPr algn="ctr"/>
            <a:r>
              <a:rPr sz="1000" b="1" i="0">
                <a:solidFill>
                  <a:srgbClr val="FFFFFF"/>
                </a:solidFill>
              </a:rPr>
              <a:t>PASS</a:t>
            </a:r>
          </a:p>
        </p:txBody>
      </p:sp>
      <p:sp>
        <p:nvSpPr>
          <p:cNvPr id="97" name="Rounded Rectangle 96"/>
          <p:cNvSpPr/>
          <p:nvPr/>
        </p:nvSpPr>
        <p:spPr>
          <a:xfrm>
            <a:off x="274320" y="5715000"/>
            <a:ext cx="11612880" cy="749808"/>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274320" y="5715000"/>
            <a:ext cx="109728" cy="7498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475488" y="5806440"/>
            <a:ext cx="2926080" cy="320040"/>
          </a:xfrm>
          <a:prstGeom prst="rect">
            <a:avLst/>
          </a:prstGeom>
          <a:noFill/>
        </p:spPr>
        <p:txBody>
          <a:bodyPr wrap="square">
            <a:spAutoFit/>
          </a:bodyPr>
          <a:lstStyle/>
          <a:p>
            <a:pPr algn="l"/>
            <a:r>
              <a:rPr sz="1200" b="1" i="0">
                <a:solidFill>
                  <a:srgbClr val="FFFFFF"/>
                </a:solidFill>
              </a:rPr>
              <a:t>User Acceptance Testing</a:t>
            </a:r>
          </a:p>
        </p:txBody>
      </p:sp>
      <p:sp>
        <p:nvSpPr>
          <p:cNvPr id="100" name="TextBox 99"/>
          <p:cNvSpPr txBox="1"/>
          <p:nvPr/>
        </p:nvSpPr>
        <p:spPr>
          <a:xfrm>
            <a:off x="475488" y="6135624"/>
            <a:ext cx="3657600" cy="274320"/>
          </a:xfrm>
          <a:prstGeom prst="rect">
            <a:avLst/>
          </a:prstGeom>
          <a:noFill/>
        </p:spPr>
        <p:txBody>
          <a:bodyPr wrap="square">
            <a:spAutoFit/>
          </a:bodyPr>
          <a:lstStyle/>
          <a:p>
            <a:pPr algn="l"/>
            <a:r>
              <a:rPr sz="850" b="0" i="0">
                <a:solidFill>
                  <a:srgbClr val="94A3B8"/>
                </a:solidFill>
              </a:rPr>
              <a:t>4 personas · 5 BRs · All formally accepted</a:t>
            </a:r>
          </a:p>
        </p:txBody>
      </p:sp>
      <p:sp>
        <p:nvSpPr>
          <p:cNvPr id="101" name="Rounded Rectangle 100"/>
          <p:cNvSpPr/>
          <p:nvPr/>
        </p:nvSpPr>
        <p:spPr>
          <a:xfrm>
            <a:off x="4572000" y="582472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4617720" y="5824728"/>
            <a:ext cx="1508760" cy="347472"/>
          </a:xfrm>
          <a:prstGeom prst="rect">
            <a:avLst/>
          </a:prstGeom>
          <a:noFill/>
        </p:spPr>
        <p:txBody>
          <a:bodyPr wrap="square">
            <a:spAutoFit/>
          </a:bodyPr>
          <a:lstStyle/>
          <a:p>
            <a:pPr algn="ctr"/>
            <a:r>
              <a:rPr sz="1400" b="1" i="0">
                <a:solidFill>
                  <a:srgbClr val="2563EB"/>
                </a:solidFill>
              </a:rPr>
              <a:t>28</a:t>
            </a:r>
          </a:p>
        </p:txBody>
      </p:sp>
      <p:sp>
        <p:nvSpPr>
          <p:cNvPr id="103" name="TextBox 102"/>
          <p:cNvSpPr txBox="1"/>
          <p:nvPr/>
        </p:nvSpPr>
        <p:spPr>
          <a:xfrm>
            <a:off x="4617720" y="6153912"/>
            <a:ext cx="1508760" cy="182880"/>
          </a:xfrm>
          <a:prstGeom prst="rect">
            <a:avLst/>
          </a:prstGeom>
          <a:noFill/>
        </p:spPr>
        <p:txBody>
          <a:bodyPr wrap="square">
            <a:spAutoFit/>
          </a:bodyPr>
          <a:lstStyle/>
          <a:p>
            <a:pPr algn="ctr"/>
            <a:r>
              <a:rPr sz="700" b="0" i="0">
                <a:solidFill>
                  <a:srgbClr val="475569"/>
                </a:solidFill>
              </a:rPr>
              <a:t>Cases</a:t>
            </a:r>
          </a:p>
        </p:txBody>
      </p:sp>
      <p:sp>
        <p:nvSpPr>
          <p:cNvPr id="104" name="Rounded Rectangle 103"/>
          <p:cNvSpPr/>
          <p:nvPr/>
        </p:nvSpPr>
        <p:spPr>
          <a:xfrm>
            <a:off x="6355080" y="582472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6400800" y="5824728"/>
            <a:ext cx="1508760" cy="347472"/>
          </a:xfrm>
          <a:prstGeom prst="rect">
            <a:avLst/>
          </a:prstGeom>
          <a:noFill/>
        </p:spPr>
        <p:txBody>
          <a:bodyPr wrap="square">
            <a:spAutoFit/>
          </a:bodyPr>
          <a:lstStyle/>
          <a:p>
            <a:pPr algn="ctr"/>
            <a:r>
              <a:rPr sz="1400" b="1" i="0">
                <a:solidFill>
                  <a:srgbClr val="059669"/>
                </a:solidFill>
              </a:rPr>
              <a:t>28</a:t>
            </a:r>
          </a:p>
        </p:txBody>
      </p:sp>
      <p:sp>
        <p:nvSpPr>
          <p:cNvPr id="106" name="TextBox 105"/>
          <p:cNvSpPr txBox="1"/>
          <p:nvPr/>
        </p:nvSpPr>
        <p:spPr>
          <a:xfrm>
            <a:off x="6400800" y="6153912"/>
            <a:ext cx="1508760" cy="182880"/>
          </a:xfrm>
          <a:prstGeom prst="rect">
            <a:avLst/>
          </a:prstGeom>
          <a:noFill/>
        </p:spPr>
        <p:txBody>
          <a:bodyPr wrap="square">
            <a:spAutoFit/>
          </a:bodyPr>
          <a:lstStyle/>
          <a:p>
            <a:pPr algn="ctr"/>
            <a:r>
              <a:rPr sz="700" b="0" i="0">
                <a:solidFill>
                  <a:srgbClr val="475569"/>
                </a:solidFill>
              </a:rPr>
              <a:t>Passed</a:t>
            </a:r>
          </a:p>
        </p:txBody>
      </p:sp>
      <p:sp>
        <p:nvSpPr>
          <p:cNvPr id="107" name="Rounded Rectangle 106"/>
          <p:cNvSpPr/>
          <p:nvPr/>
        </p:nvSpPr>
        <p:spPr>
          <a:xfrm>
            <a:off x="8138160" y="582472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8183880" y="5824728"/>
            <a:ext cx="1508760" cy="347472"/>
          </a:xfrm>
          <a:prstGeom prst="rect">
            <a:avLst/>
          </a:prstGeom>
          <a:noFill/>
        </p:spPr>
        <p:txBody>
          <a:bodyPr wrap="square">
            <a:spAutoFit/>
          </a:bodyPr>
          <a:lstStyle/>
          <a:p>
            <a:pPr algn="ctr"/>
            <a:r>
              <a:rPr sz="1400" b="1" i="0">
                <a:solidFill>
                  <a:srgbClr val="DC2626"/>
                </a:solidFill>
              </a:rPr>
              <a:t>0</a:t>
            </a:r>
          </a:p>
        </p:txBody>
      </p:sp>
      <p:sp>
        <p:nvSpPr>
          <p:cNvPr id="109" name="TextBox 108"/>
          <p:cNvSpPr txBox="1"/>
          <p:nvPr/>
        </p:nvSpPr>
        <p:spPr>
          <a:xfrm>
            <a:off x="8183880" y="6153912"/>
            <a:ext cx="1508760" cy="182880"/>
          </a:xfrm>
          <a:prstGeom prst="rect">
            <a:avLst/>
          </a:prstGeom>
          <a:noFill/>
        </p:spPr>
        <p:txBody>
          <a:bodyPr wrap="square">
            <a:spAutoFit/>
          </a:bodyPr>
          <a:lstStyle/>
          <a:p>
            <a:pPr algn="ctr"/>
            <a:r>
              <a:rPr sz="700" b="0" i="0">
                <a:solidFill>
                  <a:srgbClr val="475569"/>
                </a:solidFill>
              </a:rPr>
              <a:t>Failed</a:t>
            </a:r>
          </a:p>
        </p:txBody>
      </p:sp>
      <p:sp>
        <p:nvSpPr>
          <p:cNvPr id="110" name="Rounded Rectangle 109"/>
          <p:cNvSpPr/>
          <p:nvPr/>
        </p:nvSpPr>
        <p:spPr>
          <a:xfrm>
            <a:off x="9921240" y="5824728"/>
            <a:ext cx="1600200" cy="53035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9966960" y="5824728"/>
            <a:ext cx="1508760" cy="347472"/>
          </a:xfrm>
          <a:prstGeom prst="rect">
            <a:avLst/>
          </a:prstGeom>
          <a:noFill/>
        </p:spPr>
        <p:txBody>
          <a:bodyPr wrap="square">
            <a:spAutoFit/>
          </a:bodyPr>
          <a:lstStyle/>
          <a:p>
            <a:pPr algn="ctr"/>
            <a:r>
              <a:rPr sz="1400" b="1" i="0">
                <a:solidFill>
                  <a:srgbClr val="D97706"/>
                </a:solidFill>
              </a:rPr>
              <a:t>100%</a:t>
            </a:r>
          </a:p>
        </p:txBody>
      </p:sp>
      <p:sp>
        <p:nvSpPr>
          <p:cNvPr id="112" name="TextBox 111"/>
          <p:cNvSpPr txBox="1"/>
          <p:nvPr/>
        </p:nvSpPr>
        <p:spPr>
          <a:xfrm>
            <a:off x="9966960" y="6153912"/>
            <a:ext cx="1508760" cy="182880"/>
          </a:xfrm>
          <a:prstGeom prst="rect">
            <a:avLst/>
          </a:prstGeom>
          <a:noFill/>
        </p:spPr>
        <p:txBody>
          <a:bodyPr wrap="square">
            <a:spAutoFit/>
          </a:bodyPr>
          <a:lstStyle/>
          <a:p>
            <a:pPr algn="ctr"/>
            <a:r>
              <a:rPr sz="700" b="0" i="0">
                <a:solidFill>
                  <a:srgbClr val="475569"/>
                </a:solidFill>
              </a:rPr>
              <a:t>Rate</a:t>
            </a:r>
          </a:p>
        </p:txBody>
      </p:sp>
      <p:sp>
        <p:nvSpPr>
          <p:cNvPr id="113" name="Rounded Rectangle 112"/>
          <p:cNvSpPr/>
          <p:nvPr/>
        </p:nvSpPr>
        <p:spPr>
          <a:xfrm>
            <a:off x="11109960" y="5897880"/>
            <a:ext cx="685800" cy="36576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11109960" y="5916168"/>
            <a:ext cx="685800" cy="329184"/>
          </a:xfrm>
          <a:prstGeom prst="rect">
            <a:avLst/>
          </a:prstGeom>
          <a:noFill/>
        </p:spPr>
        <p:txBody>
          <a:bodyPr wrap="square">
            <a:spAutoFit/>
          </a:bodyPr>
          <a:lstStyle/>
          <a:p>
            <a:pPr algn="ctr"/>
            <a:r>
              <a:rPr sz="1000" b="1" i="0">
                <a:solidFill>
                  <a:srgbClr val="FFFFFF"/>
                </a:solidFill>
              </a:rPr>
              <a:t>PASS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Project Demo Flow</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User journey through the BugLens platform</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20</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228600" y="1078992"/>
            <a:ext cx="1554480" cy="43891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8600" y="1078992"/>
            <a:ext cx="155448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85800" y="1170432"/>
            <a:ext cx="640080" cy="6400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1188720"/>
            <a:ext cx="640080" cy="548640"/>
          </a:xfrm>
          <a:prstGeom prst="rect">
            <a:avLst/>
          </a:prstGeom>
          <a:noFill/>
        </p:spPr>
        <p:txBody>
          <a:bodyPr wrap="square">
            <a:spAutoFit/>
          </a:bodyPr>
          <a:lstStyle/>
          <a:p>
            <a:pPr algn="ctr"/>
            <a:r>
              <a:rPr sz="1500" b="1" i="0">
                <a:solidFill>
                  <a:srgbClr val="FFFFFF"/>
                </a:solidFill>
              </a:rPr>
              <a:t>01</a:t>
            </a:r>
          </a:p>
        </p:txBody>
      </p:sp>
      <p:sp>
        <p:nvSpPr>
          <p:cNvPr id="13" name="TextBox 12"/>
          <p:cNvSpPr txBox="1"/>
          <p:nvPr/>
        </p:nvSpPr>
        <p:spPr>
          <a:xfrm>
            <a:off x="301752" y="1920240"/>
            <a:ext cx="1408176" cy="384048"/>
          </a:xfrm>
          <a:prstGeom prst="rect">
            <a:avLst/>
          </a:prstGeom>
          <a:noFill/>
        </p:spPr>
        <p:txBody>
          <a:bodyPr wrap="square">
            <a:spAutoFit/>
          </a:bodyPr>
          <a:lstStyle/>
          <a:p>
            <a:pPr algn="ctr"/>
            <a:r>
              <a:rPr sz="1100" b="1" i="0">
                <a:solidFill>
                  <a:srgbClr val="FFFFFF"/>
                </a:solidFill>
              </a:rPr>
              <a:t>Open App</a:t>
            </a:r>
          </a:p>
        </p:txBody>
      </p:sp>
      <p:sp>
        <p:nvSpPr>
          <p:cNvPr id="14" name="TextBox 13"/>
          <p:cNvSpPr txBox="1"/>
          <p:nvPr/>
        </p:nvSpPr>
        <p:spPr>
          <a:xfrm>
            <a:off x="301752" y="2331720"/>
            <a:ext cx="1408176" cy="438912"/>
          </a:xfrm>
          <a:prstGeom prst="rect">
            <a:avLst/>
          </a:prstGeom>
          <a:noFill/>
        </p:spPr>
        <p:txBody>
          <a:bodyPr wrap="square">
            <a:spAutoFit/>
          </a:bodyPr>
          <a:lstStyle/>
          <a:p>
            <a:pPr algn="ctr"/>
            <a:r>
              <a:rPr sz="850" b="0" i="0">
                <a:solidFill>
                  <a:srgbClr val="2563EB"/>
                </a:solidFill>
              </a:rPr>
              <a:t>Streamlit on
localhost:8501</a:t>
            </a:r>
          </a:p>
        </p:txBody>
      </p:sp>
      <p:sp>
        <p:nvSpPr>
          <p:cNvPr id="15" name="Rectangle 14"/>
          <p:cNvSpPr/>
          <p:nvPr/>
        </p:nvSpPr>
        <p:spPr>
          <a:xfrm>
            <a:off x="338328" y="2834640"/>
            <a:ext cx="1335024" cy="2743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0040" y="2926080"/>
            <a:ext cx="1371600" cy="2377440"/>
          </a:xfrm>
          <a:prstGeom prst="rect">
            <a:avLst/>
          </a:prstGeom>
          <a:noFill/>
        </p:spPr>
        <p:txBody>
          <a:bodyPr wrap="square">
            <a:spAutoFit/>
          </a:bodyPr>
          <a:lstStyle/>
          <a:p>
            <a:pPr algn="l"/>
            <a:r>
              <a:rPr sz="850" b="0" i="0">
                <a:solidFill>
                  <a:srgbClr val="94A3B8"/>
                </a:solidFill>
              </a:rPr>
              <a:t>Login with maya / maya123
Dashboard loads with score trend</a:t>
            </a:r>
          </a:p>
        </p:txBody>
      </p:sp>
      <p:sp>
        <p:nvSpPr>
          <p:cNvPr id="17" name="Rounded Rectangle 16"/>
          <p:cNvSpPr/>
          <p:nvPr/>
        </p:nvSpPr>
        <p:spPr>
          <a:xfrm>
            <a:off x="1856232" y="1078992"/>
            <a:ext cx="1554480" cy="43891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856232" y="1078992"/>
            <a:ext cx="155448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2313432" y="1170432"/>
            <a:ext cx="640080" cy="64008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313432" y="1188720"/>
            <a:ext cx="640080" cy="548640"/>
          </a:xfrm>
          <a:prstGeom prst="rect">
            <a:avLst/>
          </a:prstGeom>
          <a:noFill/>
        </p:spPr>
        <p:txBody>
          <a:bodyPr wrap="square">
            <a:spAutoFit/>
          </a:bodyPr>
          <a:lstStyle/>
          <a:p>
            <a:pPr algn="ctr"/>
            <a:r>
              <a:rPr sz="1500" b="1" i="0">
                <a:solidFill>
                  <a:srgbClr val="FFFFFF"/>
                </a:solidFill>
              </a:rPr>
              <a:t>02</a:t>
            </a:r>
          </a:p>
        </p:txBody>
      </p:sp>
      <p:sp>
        <p:nvSpPr>
          <p:cNvPr id="21" name="TextBox 20"/>
          <p:cNvSpPr txBox="1"/>
          <p:nvPr/>
        </p:nvSpPr>
        <p:spPr>
          <a:xfrm>
            <a:off x="1929384" y="1920240"/>
            <a:ext cx="1408176" cy="384048"/>
          </a:xfrm>
          <a:prstGeom prst="rect">
            <a:avLst/>
          </a:prstGeom>
          <a:noFill/>
        </p:spPr>
        <p:txBody>
          <a:bodyPr wrap="square">
            <a:spAutoFit/>
          </a:bodyPr>
          <a:lstStyle/>
          <a:p>
            <a:pPr algn="ctr"/>
            <a:r>
              <a:rPr sz="1100" b="1" i="0">
                <a:solidFill>
                  <a:srgbClr val="FFFFFF"/>
                </a:solidFill>
              </a:rPr>
              <a:t>Load Sample</a:t>
            </a:r>
          </a:p>
        </p:txBody>
      </p:sp>
      <p:sp>
        <p:nvSpPr>
          <p:cNvPr id="22" name="TextBox 21"/>
          <p:cNvSpPr txBox="1"/>
          <p:nvPr/>
        </p:nvSpPr>
        <p:spPr>
          <a:xfrm>
            <a:off x="1929384" y="2331720"/>
            <a:ext cx="1408176" cy="438912"/>
          </a:xfrm>
          <a:prstGeom prst="rect">
            <a:avLst/>
          </a:prstGeom>
          <a:noFill/>
        </p:spPr>
        <p:txBody>
          <a:bodyPr wrap="square">
            <a:spAutoFit/>
          </a:bodyPr>
          <a:lstStyle/>
          <a:p>
            <a:pPr algn="ctr"/>
            <a:r>
              <a:rPr sz="850" b="0" i="0">
                <a:solidFill>
                  <a:srgbClr val="7C3AED"/>
                </a:solidFill>
              </a:rPr>
              <a:t>Sidebar sample
selector</a:t>
            </a:r>
          </a:p>
        </p:txBody>
      </p:sp>
      <p:sp>
        <p:nvSpPr>
          <p:cNvPr id="23" name="Rectangle 22"/>
          <p:cNvSpPr/>
          <p:nvPr/>
        </p:nvSpPr>
        <p:spPr>
          <a:xfrm>
            <a:off x="1965960" y="2834640"/>
            <a:ext cx="1335024" cy="2743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947672" y="2926080"/>
            <a:ext cx="1371600" cy="2377440"/>
          </a:xfrm>
          <a:prstGeom prst="rect">
            <a:avLst/>
          </a:prstGeom>
          <a:noFill/>
        </p:spPr>
        <p:txBody>
          <a:bodyPr wrap="square">
            <a:spAutoFit/>
          </a:bodyPr>
          <a:lstStyle/>
          <a:p>
            <a:pPr algn="l"/>
            <a:r>
              <a:rPr sz="850" b="0" i="0">
                <a:solidFill>
                  <a:srgbClr val="94A3B8"/>
                </a:solidFill>
              </a:rPr>
              <a:t>Pre-loaded defect populated
across all 7 form fields</a:t>
            </a:r>
          </a:p>
        </p:txBody>
      </p:sp>
      <p:sp>
        <p:nvSpPr>
          <p:cNvPr id="25" name="Rounded Rectangle 24"/>
          <p:cNvSpPr/>
          <p:nvPr/>
        </p:nvSpPr>
        <p:spPr>
          <a:xfrm>
            <a:off x="3483864" y="1078992"/>
            <a:ext cx="1554480" cy="43891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483864" y="1078992"/>
            <a:ext cx="155448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3941064" y="1170432"/>
            <a:ext cx="640080" cy="64008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941064" y="1188720"/>
            <a:ext cx="640080" cy="548640"/>
          </a:xfrm>
          <a:prstGeom prst="rect">
            <a:avLst/>
          </a:prstGeom>
          <a:noFill/>
        </p:spPr>
        <p:txBody>
          <a:bodyPr wrap="square">
            <a:spAutoFit/>
          </a:bodyPr>
          <a:lstStyle/>
          <a:p>
            <a:pPr algn="ctr"/>
            <a:r>
              <a:rPr sz="1500" b="1" i="0">
                <a:solidFill>
                  <a:srgbClr val="FFFFFF"/>
                </a:solidFill>
              </a:rPr>
              <a:t>03</a:t>
            </a:r>
          </a:p>
        </p:txBody>
      </p:sp>
      <p:sp>
        <p:nvSpPr>
          <p:cNvPr id="29" name="TextBox 28"/>
          <p:cNvSpPr txBox="1"/>
          <p:nvPr/>
        </p:nvSpPr>
        <p:spPr>
          <a:xfrm>
            <a:off x="3557016" y="1920240"/>
            <a:ext cx="1408176" cy="384048"/>
          </a:xfrm>
          <a:prstGeom prst="rect">
            <a:avLst/>
          </a:prstGeom>
          <a:noFill/>
        </p:spPr>
        <p:txBody>
          <a:bodyPr wrap="square">
            <a:spAutoFit/>
          </a:bodyPr>
          <a:lstStyle/>
          <a:p>
            <a:pPr algn="ctr"/>
            <a:r>
              <a:rPr sz="1100" b="1" i="0">
                <a:solidFill>
                  <a:srgbClr val="FFFFFF"/>
                </a:solidFill>
              </a:rPr>
              <a:t>Analyze Defect</a:t>
            </a:r>
          </a:p>
        </p:txBody>
      </p:sp>
      <p:sp>
        <p:nvSpPr>
          <p:cNvPr id="30" name="TextBox 29"/>
          <p:cNvSpPr txBox="1"/>
          <p:nvPr/>
        </p:nvSpPr>
        <p:spPr>
          <a:xfrm>
            <a:off x="3557016" y="2331720"/>
            <a:ext cx="1408176" cy="438912"/>
          </a:xfrm>
          <a:prstGeom prst="rect">
            <a:avLst/>
          </a:prstGeom>
          <a:noFill/>
        </p:spPr>
        <p:txBody>
          <a:bodyPr wrap="square">
            <a:spAutoFit/>
          </a:bodyPr>
          <a:lstStyle/>
          <a:p>
            <a:pPr algn="ctr"/>
            <a:r>
              <a:rPr sz="850" b="0" i="0">
                <a:solidFill>
                  <a:srgbClr val="06B6D4"/>
                </a:solidFill>
              </a:rPr>
              <a:t>Click 'Analyze
Defect →'</a:t>
            </a:r>
          </a:p>
        </p:txBody>
      </p:sp>
      <p:sp>
        <p:nvSpPr>
          <p:cNvPr id="31" name="Rectangle 30"/>
          <p:cNvSpPr/>
          <p:nvPr/>
        </p:nvSpPr>
        <p:spPr>
          <a:xfrm>
            <a:off x="3593592" y="2834640"/>
            <a:ext cx="1335024" cy="2743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575304" y="2926080"/>
            <a:ext cx="1371600" cy="2377440"/>
          </a:xfrm>
          <a:prstGeom prst="rect">
            <a:avLst/>
          </a:prstGeom>
          <a:noFill/>
        </p:spPr>
        <p:txBody>
          <a:bodyPr wrap="square">
            <a:spAutoFit/>
          </a:bodyPr>
          <a:lstStyle/>
          <a:p>
            <a:pPr algn="l"/>
            <a:r>
              <a:rPr sz="850" b="0" i="0">
                <a:solidFill>
                  <a:srgbClr val="94A3B8"/>
                </a:solidFill>
              </a:rPr>
              <a:t>Pipeline: Validate → Score →
Rewrite in &lt; 2 seconds</a:t>
            </a:r>
          </a:p>
        </p:txBody>
      </p:sp>
      <p:sp>
        <p:nvSpPr>
          <p:cNvPr id="33" name="Rounded Rectangle 32"/>
          <p:cNvSpPr/>
          <p:nvPr/>
        </p:nvSpPr>
        <p:spPr>
          <a:xfrm>
            <a:off x="5111496" y="1078992"/>
            <a:ext cx="1554480" cy="43891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111496" y="1078992"/>
            <a:ext cx="155448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5568696" y="1170432"/>
            <a:ext cx="640080" cy="64008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568696" y="1188720"/>
            <a:ext cx="640080" cy="548640"/>
          </a:xfrm>
          <a:prstGeom prst="rect">
            <a:avLst/>
          </a:prstGeom>
          <a:noFill/>
        </p:spPr>
        <p:txBody>
          <a:bodyPr wrap="square">
            <a:spAutoFit/>
          </a:bodyPr>
          <a:lstStyle/>
          <a:p>
            <a:pPr algn="ctr"/>
            <a:r>
              <a:rPr sz="1500" b="1" i="0">
                <a:solidFill>
                  <a:srgbClr val="FFFFFF"/>
                </a:solidFill>
              </a:rPr>
              <a:t>04</a:t>
            </a:r>
          </a:p>
        </p:txBody>
      </p:sp>
      <p:sp>
        <p:nvSpPr>
          <p:cNvPr id="37" name="TextBox 36"/>
          <p:cNvSpPr txBox="1"/>
          <p:nvPr/>
        </p:nvSpPr>
        <p:spPr>
          <a:xfrm>
            <a:off x="5184648" y="1920240"/>
            <a:ext cx="1408176" cy="384048"/>
          </a:xfrm>
          <a:prstGeom prst="rect">
            <a:avLst/>
          </a:prstGeom>
          <a:noFill/>
        </p:spPr>
        <p:txBody>
          <a:bodyPr wrap="square">
            <a:spAutoFit/>
          </a:bodyPr>
          <a:lstStyle/>
          <a:p>
            <a:pPr algn="ctr"/>
            <a:r>
              <a:rPr sz="1100" b="1" i="0">
                <a:solidFill>
                  <a:srgbClr val="FFFFFF"/>
                </a:solidFill>
              </a:rPr>
              <a:t>Quality Score</a:t>
            </a:r>
          </a:p>
        </p:txBody>
      </p:sp>
      <p:sp>
        <p:nvSpPr>
          <p:cNvPr id="38" name="TextBox 37"/>
          <p:cNvSpPr txBox="1"/>
          <p:nvPr/>
        </p:nvSpPr>
        <p:spPr>
          <a:xfrm>
            <a:off x="5184648" y="2331720"/>
            <a:ext cx="1408176" cy="438912"/>
          </a:xfrm>
          <a:prstGeom prst="rect">
            <a:avLst/>
          </a:prstGeom>
          <a:noFill/>
        </p:spPr>
        <p:txBody>
          <a:bodyPr wrap="square">
            <a:spAutoFit/>
          </a:bodyPr>
          <a:lstStyle/>
          <a:p>
            <a:pPr algn="ctr"/>
            <a:r>
              <a:rPr sz="850" b="0" i="0">
                <a:solidFill>
                  <a:srgbClr val="059669"/>
                </a:solidFill>
              </a:rPr>
              <a:t>0–100 + grade
with verdict</a:t>
            </a:r>
          </a:p>
        </p:txBody>
      </p:sp>
      <p:sp>
        <p:nvSpPr>
          <p:cNvPr id="39" name="Rectangle 38"/>
          <p:cNvSpPr/>
          <p:nvPr/>
        </p:nvSpPr>
        <p:spPr>
          <a:xfrm>
            <a:off x="5221224" y="2834640"/>
            <a:ext cx="1335024" cy="2743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202936" y="2926080"/>
            <a:ext cx="1371600" cy="2377440"/>
          </a:xfrm>
          <a:prstGeom prst="rect">
            <a:avLst/>
          </a:prstGeom>
          <a:noFill/>
        </p:spPr>
        <p:txBody>
          <a:bodyPr wrap="square">
            <a:spAutoFit/>
          </a:bodyPr>
          <a:lstStyle/>
          <a:p>
            <a:pPr algn="l"/>
            <a:r>
              <a:rPr sz="850" b="0" i="0">
                <a:solidFill>
                  <a:srgbClr val="94A3B8"/>
                </a:solidFill>
              </a:rPr>
              <a:t>Score card, progress bar
6-section breakdown chart</a:t>
            </a:r>
          </a:p>
        </p:txBody>
      </p:sp>
      <p:sp>
        <p:nvSpPr>
          <p:cNvPr id="41" name="Rounded Rectangle 40"/>
          <p:cNvSpPr/>
          <p:nvPr/>
        </p:nvSpPr>
        <p:spPr>
          <a:xfrm>
            <a:off x="6739128" y="1078992"/>
            <a:ext cx="1554480" cy="43891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739128" y="1078992"/>
            <a:ext cx="1554480"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7196328" y="1170432"/>
            <a:ext cx="640080" cy="64008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196328" y="1188720"/>
            <a:ext cx="640080" cy="548640"/>
          </a:xfrm>
          <a:prstGeom prst="rect">
            <a:avLst/>
          </a:prstGeom>
          <a:noFill/>
        </p:spPr>
        <p:txBody>
          <a:bodyPr wrap="square">
            <a:spAutoFit/>
          </a:bodyPr>
          <a:lstStyle/>
          <a:p>
            <a:pPr algn="ctr"/>
            <a:r>
              <a:rPr sz="1500" b="1" i="0">
                <a:solidFill>
                  <a:srgbClr val="FFFFFF"/>
                </a:solidFill>
              </a:rPr>
              <a:t>05</a:t>
            </a:r>
          </a:p>
        </p:txBody>
      </p:sp>
      <p:sp>
        <p:nvSpPr>
          <p:cNvPr id="45" name="TextBox 44"/>
          <p:cNvSpPr txBox="1"/>
          <p:nvPr/>
        </p:nvSpPr>
        <p:spPr>
          <a:xfrm>
            <a:off x="6812280" y="1920240"/>
            <a:ext cx="1408176" cy="384048"/>
          </a:xfrm>
          <a:prstGeom prst="rect">
            <a:avLst/>
          </a:prstGeom>
          <a:noFill/>
        </p:spPr>
        <p:txBody>
          <a:bodyPr wrap="square">
            <a:spAutoFit/>
          </a:bodyPr>
          <a:lstStyle/>
          <a:p>
            <a:pPr algn="ctr"/>
            <a:r>
              <a:rPr sz="1100" b="1" i="0">
                <a:solidFill>
                  <a:srgbClr val="FFFFFF"/>
                </a:solidFill>
              </a:rPr>
              <a:t>View Issues</a:t>
            </a:r>
          </a:p>
        </p:txBody>
      </p:sp>
      <p:sp>
        <p:nvSpPr>
          <p:cNvPr id="46" name="TextBox 45"/>
          <p:cNvSpPr txBox="1"/>
          <p:nvPr/>
        </p:nvSpPr>
        <p:spPr>
          <a:xfrm>
            <a:off x="6812280" y="2331720"/>
            <a:ext cx="1408176" cy="438912"/>
          </a:xfrm>
          <a:prstGeom prst="rect">
            <a:avLst/>
          </a:prstGeom>
          <a:noFill/>
        </p:spPr>
        <p:txBody>
          <a:bodyPr wrap="square">
            <a:spAutoFit/>
          </a:bodyPr>
          <a:lstStyle/>
          <a:p>
            <a:pPr algn="ctr"/>
            <a:r>
              <a:rPr sz="850" b="0" i="0">
                <a:solidFill>
                  <a:srgbClr val="D97706"/>
                </a:solidFill>
              </a:rPr>
              <a:t>Inline colour-
coded cards</a:t>
            </a:r>
          </a:p>
        </p:txBody>
      </p:sp>
      <p:sp>
        <p:nvSpPr>
          <p:cNvPr id="47" name="Rectangle 46"/>
          <p:cNvSpPr/>
          <p:nvPr/>
        </p:nvSpPr>
        <p:spPr>
          <a:xfrm>
            <a:off x="6848856" y="2834640"/>
            <a:ext cx="1335024" cy="2743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830568" y="2926080"/>
            <a:ext cx="1371600" cy="2377440"/>
          </a:xfrm>
          <a:prstGeom prst="rect">
            <a:avLst/>
          </a:prstGeom>
          <a:noFill/>
        </p:spPr>
        <p:txBody>
          <a:bodyPr wrap="square">
            <a:spAutoFit/>
          </a:bodyPr>
          <a:lstStyle/>
          <a:p>
            <a:pPr algn="l"/>
            <a:r>
              <a:rPr sz="850" b="0" i="0">
                <a:solidFill>
                  <a:srgbClr val="94A3B8"/>
                </a:solidFill>
              </a:rPr>
              <a:t>ERROR / WARNING / INFO
With field, message, suggestion</a:t>
            </a:r>
          </a:p>
        </p:txBody>
      </p:sp>
      <p:sp>
        <p:nvSpPr>
          <p:cNvPr id="49" name="Rounded Rectangle 48"/>
          <p:cNvSpPr/>
          <p:nvPr/>
        </p:nvSpPr>
        <p:spPr>
          <a:xfrm>
            <a:off x="8366760" y="1078992"/>
            <a:ext cx="1554480" cy="43891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8366760" y="1078992"/>
            <a:ext cx="155448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8823960" y="1170432"/>
            <a:ext cx="640080" cy="64008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823960" y="1188720"/>
            <a:ext cx="640080" cy="548640"/>
          </a:xfrm>
          <a:prstGeom prst="rect">
            <a:avLst/>
          </a:prstGeom>
          <a:noFill/>
        </p:spPr>
        <p:txBody>
          <a:bodyPr wrap="square">
            <a:spAutoFit/>
          </a:bodyPr>
          <a:lstStyle/>
          <a:p>
            <a:pPr algn="ctr"/>
            <a:r>
              <a:rPr sz="1500" b="1" i="0">
                <a:solidFill>
                  <a:srgbClr val="FFFFFF"/>
                </a:solidFill>
              </a:rPr>
              <a:t>06</a:t>
            </a:r>
          </a:p>
        </p:txBody>
      </p:sp>
      <p:sp>
        <p:nvSpPr>
          <p:cNvPr id="53" name="TextBox 52"/>
          <p:cNvSpPr txBox="1"/>
          <p:nvPr/>
        </p:nvSpPr>
        <p:spPr>
          <a:xfrm>
            <a:off x="8439912" y="1920240"/>
            <a:ext cx="1408176" cy="384048"/>
          </a:xfrm>
          <a:prstGeom prst="rect">
            <a:avLst/>
          </a:prstGeom>
          <a:noFill/>
        </p:spPr>
        <p:txBody>
          <a:bodyPr wrap="square">
            <a:spAutoFit/>
          </a:bodyPr>
          <a:lstStyle/>
          <a:p>
            <a:pPr algn="ctr"/>
            <a:r>
              <a:rPr sz="1100" b="1" i="0">
                <a:solidFill>
                  <a:srgbClr val="FFFFFF"/>
                </a:solidFill>
              </a:rPr>
              <a:t>Read Rewrite</a:t>
            </a:r>
          </a:p>
        </p:txBody>
      </p:sp>
      <p:sp>
        <p:nvSpPr>
          <p:cNvPr id="54" name="TextBox 53"/>
          <p:cNvSpPr txBox="1"/>
          <p:nvPr/>
        </p:nvSpPr>
        <p:spPr>
          <a:xfrm>
            <a:off x="8439912" y="2331720"/>
            <a:ext cx="1408176" cy="438912"/>
          </a:xfrm>
          <a:prstGeom prst="rect">
            <a:avLst/>
          </a:prstGeom>
          <a:noFill/>
        </p:spPr>
        <p:txBody>
          <a:bodyPr wrap="square">
            <a:spAutoFit/>
          </a:bodyPr>
          <a:lstStyle/>
          <a:p>
            <a:pPr algn="ctr"/>
            <a:r>
              <a:rPr sz="850" b="0" i="0">
                <a:solidFill>
                  <a:srgbClr val="EA580C"/>
                </a:solidFill>
              </a:rPr>
              <a:t>Professional
restructured ticket</a:t>
            </a:r>
          </a:p>
        </p:txBody>
      </p:sp>
      <p:sp>
        <p:nvSpPr>
          <p:cNvPr id="55" name="Rectangle 54"/>
          <p:cNvSpPr/>
          <p:nvPr/>
        </p:nvSpPr>
        <p:spPr>
          <a:xfrm>
            <a:off x="8476488" y="2834640"/>
            <a:ext cx="1335024" cy="2743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458200" y="2926080"/>
            <a:ext cx="1371600" cy="2377440"/>
          </a:xfrm>
          <a:prstGeom prst="rect">
            <a:avLst/>
          </a:prstGeom>
          <a:noFill/>
        </p:spPr>
        <p:txBody>
          <a:bodyPr wrap="square">
            <a:spAutoFit/>
          </a:bodyPr>
          <a:lstStyle/>
          <a:p>
            <a:pPr algn="l"/>
            <a:r>
              <a:rPr sz="850" b="0" i="0">
                <a:solidFill>
                  <a:srgbClr val="94A3B8"/>
                </a:solidFill>
              </a:rPr>
              <a:t>Copy to Jira / download .md
Email via SMTP</a:t>
            </a:r>
          </a:p>
        </p:txBody>
      </p:sp>
      <p:sp>
        <p:nvSpPr>
          <p:cNvPr id="57" name="Rounded Rectangle 56"/>
          <p:cNvSpPr/>
          <p:nvPr/>
        </p:nvSpPr>
        <p:spPr>
          <a:xfrm>
            <a:off x="9994392" y="1078992"/>
            <a:ext cx="1554480" cy="43891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9994392" y="1078992"/>
            <a:ext cx="155448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10451592" y="1170432"/>
            <a:ext cx="640080" cy="64008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0451592" y="1188720"/>
            <a:ext cx="640080" cy="548640"/>
          </a:xfrm>
          <a:prstGeom prst="rect">
            <a:avLst/>
          </a:prstGeom>
          <a:noFill/>
        </p:spPr>
        <p:txBody>
          <a:bodyPr wrap="square">
            <a:spAutoFit/>
          </a:bodyPr>
          <a:lstStyle/>
          <a:p>
            <a:pPr algn="ctr"/>
            <a:r>
              <a:rPr sz="1500" b="1" i="0">
                <a:solidFill>
                  <a:srgbClr val="FFFFFF"/>
                </a:solidFill>
              </a:rPr>
              <a:t>07</a:t>
            </a:r>
          </a:p>
        </p:txBody>
      </p:sp>
      <p:sp>
        <p:nvSpPr>
          <p:cNvPr id="61" name="TextBox 60"/>
          <p:cNvSpPr txBox="1"/>
          <p:nvPr/>
        </p:nvSpPr>
        <p:spPr>
          <a:xfrm>
            <a:off x="10067544" y="1920240"/>
            <a:ext cx="1408176" cy="384048"/>
          </a:xfrm>
          <a:prstGeom prst="rect">
            <a:avLst/>
          </a:prstGeom>
          <a:noFill/>
        </p:spPr>
        <p:txBody>
          <a:bodyPr wrap="square">
            <a:spAutoFit/>
          </a:bodyPr>
          <a:lstStyle/>
          <a:p>
            <a:pPr algn="ctr"/>
            <a:r>
              <a:rPr sz="1100" b="1" i="0">
                <a:solidFill>
                  <a:srgbClr val="FFFFFF"/>
                </a:solidFill>
              </a:rPr>
              <a:t>History &amp; Compare</a:t>
            </a:r>
          </a:p>
        </p:txBody>
      </p:sp>
      <p:sp>
        <p:nvSpPr>
          <p:cNvPr id="62" name="TextBox 61"/>
          <p:cNvSpPr txBox="1"/>
          <p:nvPr/>
        </p:nvSpPr>
        <p:spPr>
          <a:xfrm>
            <a:off x="10067544" y="2331720"/>
            <a:ext cx="1408176" cy="438912"/>
          </a:xfrm>
          <a:prstGeom prst="rect">
            <a:avLst/>
          </a:prstGeom>
          <a:noFill/>
        </p:spPr>
        <p:txBody>
          <a:bodyPr wrap="square">
            <a:spAutoFit/>
          </a:bodyPr>
          <a:lstStyle/>
          <a:p>
            <a:pPr algn="ctr"/>
            <a:r>
              <a:rPr sz="850" b="0" i="0">
                <a:solidFill>
                  <a:srgbClr val="7C3AED"/>
                </a:solidFill>
              </a:rPr>
              <a:t>Session
persisted</a:t>
            </a:r>
          </a:p>
        </p:txBody>
      </p:sp>
      <p:sp>
        <p:nvSpPr>
          <p:cNvPr id="63" name="Rectangle 62"/>
          <p:cNvSpPr/>
          <p:nvPr/>
        </p:nvSpPr>
        <p:spPr>
          <a:xfrm>
            <a:off x="10104120" y="2834640"/>
            <a:ext cx="1335024" cy="2743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0085832" y="2926080"/>
            <a:ext cx="1371600" cy="2377440"/>
          </a:xfrm>
          <a:prstGeom prst="rect">
            <a:avLst/>
          </a:prstGeom>
          <a:noFill/>
        </p:spPr>
        <p:txBody>
          <a:bodyPr wrap="square">
            <a:spAutoFit/>
          </a:bodyPr>
          <a:lstStyle/>
          <a:p>
            <a:pPr algn="l"/>
            <a:r>
              <a:rPr sz="850" b="0" i="0">
                <a:solidFill>
                  <a:srgbClr val="94A3B8"/>
                </a:solidFill>
              </a:rPr>
              <a:t>History shows all analyses
Compare A vs B with deltas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Challenges Faced &amp; Solutions</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Technical and testing obstacles overcome</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21</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274320" y="1097280"/>
            <a:ext cx="5669280" cy="1645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97280"/>
            <a:ext cx="109728" cy="1645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5488" y="1188720"/>
            <a:ext cx="5303520" cy="347472"/>
          </a:xfrm>
          <a:prstGeom prst="rect">
            <a:avLst/>
          </a:prstGeom>
          <a:noFill/>
        </p:spPr>
        <p:txBody>
          <a:bodyPr wrap="square">
            <a:spAutoFit/>
          </a:bodyPr>
          <a:lstStyle/>
          <a:p>
            <a:pPr algn="l"/>
            <a:r>
              <a:rPr sz="1200" b="1" i="0">
                <a:solidFill>
                  <a:srgbClr val="FFFFFF"/>
                </a:solidFill>
              </a:rPr>
              <a:t>API Port Conflict</a:t>
            </a:r>
          </a:p>
        </p:txBody>
      </p:sp>
      <p:sp>
        <p:nvSpPr>
          <p:cNvPr id="12" name="TextBox 11"/>
          <p:cNvSpPr txBox="1"/>
          <p:nvPr/>
        </p:nvSpPr>
        <p:spPr>
          <a:xfrm>
            <a:off x="475488" y="1554480"/>
            <a:ext cx="5303520" cy="475488"/>
          </a:xfrm>
          <a:prstGeom prst="rect">
            <a:avLst/>
          </a:prstGeom>
          <a:noFill/>
        </p:spPr>
        <p:txBody>
          <a:bodyPr wrap="square">
            <a:spAutoFit/>
          </a:bodyPr>
          <a:lstStyle/>
          <a:p>
            <a:pPr algn="l"/>
            <a:r>
              <a:rPr sz="900" b="0" i="0">
                <a:solidFill>
                  <a:srgbClr val="94A3B8"/>
                </a:solidFill>
              </a:rPr>
              <a:t>⚠  FastAPI default port 8000 conflicted with another service on the dev machine.</a:t>
            </a:r>
          </a:p>
        </p:txBody>
      </p:sp>
      <p:sp>
        <p:nvSpPr>
          <p:cNvPr id="13" name="Rectangle 12"/>
          <p:cNvSpPr/>
          <p:nvPr/>
        </p:nvSpPr>
        <p:spPr>
          <a:xfrm>
            <a:off x="475488" y="2048256"/>
            <a:ext cx="5303520" cy="18288"/>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8" y="2103120"/>
            <a:ext cx="5303520" cy="548640"/>
          </a:xfrm>
          <a:prstGeom prst="rect">
            <a:avLst/>
          </a:prstGeom>
          <a:noFill/>
        </p:spPr>
        <p:txBody>
          <a:bodyPr wrap="square">
            <a:spAutoFit/>
          </a:bodyPr>
          <a:lstStyle/>
          <a:p>
            <a:pPr algn="l"/>
            <a:r>
              <a:rPr sz="900" b="0" i="0">
                <a:solidFill>
                  <a:srgbClr val="A7F3D0"/>
                </a:solidFill>
              </a:rPr>
              <a:t>✔  Moved to port 8001 via CLI flag and updated all test client base URLs.</a:t>
            </a:r>
          </a:p>
        </p:txBody>
      </p:sp>
      <p:sp>
        <p:nvSpPr>
          <p:cNvPr id="15" name="Rounded Rectangle 14"/>
          <p:cNvSpPr/>
          <p:nvPr/>
        </p:nvSpPr>
        <p:spPr>
          <a:xfrm>
            <a:off x="6236208" y="1097280"/>
            <a:ext cx="5669280" cy="1645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36208" y="1097280"/>
            <a:ext cx="109728" cy="16459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37376" y="1188720"/>
            <a:ext cx="5303520" cy="347472"/>
          </a:xfrm>
          <a:prstGeom prst="rect">
            <a:avLst/>
          </a:prstGeom>
          <a:noFill/>
        </p:spPr>
        <p:txBody>
          <a:bodyPr wrap="square">
            <a:spAutoFit/>
          </a:bodyPr>
          <a:lstStyle/>
          <a:p>
            <a:pPr algn="l"/>
            <a:r>
              <a:rPr sz="1200" b="1" i="0">
                <a:solidFill>
                  <a:srgbClr val="FFFFFF"/>
                </a:solidFill>
              </a:rPr>
              <a:t>Nested f-String Syntax Error</a:t>
            </a:r>
          </a:p>
        </p:txBody>
      </p:sp>
      <p:sp>
        <p:nvSpPr>
          <p:cNvPr id="18" name="TextBox 17"/>
          <p:cNvSpPr txBox="1"/>
          <p:nvPr/>
        </p:nvSpPr>
        <p:spPr>
          <a:xfrm>
            <a:off x="6437376" y="1554480"/>
            <a:ext cx="5303520" cy="475488"/>
          </a:xfrm>
          <a:prstGeom prst="rect">
            <a:avLst/>
          </a:prstGeom>
          <a:noFill/>
        </p:spPr>
        <p:txBody>
          <a:bodyPr wrap="square">
            <a:spAutoFit/>
          </a:bodyPr>
          <a:lstStyle/>
          <a:p>
            <a:pPr algn="l"/>
            <a:r>
              <a:rPr sz="900" b="0" i="0">
                <a:solidFill>
                  <a:srgbClr val="94A3B8"/>
                </a:solidFill>
              </a:rPr>
              <a:t>⚠  Python f-string with dictionary access inside a nested f-string caused a SyntaxError on Python 3.12+.</a:t>
            </a:r>
          </a:p>
        </p:txBody>
      </p:sp>
      <p:sp>
        <p:nvSpPr>
          <p:cNvPr id="19" name="Rectangle 18"/>
          <p:cNvSpPr/>
          <p:nvPr/>
        </p:nvSpPr>
        <p:spPr>
          <a:xfrm>
            <a:off x="6437376" y="2048256"/>
            <a:ext cx="5303520" cy="18288"/>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37376" y="2103120"/>
            <a:ext cx="5303520" cy="548640"/>
          </a:xfrm>
          <a:prstGeom prst="rect">
            <a:avLst/>
          </a:prstGeom>
          <a:noFill/>
        </p:spPr>
        <p:txBody>
          <a:bodyPr wrap="square">
            <a:spAutoFit/>
          </a:bodyPr>
          <a:lstStyle/>
          <a:p>
            <a:pPr algn="l"/>
            <a:r>
              <a:rPr sz="900" b="0" i="0">
                <a:solidFill>
                  <a:srgbClr val="A7F3D0"/>
                </a:solidFill>
              </a:rPr>
              <a:t>✔  Pre-computed the value into a variable before the outer f-string to eliminate nesting.</a:t>
            </a:r>
          </a:p>
        </p:txBody>
      </p:sp>
      <p:sp>
        <p:nvSpPr>
          <p:cNvPr id="21" name="Rounded Rectangle 20"/>
          <p:cNvSpPr/>
          <p:nvPr/>
        </p:nvSpPr>
        <p:spPr>
          <a:xfrm>
            <a:off x="274320" y="2880360"/>
            <a:ext cx="5669280" cy="1645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74320" y="2880360"/>
            <a:ext cx="109728" cy="16459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5488" y="2971800"/>
            <a:ext cx="5303520" cy="347472"/>
          </a:xfrm>
          <a:prstGeom prst="rect">
            <a:avLst/>
          </a:prstGeom>
          <a:noFill/>
        </p:spPr>
        <p:txBody>
          <a:bodyPr wrap="square">
            <a:spAutoFit/>
          </a:bodyPr>
          <a:lstStyle/>
          <a:p>
            <a:pPr algn="l"/>
            <a:r>
              <a:rPr sz="1200" b="1" i="0">
                <a:solidFill>
                  <a:srgbClr val="FFFFFF"/>
                </a:solidFill>
              </a:rPr>
              <a:t>SMTP State Loss on Page Refresh</a:t>
            </a:r>
          </a:p>
        </p:txBody>
      </p:sp>
      <p:sp>
        <p:nvSpPr>
          <p:cNvPr id="24" name="TextBox 23"/>
          <p:cNvSpPr txBox="1"/>
          <p:nvPr/>
        </p:nvSpPr>
        <p:spPr>
          <a:xfrm>
            <a:off x="475488" y="3337560"/>
            <a:ext cx="5303520" cy="475488"/>
          </a:xfrm>
          <a:prstGeom prst="rect">
            <a:avLst/>
          </a:prstGeom>
          <a:noFill/>
        </p:spPr>
        <p:txBody>
          <a:bodyPr wrap="square">
            <a:spAutoFit/>
          </a:bodyPr>
          <a:lstStyle/>
          <a:p>
            <a:pPr algn="l"/>
            <a:r>
              <a:rPr sz="900" b="0" i="0">
                <a:solidFill>
                  <a:srgbClr val="94A3B8"/>
                </a:solidFill>
              </a:rPr>
              <a:t>⚠  Streamlit session state doesn't persist across hard refreshes, losing SMTP configuration.</a:t>
            </a:r>
          </a:p>
        </p:txBody>
      </p:sp>
      <p:sp>
        <p:nvSpPr>
          <p:cNvPr id="25" name="Rectangle 24"/>
          <p:cNvSpPr/>
          <p:nvPr/>
        </p:nvSpPr>
        <p:spPr>
          <a:xfrm>
            <a:off x="475488" y="3831336"/>
            <a:ext cx="5303520" cy="18288"/>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75488" y="3886200"/>
            <a:ext cx="5303520" cy="548640"/>
          </a:xfrm>
          <a:prstGeom prst="rect">
            <a:avLst/>
          </a:prstGeom>
          <a:noFill/>
        </p:spPr>
        <p:txBody>
          <a:bodyPr wrap="square">
            <a:spAutoFit/>
          </a:bodyPr>
          <a:lstStyle/>
          <a:p>
            <a:pPr algn="l"/>
            <a:r>
              <a:rPr sz="900" b="0" i="0">
                <a:solidFill>
                  <a:srgbClr val="A7F3D0"/>
                </a:solidFill>
              </a:rPr>
              <a:t>✔  Added smtp_config.json persistence layer so settings survive restarts.</a:t>
            </a:r>
          </a:p>
        </p:txBody>
      </p:sp>
      <p:sp>
        <p:nvSpPr>
          <p:cNvPr id="27" name="Rounded Rectangle 26"/>
          <p:cNvSpPr/>
          <p:nvPr/>
        </p:nvSpPr>
        <p:spPr>
          <a:xfrm>
            <a:off x="6236208" y="2880360"/>
            <a:ext cx="5669280" cy="1645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880360"/>
            <a:ext cx="109728" cy="16459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971800"/>
            <a:ext cx="5303520" cy="347472"/>
          </a:xfrm>
          <a:prstGeom prst="rect">
            <a:avLst/>
          </a:prstGeom>
          <a:noFill/>
        </p:spPr>
        <p:txBody>
          <a:bodyPr wrap="square">
            <a:spAutoFit/>
          </a:bodyPr>
          <a:lstStyle/>
          <a:p>
            <a:pPr algn="l"/>
            <a:r>
              <a:rPr sz="1200" b="1" i="0">
                <a:solidFill>
                  <a:srgbClr val="FFFFFF"/>
                </a:solidFill>
              </a:rPr>
              <a:t>Expanders Hiding Issue Details</a:t>
            </a:r>
          </a:p>
        </p:txBody>
      </p:sp>
      <p:sp>
        <p:nvSpPr>
          <p:cNvPr id="30" name="TextBox 29"/>
          <p:cNvSpPr txBox="1"/>
          <p:nvPr/>
        </p:nvSpPr>
        <p:spPr>
          <a:xfrm>
            <a:off x="6437376" y="3337560"/>
            <a:ext cx="5303520" cy="475488"/>
          </a:xfrm>
          <a:prstGeom prst="rect">
            <a:avLst/>
          </a:prstGeom>
          <a:noFill/>
        </p:spPr>
        <p:txBody>
          <a:bodyPr wrap="square">
            <a:spAutoFit/>
          </a:bodyPr>
          <a:lstStyle/>
          <a:p>
            <a:pPr algn="l"/>
            <a:r>
              <a:rPr sz="900" b="0" i="0">
                <a:solidFill>
                  <a:srgbClr val="94A3B8"/>
                </a:solidFill>
              </a:rPr>
              <a:t>⚠  Original UI used Streamlit expanders for issues — testers had to click each one to read the suggestion.</a:t>
            </a:r>
          </a:p>
        </p:txBody>
      </p:sp>
      <p:sp>
        <p:nvSpPr>
          <p:cNvPr id="31" name="Rectangle 30"/>
          <p:cNvSpPr/>
          <p:nvPr/>
        </p:nvSpPr>
        <p:spPr>
          <a:xfrm>
            <a:off x="6437376" y="3831336"/>
            <a:ext cx="5303520" cy="18288"/>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37376" y="3886200"/>
            <a:ext cx="5303520" cy="548640"/>
          </a:xfrm>
          <a:prstGeom prst="rect">
            <a:avLst/>
          </a:prstGeom>
          <a:noFill/>
        </p:spPr>
        <p:txBody>
          <a:bodyPr wrap="square">
            <a:spAutoFit/>
          </a:bodyPr>
          <a:lstStyle/>
          <a:p>
            <a:pPr algn="l"/>
            <a:r>
              <a:rPr sz="900" b="0" i="0">
                <a:solidFill>
                  <a:srgbClr val="A7F3D0"/>
                </a:solidFill>
              </a:rPr>
              <a:t>✔  Redesigned to inline coloured left-border cards, showing all issue info at once.</a:t>
            </a:r>
          </a:p>
        </p:txBody>
      </p:sp>
      <p:sp>
        <p:nvSpPr>
          <p:cNvPr id="33" name="Rounded Rectangle 32"/>
          <p:cNvSpPr/>
          <p:nvPr/>
        </p:nvSpPr>
        <p:spPr>
          <a:xfrm>
            <a:off x="274320" y="4663440"/>
            <a:ext cx="5669280" cy="1645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4320" y="4663440"/>
            <a:ext cx="109728" cy="16459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75488" y="4754880"/>
            <a:ext cx="5303520" cy="347472"/>
          </a:xfrm>
          <a:prstGeom prst="rect">
            <a:avLst/>
          </a:prstGeom>
          <a:noFill/>
        </p:spPr>
        <p:txBody>
          <a:bodyPr wrap="square">
            <a:spAutoFit/>
          </a:bodyPr>
          <a:lstStyle/>
          <a:p>
            <a:pPr algn="l"/>
            <a:r>
              <a:rPr sz="1200" b="1" i="0">
                <a:solidFill>
                  <a:srgbClr val="FFFFFF"/>
                </a:solidFill>
              </a:rPr>
              <a:t>SQLite Upsert Race Condition</a:t>
            </a:r>
          </a:p>
        </p:txBody>
      </p:sp>
      <p:sp>
        <p:nvSpPr>
          <p:cNvPr id="36" name="TextBox 35"/>
          <p:cNvSpPr txBox="1"/>
          <p:nvPr/>
        </p:nvSpPr>
        <p:spPr>
          <a:xfrm>
            <a:off x="475488" y="5120640"/>
            <a:ext cx="5303520" cy="475488"/>
          </a:xfrm>
          <a:prstGeom prst="rect">
            <a:avLst/>
          </a:prstGeom>
          <a:noFill/>
        </p:spPr>
        <p:txBody>
          <a:bodyPr wrap="square">
            <a:spAutoFit/>
          </a:bodyPr>
          <a:lstStyle/>
          <a:p>
            <a:pPr algn="l"/>
            <a:r>
              <a:rPr sz="900" b="0" i="0">
                <a:solidFill>
                  <a:srgbClr val="94A3B8"/>
                </a:solidFill>
              </a:rPr>
              <a:t>⚠  Saving the same analysis ID twice raised an UNIQUE constraint error under test retries.</a:t>
            </a:r>
          </a:p>
        </p:txBody>
      </p:sp>
      <p:sp>
        <p:nvSpPr>
          <p:cNvPr id="37" name="Rectangle 36"/>
          <p:cNvSpPr/>
          <p:nvPr/>
        </p:nvSpPr>
        <p:spPr>
          <a:xfrm>
            <a:off x="475488" y="5614416"/>
            <a:ext cx="5303520" cy="18288"/>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75488" y="5669280"/>
            <a:ext cx="5303520" cy="548640"/>
          </a:xfrm>
          <a:prstGeom prst="rect">
            <a:avLst/>
          </a:prstGeom>
          <a:noFill/>
        </p:spPr>
        <p:txBody>
          <a:bodyPr wrap="square">
            <a:spAutoFit/>
          </a:bodyPr>
          <a:lstStyle/>
          <a:p>
            <a:pPr algn="l"/>
            <a:r>
              <a:rPr sz="900" b="0" i="0">
                <a:solidFill>
                  <a:srgbClr val="A7F3D0"/>
                </a:solidFill>
              </a:rPr>
              <a:t>✔  Changed INSERT to INSERT OR REPLACE (upsert) in save_analysis().</a:t>
            </a:r>
          </a:p>
        </p:txBody>
      </p:sp>
      <p:sp>
        <p:nvSpPr>
          <p:cNvPr id="39" name="Rounded Rectangle 38"/>
          <p:cNvSpPr/>
          <p:nvPr/>
        </p:nvSpPr>
        <p:spPr>
          <a:xfrm>
            <a:off x="6236208" y="4663440"/>
            <a:ext cx="5669280" cy="16459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236208" y="4663440"/>
            <a:ext cx="109728" cy="16459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37376" y="4754880"/>
            <a:ext cx="5303520" cy="347472"/>
          </a:xfrm>
          <a:prstGeom prst="rect">
            <a:avLst/>
          </a:prstGeom>
          <a:noFill/>
        </p:spPr>
        <p:txBody>
          <a:bodyPr wrap="square">
            <a:spAutoFit/>
          </a:bodyPr>
          <a:lstStyle/>
          <a:p>
            <a:pPr algn="l"/>
            <a:r>
              <a:rPr sz="1200" b="1" i="0">
                <a:solidFill>
                  <a:srgbClr val="FFFFFF"/>
                </a:solidFill>
              </a:rPr>
              <a:t>OpenAI Dependency in Tests</a:t>
            </a:r>
          </a:p>
        </p:txBody>
      </p:sp>
      <p:sp>
        <p:nvSpPr>
          <p:cNvPr id="42" name="TextBox 41"/>
          <p:cNvSpPr txBox="1"/>
          <p:nvPr/>
        </p:nvSpPr>
        <p:spPr>
          <a:xfrm>
            <a:off x="6437376" y="5120640"/>
            <a:ext cx="5303520" cy="475488"/>
          </a:xfrm>
          <a:prstGeom prst="rect">
            <a:avLst/>
          </a:prstGeom>
          <a:noFill/>
        </p:spPr>
        <p:txBody>
          <a:bodyPr wrap="square">
            <a:spAutoFit/>
          </a:bodyPr>
          <a:lstStyle/>
          <a:p>
            <a:pPr algn="l"/>
            <a:r>
              <a:rPr sz="900" b="0" i="0">
                <a:solidFill>
                  <a:srgbClr val="94A3B8"/>
                </a:solidFill>
              </a:rPr>
              <a:t>⚠  Tests failed if run in CI without an OPENAI_API_KEY set in the environment.</a:t>
            </a:r>
          </a:p>
        </p:txBody>
      </p:sp>
      <p:sp>
        <p:nvSpPr>
          <p:cNvPr id="43" name="Rectangle 42"/>
          <p:cNvSpPr/>
          <p:nvPr/>
        </p:nvSpPr>
        <p:spPr>
          <a:xfrm>
            <a:off x="6437376" y="5614416"/>
            <a:ext cx="5303520" cy="18288"/>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37376" y="5669280"/>
            <a:ext cx="5303520" cy="548640"/>
          </a:xfrm>
          <a:prstGeom prst="rect">
            <a:avLst/>
          </a:prstGeom>
          <a:noFill/>
        </p:spPr>
        <p:txBody>
          <a:bodyPr wrap="square">
            <a:spAutoFit/>
          </a:bodyPr>
          <a:lstStyle/>
          <a:p>
            <a:pPr algn="l"/>
            <a:r>
              <a:rPr sz="900" b="0" i="0">
                <a:solidFill>
                  <a:srgbClr val="A7F3D0"/>
                </a:solidFill>
              </a:rPr>
              <a:t>✔  Asserted rewrite.mode == 'local' in all tests so CI passes without an API key.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Future Enhancements</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Planned roadmap for BugLens v2.0+</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22</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274320" y="1097280"/>
            <a:ext cx="5669280" cy="16002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97280"/>
            <a:ext cx="566928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11480" y="1261872"/>
            <a:ext cx="10058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1280160"/>
            <a:ext cx="1005840" cy="237744"/>
          </a:xfrm>
          <a:prstGeom prst="rect">
            <a:avLst/>
          </a:prstGeom>
          <a:noFill/>
        </p:spPr>
        <p:txBody>
          <a:bodyPr wrap="square">
            <a:spAutoFit/>
          </a:bodyPr>
          <a:lstStyle/>
          <a:p>
            <a:pPr algn="ctr"/>
            <a:r>
              <a:rPr sz="800" b="1" i="0">
                <a:solidFill>
                  <a:srgbClr val="FFFFFF"/>
                </a:solidFill>
              </a:rPr>
              <a:t>Q3 2026</a:t>
            </a:r>
          </a:p>
        </p:txBody>
      </p:sp>
      <p:sp>
        <p:nvSpPr>
          <p:cNvPr id="13" name="TextBox 12"/>
          <p:cNvSpPr txBox="1"/>
          <p:nvPr/>
        </p:nvSpPr>
        <p:spPr>
          <a:xfrm>
            <a:off x="1554480" y="1207008"/>
            <a:ext cx="4251960" cy="384048"/>
          </a:xfrm>
          <a:prstGeom prst="rect">
            <a:avLst/>
          </a:prstGeom>
          <a:noFill/>
        </p:spPr>
        <p:txBody>
          <a:bodyPr wrap="square">
            <a:spAutoFit/>
          </a:bodyPr>
          <a:lstStyle/>
          <a:p>
            <a:pPr algn="l"/>
            <a:r>
              <a:rPr sz="1200" b="1" i="0">
                <a:solidFill>
                  <a:srgbClr val="FFFFFF"/>
                </a:solidFill>
              </a:rPr>
              <a:t>Jira / GitHub Integration</a:t>
            </a:r>
          </a:p>
        </p:txBody>
      </p:sp>
      <p:sp>
        <p:nvSpPr>
          <p:cNvPr id="14" name="TextBox 13"/>
          <p:cNvSpPr txBox="1"/>
          <p:nvPr/>
        </p:nvSpPr>
        <p:spPr>
          <a:xfrm>
            <a:off x="438912" y="1691640"/>
            <a:ext cx="5349240" cy="914400"/>
          </a:xfrm>
          <a:prstGeom prst="rect">
            <a:avLst/>
          </a:prstGeom>
          <a:noFill/>
        </p:spPr>
        <p:txBody>
          <a:bodyPr wrap="square">
            <a:spAutoFit/>
          </a:bodyPr>
          <a:lstStyle/>
          <a:p>
            <a:pPr algn="l"/>
            <a:r>
              <a:rPr sz="950" b="0" i="0">
                <a:solidFill>
                  <a:srgbClr val="94A3B8"/>
                </a:solidFill>
              </a:rPr>
              <a:t>Auto-create tickets with the rewritten report; two-way status sync; webhook trigger on new issue.</a:t>
            </a:r>
          </a:p>
        </p:txBody>
      </p:sp>
      <p:sp>
        <p:nvSpPr>
          <p:cNvPr id="15" name="Rounded Rectangle 14"/>
          <p:cNvSpPr/>
          <p:nvPr/>
        </p:nvSpPr>
        <p:spPr>
          <a:xfrm>
            <a:off x="6236208" y="1097280"/>
            <a:ext cx="5669280" cy="16002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36208" y="1097280"/>
            <a:ext cx="566928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73368" y="1261872"/>
            <a:ext cx="1005840" cy="2743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73368" y="1280160"/>
            <a:ext cx="1005840" cy="237744"/>
          </a:xfrm>
          <a:prstGeom prst="rect">
            <a:avLst/>
          </a:prstGeom>
          <a:noFill/>
        </p:spPr>
        <p:txBody>
          <a:bodyPr wrap="square">
            <a:spAutoFit/>
          </a:bodyPr>
          <a:lstStyle/>
          <a:p>
            <a:pPr algn="ctr"/>
            <a:r>
              <a:rPr sz="800" b="1" i="0">
                <a:solidFill>
                  <a:srgbClr val="FFFFFF"/>
                </a:solidFill>
              </a:rPr>
              <a:t>Q3 2026</a:t>
            </a:r>
          </a:p>
        </p:txBody>
      </p:sp>
      <p:sp>
        <p:nvSpPr>
          <p:cNvPr id="19" name="TextBox 18"/>
          <p:cNvSpPr txBox="1"/>
          <p:nvPr/>
        </p:nvSpPr>
        <p:spPr>
          <a:xfrm>
            <a:off x="7516368" y="1207008"/>
            <a:ext cx="4251960" cy="384048"/>
          </a:xfrm>
          <a:prstGeom prst="rect">
            <a:avLst/>
          </a:prstGeom>
          <a:noFill/>
        </p:spPr>
        <p:txBody>
          <a:bodyPr wrap="square">
            <a:spAutoFit/>
          </a:bodyPr>
          <a:lstStyle/>
          <a:p>
            <a:pPr algn="l"/>
            <a:r>
              <a:rPr sz="1200" b="1" i="0">
                <a:solidFill>
                  <a:srgbClr val="FFFFFF"/>
                </a:solidFill>
              </a:rPr>
              <a:t>Cloud Deployment</a:t>
            </a:r>
          </a:p>
        </p:txBody>
      </p:sp>
      <p:sp>
        <p:nvSpPr>
          <p:cNvPr id="20" name="TextBox 19"/>
          <p:cNvSpPr txBox="1"/>
          <p:nvPr/>
        </p:nvSpPr>
        <p:spPr>
          <a:xfrm>
            <a:off x="6400800" y="1691640"/>
            <a:ext cx="5349240" cy="914400"/>
          </a:xfrm>
          <a:prstGeom prst="rect">
            <a:avLst/>
          </a:prstGeom>
          <a:noFill/>
        </p:spPr>
        <p:txBody>
          <a:bodyPr wrap="square">
            <a:spAutoFit/>
          </a:bodyPr>
          <a:lstStyle/>
          <a:p>
            <a:pPr algn="l"/>
            <a:r>
              <a:rPr sz="950" b="0" i="0">
                <a:solidFill>
                  <a:srgbClr val="94A3B8"/>
                </a:solidFill>
              </a:rPr>
              <a:t>Dockerise app + API; deploy to AWS/GCP; add JWT auth and rate limiting.</a:t>
            </a:r>
          </a:p>
        </p:txBody>
      </p:sp>
      <p:sp>
        <p:nvSpPr>
          <p:cNvPr id="21" name="Rounded Rectangle 20"/>
          <p:cNvSpPr/>
          <p:nvPr/>
        </p:nvSpPr>
        <p:spPr>
          <a:xfrm>
            <a:off x="274320" y="2834640"/>
            <a:ext cx="5669280" cy="16002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74320" y="2834640"/>
            <a:ext cx="566928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11480" y="2999232"/>
            <a:ext cx="1005840" cy="2743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1480" y="3017520"/>
            <a:ext cx="1005840" cy="237744"/>
          </a:xfrm>
          <a:prstGeom prst="rect">
            <a:avLst/>
          </a:prstGeom>
          <a:noFill/>
        </p:spPr>
        <p:txBody>
          <a:bodyPr wrap="square">
            <a:spAutoFit/>
          </a:bodyPr>
          <a:lstStyle/>
          <a:p>
            <a:pPr algn="ctr"/>
            <a:r>
              <a:rPr sz="800" b="1" i="0">
                <a:solidFill>
                  <a:srgbClr val="FFFFFF"/>
                </a:solidFill>
              </a:rPr>
              <a:t>Q4 2026</a:t>
            </a:r>
          </a:p>
        </p:txBody>
      </p:sp>
      <p:sp>
        <p:nvSpPr>
          <p:cNvPr id="25" name="TextBox 24"/>
          <p:cNvSpPr txBox="1"/>
          <p:nvPr/>
        </p:nvSpPr>
        <p:spPr>
          <a:xfrm>
            <a:off x="1554480" y="2944368"/>
            <a:ext cx="4251960" cy="384048"/>
          </a:xfrm>
          <a:prstGeom prst="rect">
            <a:avLst/>
          </a:prstGeom>
          <a:noFill/>
        </p:spPr>
        <p:txBody>
          <a:bodyPr wrap="square">
            <a:spAutoFit/>
          </a:bodyPr>
          <a:lstStyle/>
          <a:p>
            <a:pPr algn="l"/>
            <a:r>
              <a:rPr sz="1200" b="1" i="0">
                <a:solidFill>
                  <a:srgbClr val="FFFFFF"/>
                </a:solidFill>
              </a:rPr>
              <a:t>Advanced AI Analysis</a:t>
            </a:r>
          </a:p>
        </p:txBody>
      </p:sp>
      <p:sp>
        <p:nvSpPr>
          <p:cNvPr id="26" name="TextBox 25"/>
          <p:cNvSpPr txBox="1"/>
          <p:nvPr/>
        </p:nvSpPr>
        <p:spPr>
          <a:xfrm>
            <a:off x="438912" y="3429000"/>
            <a:ext cx="5349240" cy="914400"/>
          </a:xfrm>
          <a:prstGeom prst="rect">
            <a:avLst/>
          </a:prstGeom>
          <a:noFill/>
        </p:spPr>
        <p:txBody>
          <a:bodyPr wrap="square">
            <a:spAutoFit/>
          </a:bodyPr>
          <a:lstStyle/>
          <a:p>
            <a:pPr algn="l"/>
            <a:r>
              <a:rPr sz="950" b="0" i="0">
                <a:solidFill>
                  <a:srgbClr val="94A3B8"/>
                </a:solidFill>
              </a:rPr>
              <a:t>Fine-tune an LLM on historical defect data; predict duplicate tickets; suggest related issues.</a:t>
            </a:r>
          </a:p>
        </p:txBody>
      </p:sp>
      <p:sp>
        <p:nvSpPr>
          <p:cNvPr id="27" name="Rounded Rectangle 26"/>
          <p:cNvSpPr/>
          <p:nvPr/>
        </p:nvSpPr>
        <p:spPr>
          <a:xfrm>
            <a:off x="6236208" y="2834640"/>
            <a:ext cx="5669280" cy="16002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834640"/>
            <a:ext cx="566928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373368" y="2999232"/>
            <a:ext cx="1005840" cy="2743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73368" y="3017520"/>
            <a:ext cx="1005840" cy="237744"/>
          </a:xfrm>
          <a:prstGeom prst="rect">
            <a:avLst/>
          </a:prstGeom>
          <a:noFill/>
        </p:spPr>
        <p:txBody>
          <a:bodyPr wrap="square">
            <a:spAutoFit/>
          </a:bodyPr>
          <a:lstStyle/>
          <a:p>
            <a:pPr algn="ctr"/>
            <a:r>
              <a:rPr sz="800" b="1" i="0">
                <a:solidFill>
                  <a:srgbClr val="FFFFFF"/>
                </a:solidFill>
              </a:rPr>
              <a:t>Q4 2026</a:t>
            </a:r>
          </a:p>
        </p:txBody>
      </p:sp>
      <p:sp>
        <p:nvSpPr>
          <p:cNvPr id="31" name="TextBox 30"/>
          <p:cNvSpPr txBox="1"/>
          <p:nvPr/>
        </p:nvSpPr>
        <p:spPr>
          <a:xfrm>
            <a:off x="7516368" y="2944368"/>
            <a:ext cx="4251960" cy="384048"/>
          </a:xfrm>
          <a:prstGeom prst="rect">
            <a:avLst/>
          </a:prstGeom>
          <a:noFill/>
        </p:spPr>
        <p:txBody>
          <a:bodyPr wrap="square">
            <a:spAutoFit/>
          </a:bodyPr>
          <a:lstStyle/>
          <a:p>
            <a:pPr algn="l"/>
            <a:r>
              <a:rPr sz="1200" b="1" i="0">
                <a:solidFill>
                  <a:srgbClr val="FFFFFF"/>
                </a:solidFill>
              </a:rPr>
              <a:t>Team Dashboard</a:t>
            </a:r>
          </a:p>
        </p:txBody>
      </p:sp>
      <p:sp>
        <p:nvSpPr>
          <p:cNvPr id="32" name="TextBox 31"/>
          <p:cNvSpPr txBox="1"/>
          <p:nvPr/>
        </p:nvSpPr>
        <p:spPr>
          <a:xfrm>
            <a:off x="6400800" y="3429000"/>
            <a:ext cx="5349240" cy="914400"/>
          </a:xfrm>
          <a:prstGeom prst="rect">
            <a:avLst/>
          </a:prstGeom>
          <a:noFill/>
        </p:spPr>
        <p:txBody>
          <a:bodyPr wrap="square">
            <a:spAutoFit/>
          </a:bodyPr>
          <a:lstStyle/>
          <a:p>
            <a:pPr algn="l"/>
            <a:r>
              <a:rPr sz="950" b="0" i="0">
                <a:solidFill>
                  <a:srgbClr val="94A3B8"/>
                </a:solidFill>
              </a:rPr>
              <a:t>Multi-user analytics; team-level quality scores; trend charts by project, sprint, and assignee.</a:t>
            </a:r>
          </a:p>
        </p:txBody>
      </p:sp>
      <p:sp>
        <p:nvSpPr>
          <p:cNvPr id="33" name="Rounded Rectangle 32"/>
          <p:cNvSpPr/>
          <p:nvPr/>
        </p:nvSpPr>
        <p:spPr>
          <a:xfrm>
            <a:off x="274320" y="4572000"/>
            <a:ext cx="5669280" cy="16002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4320" y="4572000"/>
            <a:ext cx="5669280"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411480" y="4736592"/>
            <a:ext cx="1005840" cy="2743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11480" y="4754880"/>
            <a:ext cx="1005840" cy="237744"/>
          </a:xfrm>
          <a:prstGeom prst="rect">
            <a:avLst/>
          </a:prstGeom>
          <a:noFill/>
        </p:spPr>
        <p:txBody>
          <a:bodyPr wrap="square">
            <a:spAutoFit/>
          </a:bodyPr>
          <a:lstStyle/>
          <a:p>
            <a:pPr algn="ctr"/>
            <a:r>
              <a:rPr sz="800" b="1" i="0">
                <a:solidFill>
                  <a:srgbClr val="FFFFFF"/>
                </a:solidFill>
              </a:rPr>
              <a:t>Q1 2027</a:t>
            </a:r>
          </a:p>
        </p:txBody>
      </p:sp>
      <p:sp>
        <p:nvSpPr>
          <p:cNvPr id="37" name="TextBox 36"/>
          <p:cNvSpPr txBox="1"/>
          <p:nvPr/>
        </p:nvSpPr>
        <p:spPr>
          <a:xfrm>
            <a:off x="1554480" y="4681728"/>
            <a:ext cx="4251960" cy="384048"/>
          </a:xfrm>
          <a:prstGeom prst="rect">
            <a:avLst/>
          </a:prstGeom>
          <a:noFill/>
        </p:spPr>
        <p:txBody>
          <a:bodyPr wrap="square">
            <a:spAutoFit/>
          </a:bodyPr>
          <a:lstStyle/>
          <a:p>
            <a:pPr algn="l"/>
            <a:r>
              <a:rPr sz="1200" b="1" i="0">
                <a:solidFill>
                  <a:srgbClr val="FFFFFF"/>
                </a:solidFill>
              </a:rPr>
              <a:t>Defect Prediction</a:t>
            </a:r>
          </a:p>
        </p:txBody>
      </p:sp>
      <p:sp>
        <p:nvSpPr>
          <p:cNvPr id="38" name="TextBox 37"/>
          <p:cNvSpPr txBox="1"/>
          <p:nvPr/>
        </p:nvSpPr>
        <p:spPr>
          <a:xfrm>
            <a:off x="438912" y="5166360"/>
            <a:ext cx="5349240" cy="914400"/>
          </a:xfrm>
          <a:prstGeom prst="rect">
            <a:avLst/>
          </a:prstGeom>
          <a:noFill/>
        </p:spPr>
        <p:txBody>
          <a:bodyPr wrap="square">
            <a:spAutoFit/>
          </a:bodyPr>
          <a:lstStyle/>
          <a:p>
            <a:pPr algn="l"/>
            <a:r>
              <a:rPr sz="950" b="0" i="0">
                <a:solidFill>
                  <a:srgbClr val="94A3B8"/>
                </a:solidFill>
              </a:rPr>
              <a:t>ML model that predicts which module a new defect affects based on description and environment.</a:t>
            </a:r>
          </a:p>
        </p:txBody>
      </p:sp>
      <p:sp>
        <p:nvSpPr>
          <p:cNvPr id="39" name="Rounded Rectangle 38"/>
          <p:cNvSpPr/>
          <p:nvPr/>
        </p:nvSpPr>
        <p:spPr>
          <a:xfrm>
            <a:off x="6236208" y="4572000"/>
            <a:ext cx="5669280" cy="16002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236208" y="4572000"/>
            <a:ext cx="566928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373368" y="4736592"/>
            <a:ext cx="1005840" cy="27432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73368" y="4754880"/>
            <a:ext cx="1005840" cy="237744"/>
          </a:xfrm>
          <a:prstGeom prst="rect">
            <a:avLst/>
          </a:prstGeom>
          <a:noFill/>
        </p:spPr>
        <p:txBody>
          <a:bodyPr wrap="square">
            <a:spAutoFit/>
          </a:bodyPr>
          <a:lstStyle/>
          <a:p>
            <a:pPr algn="ctr"/>
            <a:r>
              <a:rPr sz="800" b="1" i="0">
                <a:solidFill>
                  <a:srgbClr val="FFFFFF"/>
                </a:solidFill>
              </a:rPr>
              <a:t>Q1 2027</a:t>
            </a:r>
          </a:p>
        </p:txBody>
      </p:sp>
      <p:sp>
        <p:nvSpPr>
          <p:cNvPr id="43" name="TextBox 42"/>
          <p:cNvSpPr txBox="1"/>
          <p:nvPr/>
        </p:nvSpPr>
        <p:spPr>
          <a:xfrm>
            <a:off x="7516368" y="4681728"/>
            <a:ext cx="4251960" cy="384048"/>
          </a:xfrm>
          <a:prstGeom prst="rect">
            <a:avLst/>
          </a:prstGeom>
          <a:noFill/>
        </p:spPr>
        <p:txBody>
          <a:bodyPr wrap="square">
            <a:spAutoFit/>
          </a:bodyPr>
          <a:lstStyle/>
          <a:p>
            <a:pPr algn="l"/>
            <a:r>
              <a:rPr sz="1200" b="1" i="0">
                <a:solidFill>
                  <a:srgbClr val="FFFFFF"/>
                </a:solidFill>
              </a:rPr>
              <a:t>Domain-Specific Packs</a:t>
            </a:r>
          </a:p>
        </p:txBody>
      </p:sp>
      <p:sp>
        <p:nvSpPr>
          <p:cNvPr id="44" name="TextBox 43"/>
          <p:cNvSpPr txBox="1"/>
          <p:nvPr/>
        </p:nvSpPr>
        <p:spPr>
          <a:xfrm>
            <a:off x="6400800" y="5166360"/>
            <a:ext cx="5349240" cy="914400"/>
          </a:xfrm>
          <a:prstGeom prst="rect">
            <a:avLst/>
          </a:prstGeom>
          <a:noFill/>
        </p:spPr>
        <p:txBody>
          <a:bodyPr wrap="square">
            <a:spAutoFit/>
          </a:bodyPr>
          <a:lstStyle/>
          <a:p>
            <a:pPr algn="l"/>
            <a:r>
              <a:rPr sz="950" b="0" i="0">
                <a:solidFill>
                  <a:srgbClr val="94A3B8"/>
                </a:solidFill>
              </a:rPr>
              <a:t>Configurable validation rule packs per domain (mobile, API, web, IoT) with custom severity weights.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Key Learnings</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What this project taught across engineering disciplines</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23</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274320" y="1097280"/>
            <a:ext cx="5669280" cy="242316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74320" y="1097280"/>
            <a:ext cx="5669280" cy="4572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 y="1188720"/>
            <a:ext cx="5340096" cy="292608"/>
          </a:xfrm>
          <a:prstGeom prst="rect">
            <a:avLst/>
          </a:prstGeom>
          <a:noFill/>
        </p:spPr>
        <p:txBody>
          <a:bodyPr wrap="square">
            <a:spAutoFit/>
          </a:bodyPr>
          <a:lstStyle/>
          <a:p>
            <a:pPr algn="l"/>
            <a:r>
              <a:rPr sz="1300" b="1" i="0">
                <a:solidFill>
                  <a:srgbClr val="FFFFFF"/>
                </a:solidFill>
              </a:rPr>
              <a:t>Software Engineering</a:t>
            </a:r>
          </a:p>
        </p:txBody>
      </p:sp>
      <p:sp>
        <p:nvSpPr>
          <p:cNvPr id="12" name="Rectangle 11"/>
          <p:cNvSpPr/>
          <p:nvPr/>
        </p:nvSpPr>
        <p:spPr>
          <a:xfrm>
            <a:off x="411480" y="1691640"/>
            <a:ext cx="73152"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664208"/>
            <a:ext cx="5212080" cy="384048"/>
          </a:xfrm>
          <a:prstGeom prst="rect">
            <a:avLst/>
          </a:prstGeom>
          <a:noFill/>
        </p:spPr>
        <p:txBody>
          <a:bodyPr wrap="square">
            <a:spAutoFit/>
          </a:bodyPr>
          <a:lstStyle/>
          <a:p>
            <a:pPr algn="l"/>
            <a:r>
              <a:rPr sz="950" b="0" i="0">
                <a:solidFill>
                  <a:srgbClr val="94A3B8"/>
                </a:solidFill>
              </a:rPr>
              <a:t>Modular architecture with single-responsibility modules</a:t>
            </a:r>
          </a:p>
        </p:txBody>
      </p:sp>
      <p:sp>
        <p:nvSpPr>
          <p:cNvPr id="14" name="Rectangle 13"/>
          <p:cNvSpPr/>
          <p:nvPr/>
        </p:nvSpPr>
        <p:spPr>
          <a:xfrm>
            <a:off x="411480" y="2121408"/>
            <a:ext cx="73152"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2093976"/>
            <a:ext cx="5212080" cy="384048"/>
          </a:xfrm>
          <a:prstGeom prst="rect">
            <a:avLst/>
          </a:prstGeom>
          <a:noFill/>
        </p:spPr>
        <p:txBody>
          <a:bodyPr wrap="square">
            <a:spAutoFit/>
          </a:bodyPr>
          <a:lstStyle/>
          <a:p>
            <a:pPr algn="l"/>
            <a:r>
              <a:rPr sz="950" b="0" i="0">
                <a:solidFill>
                  <a:srgbClr val="94A3B8"/>
                </a:solidFill>
              </a:rPr>
              <a:t>Dataclass-based domain models (DefectReport, QualityScore)</a:t>
            </a:r>
          </a:p>
        </p:txBody>
      </p:sp>
      <p:sp>
        <p:nvSpPr>
          <p:cNvPr id="16" name="Rectangle 15"/>
          <p:cNvSpPr/>
          <p:nvPr/>
        </p:nvSpPr>
        <p:spPr>
          <a:xfrm>
            <a:off x="411480" y="2551176"/>
            <a:ext cx="73152"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2523744"/>
            <a:ext cx="5212080" cy="384048"/>
          </a:xfrm>
          <a:prstGeom prst="rect">
            <a:avLst/>
          </a:prstGeom>
          <a:noFill/>
        </p:spPr>
        <p:txBody>
          <a:bodyPr wrap="square">
            <a:spAutoFit/>
          </a:bodyPr>
          <a:lstStyle/>
          <a:p>
            <a:pPr algn="l"/>
            <a:r>
              <a:rPr sz="950" b="0" i="0">
                <a:solidFill>
                  <a:srgbClr val="94A3B8"/>
                </a:solidFill>
              </a:rPr>
              <a:t>Strategy pattern for AI vs local rewrite</a:t>
            </a:r>
          </a:p>
        </p:txBody>
      </p:sp>
      <p:sp>
        <p:nvSpPr>
          <p:cNvPr id="18" name="Rectangle 17"/>
          <p:cNvSpPr/>
          <p:nvPr/>
        </p:nvSpPr>
        <p:spPr>
          <a:xfrm>
            <a:off x="411480" y="2980944"/>
            <a:ext cx="73152"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953512"/>
            <a:ext cx="5212080" cy="384048"/>
          </a:xfrm>
          <a:prstGeom prst="rect">
            <a:avLst/>
          </a:prstGeom>
          <a:noFill/>
        </p:spPr>
        <p:txBody>
          <a:bodyPr wrap="square">
            <a:spAutoFit/>
          </a:bodyPr>
          <a:lstStyle/>
          <a:p>
            <a:pPr algn="l"/>
            <a:r>
              <a:rPr sz="950" b="0" i="0">
                <a:solidFill>
                  <a:srgbClr val="94A3B8"/>
                </a:solidFill>
              </a:rPr>
              <a:t>Stateless API design; in-process and REST share same engine</a:t>
            </a:r>
          </a:p>
        </p:txBody>
      </p:sp>
      <p:sp>
        <p:nvSpPr>
          <p:cNvPr id="20" name="Rounded Rectangle 19"/>
          <p:cNvSpPr/>
          <p:nvPr/>
        </p:nvSpPr>
        <p:spPr>
          <a:xfrm>
            <a:off x="6236208" y="1097280"/>
            <a:ext cx="5669280" cy="242316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36208" y="1097280"/>
            <a:ext cx="5669280" cy="4572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1188720"/>
            <a:ext cx="5340096" cy="292608"/>
          </a:xfrm>
          <a:prstGeom prst="rect">
            <a:avLst/>
          </a:prstGeom>
          <a:noFill/>
        </p:spPr>
        <p:txBody>
          <a:bodyPr wrap="square">
            <a:spAutoFit/>
          </a:bodyPr>
          <a:lstStyle/>
          <a:p>
            <a:pPr algn="l"/>
            <a:r>
              <a:rPr sz="1300" b="1" i="0">
                <a:solidFill>
                  <a:srgbClr val="FFFFFF"/>
                </a:solidFill>
              </a:rPr>
              <a:t>Testing &amp; QA</a:t>
            </a:r>
          </a:p>
        </p:txBody>
      </p:sp>
      <p:sp>
        <p:nvSpPr>
          <p:cNvPr id="23" name="Rectangle 22"/>
          <p:cNvSpPr/>
          <p:nvPr/>
        </p:nvSpPr>
        <p:spPr>
          <a:xfrm>
            <a:off x="6373368" y="1691640"/>
            <a:ext cx="73152" cy="2560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28816" y="1664208"/>
            <a:ext cx="5212080" cy="384048"/>
          </a:xfrm>
          <a:prstGeom prst="rect">
            <a:avLst/>
          </a:prstGeom>
          <a:noFill/>
        </p:spPr>
        <p:txBody>
          <a:bodyPr wrap="square">
            <a:spAutoFit/>
          </a:bodyPr>
          <a:lstStyle/>
          <a:p>
            <a:pPr algn="l"/>
            <a:r>
              <a:rPr sz="950" b="0" i="0">
                <a:solidFill>
                  <a:srgbClr val="94A3B8"/>
                </a:solidFill>
              </a:rPr>
              <a:t>Writing tests before writing the code (TDD approach)</a:t>
            </a:r>
          </a:p>
        </p:txBody>
      </p:sp>
      <p:sp>
        <p:nvSpPr>
          <p:cNvPr id="25" name="Rectangle 24"/>
          <p:cNvSpPr/>
          <p:nvPr/>
        </p:nvSpPr>
        <p:spPr>
          <a:xfrm>
            <a:off x="6373368" y="2121408"/>
            <a:ext cx="73152" cy="2560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28816" y="2093976"/>
            <a:ext cx="5212080" cy="384048"/>
          </a:xfrm>
          <a:prstGeom prst="rect">
            <a:avLst/>
          </a:prstGeom>
          <a:noFill/>
        </p:spPr>
        <p:txBody>
          <a:bodyPr wrap="square">
            <a:spAutoFit/>
          </a:bodyPr>
          <a:lstStyle/>
          <a:p>
            <a:pPr algn="l"/>
            <a:r>
              <a:rPr sz="950" b="0" i="0">
                <a:solidFill>
                  <a:srgbClr val="94A3B8"/>
                </a:solidFill>
              </a:rPr>
              <a:t>Importance of integration tests — caught 2 real bugs</a:t>
            </a:r>
          </a:p>
        </p:txBody>
      </p:sp>
      <p:sp>
        <p:nvSpPr>
          <p:cNvPr id="27" name="Rectangle 26"/>
          <p:cNvSpPr/>
          <p:nvPr/>
        </p:nvSpPr>
        <p:spPr>
          <a:xfrm>
            <a:off x="6373368" y="2551176"/>
            <a:ext cx="73152" cy="2560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28816" y="2523744"/>
            <a:ext cx="5212080" cy="384048"/>
          </a:xfrm>
          <a:prstGeom prst="rect">
            <a:avLst/>
          </a:prstGeom>
          <a:noFill/>
        </p:spPr>
        <p:txBody>
          <a:bodyPr wrap="square">
            <a:spAutoFit/>
          </a:bodyPr>
          <a:lstStyle/>
          <a:p>
            <a:pPr algn="l"/>
            <a:r>
              <a:rPr sz="950" b="0" i="0">
                <a:solidFill>
                  <a:srgbClr val="94A3B8"/>
                </a:solidFill>
              </a:rPr>
              <a:t>Regression suite as CI safety net</a:t>
            </a:r>
          </a:p>
        </p:txBody>
      </p:sp>
      <p:sp>
        <p:nvSpPr>
          <p:cNvPr id="29" name="Rectangle 28"/>
          <p:cNvSpPr/>
          <p:nvPr/>
        </p:nvSpPr>
        <p:spPr>
          <a:xfrm>
            <a:off x="6373368" y="2980944"/>
            <a:ext cx="73152" cy="2560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28816" y="2953512"/>
            <a:ext cx="5212080" cy="384048"/>
          </a:xfrm>
          <a:prstGeom prst="rect">
            <a:avLst/>
          </a:prstGeom>
          <a:noFill/>
        </p:spPr>
        <p:txBody>
          <a:bodyPr wrap="square">
            <a:spAutoFit/>
          </a:bodyPr>
          <a:lstStyle/>
          <a:p>
            <a:pPr algn="l"/>
            <a:r>
              <a:rPr sz="950" b="0" i="0">
                <a:solidFill>
                  <a:srgbClr val="94A3B8"/>
                </a:solidFill>
              </a:rPr>
              <a:t>V-Model: every design decision needs a test</a:t>
            </a:r>
          </a:p>
        </p:txBody>
      </p:sp>
      <p:sp>
        <p:nvSpPr>
          <p:cNvPr id="31" name="Rounded Rectangle 30"/>
          <p:cNvSpPr/>
          <p:nvPr/>
        </p:nvSpPr>
        <p:spPr>
          <a:xfrm>
            <a:off x="274320" y="3657600"/>
            <a:ext cx="5669280" cy="242316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274320" y="3657600"/>
            <a:ext cx="5669280" cy="4572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38912" y="3749040"/>
            <a:ext cx="5340096" cy="292608"/>
          </a:xfrm>
          <a:prstGeom prst="rect">
            <a:avLst/>
          </a:prstGeom>
          <a:noFill/>
        </p:spPr>
        <p:txBody>
          <a:bodyPr wrap="square">
            <a:spAutoFit/>
          </a:bodyPr>
          <a:lstStyle/>
          <a:p>
            <a:pPr algn="l"/>
            <a:r>
              <a:rPr sz="1300" b="1" i="0">
                <a:solidFill>
                  <a:srgbClr val="FFFFFF"/>
                </a:solidFill>
              </a:rPr>
              <a:t>API Development</a:t>
            </a:r>
          </a:p>
        </p:txBody>
      </p:sp>
      <p:sp>
        <p:nvSpPr>
          <p:cNvPr id="34" name="Rectangle 33"/>
          <p:cNvSpPr/>
          <p:nvPr/>
        </p:nvSpPr>
        <p:spPr>
          <a:xfrm>
            <a:off x="411480" y="4251960"/>
            <a:ext cx="73152" cy="2560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8" y="4224528"/>
            <a:ext cx="5212080" cy="384048"/>
          </a:xfrm>
          <a:prstGeom prst="rect">
            <a:avLst/>
          </a:prstGeom>
          <a:noFill/>
        </p:spPr>
        <p:txBody>
          <a:bodyPr wrap="square">
            <a:spAutoFit/>
          </a:bodyPr>
          <a:lstStyle/>
          <a:p>
            <a:pPr algn="l"/>
            <a:r>
              <a:rPr sz="950" b="0" i="0">
                <a:solidFill>
                  <a:srgbClr val="94A3B8"/>
                </a:solidFill>
              </a:rPr>
              <a:t>FastAPI route design, Pydantic validation, CORS</a:t>
            </a:r>
          </a:p>
        </p:txBody>
      </p:sp>
      <p:sp>
        <p:nvSpPr>
          <p:cNvPr id="36" name="Rectangle 35"/>
          <p:cNvSpPr/>
          <p:nvPr/>
        </p:nvSpPr>
        <p:spPr>
          <a:xfrm>
            <a:off x="411480" y="4681728"/>
            <a:ext cx="73152" cy="2560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66928" y="4654296"/>
            <a:ext cx="5212080" cy="384048"/>
          </a:xfrm>
          <a:prstGeom prst="rect">
            <a:avLst/>
          </a:prstGeom>
          <a:noFill/>
        </p:spPr>
        <p:txBody>
          <a:bodyPr wrap="square">
            <a:spAutoFit/>
          </a:bodyPr>
          <a:lstStyle/>
          <a:p>
            <a:pPr algn="l"/>
            <a:r>
              <a:rPr sz="950" b="0" i="0">
                <a:solidFill>
                  <a:srgbClr val="94A3B8"/>
                </a:solidFill>
              </a:rPr>
              <a:t>Auto-generated Swagger docs reduce documentation burden</a:t>
            </a:r>
          </a:p>
        </p:txBody>
      </p:sp>
      <p:sp>
        <p:nvSpPr>
          <p:cNvPr id="38" name="Rectangle 37"/>
          <p:cNvSpPr/>
          <p:nvPr/>
        </p:nvSpPr>
        <p:spPr>
          <a:xfrm>
            <a:off x="411480" y="5111496"/>
            <a:ext cx="73152" cy="2560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66928" y="5084064"/>
            <a:ext cx="5212080" cy="384048"/>
          </a:xfrm>
          <a:prstGeom prst="rect">
            <a:avLst/>
          </a:prstGeom>
          <a:noFill/>
        </p:spPr>
        <p:txBody>
          <a:bodyPr wrap="square">
            <a:spAutoFit/>
          </a:bodyPr>
          <a:lstStyle/>
          <a:p>
            <a:pPr algn="l"/>
            <a:r>
              <a:rPr sz="950" b="0" i="0">
                <a:solidFill>
                  <a:srgbClr val="94A3B8"/>
                </a:solidFill>
              </a:rPr>
              <a:t>TestClient for in-process endpoint testing</a:t>
            </a:r>
          </a:p>
        </p:txBody>
      </p:sp>
      <p:sp>
        <p:nvSpPr>
          <p:cNvPr id="40" name="Rectangle 39"/>
          <p:cNvSpPr/>
          <p:nvPr/>
        </p:nvSpPr>
        <p:spPr>
          <a:xfrm>
            <a:off x="411480" y="5541264"/>
            <a:ext cx="73152" cy="25603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66928" y="5513832"/>
            <a:ext cx="5212080" cy="384048"/>
          </a:xfrm>
          <a:prstGeom prst="rect">
            <a:avLst/>
          </a:prstGeom>
          <a:noFill/>
        </p:spPr>
        <p:txBody>
          <a:bodyPr wrap="square">
            <a:spAutoFit/>
          </a:bodyPr>
          <a:lstStyle/>
          <a:p>
            <a:pPr algn="l"/>
            <a:r>
              <a:rPr sz="950" b="0" i="0">
                <a:solidFill>
                  <a:srgbClr val="94A3B8"/>
                </a:solidFill>
              </a:rPr>
              <a:t>Graceful error codes (422 vs 404 vs 500)</a:t>
            </a:r>
          </a:p>
        </p:txBody>
      </p:sp>
      <p:sp>
        <p:nvSpPr>
          <p:cNvPr id="42" name="Rounded Rectangle 41"/>
          <p:cNvSpPr/>
          <p:nvPr/>
        </p:nvSpPr>
        <p:spPr>
          <a:xfrm>
            <a:off x="6236208" y="3657600"/>
            <a:ext cx="5669280" cy="242316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6236208" y="3657600"/>
            <a:ext cx="5669280" cy="4572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00800" y="3749040"/>
            <a:ext cx="5340096" cy="292608"/>
          </a:xfrm>
          <a:prstGeom prst="rect">
            <a:avLst/>
          </a:prstGeom>
          <a:noFill/>
        </p:spPr>
        <p:txBody>
          <a:bodyPr wrap="square">
            <a:spAutoFit/>
          </a:bodyPr>
          <a:lstStyle/>
          <a:p>
            <a:pPr algn="l"/>
            <a:r>
              <a:rPr sz="1300" b="1" i="0">
                <a:solidFill>
                  <a:srgbClr val="FFFFFF"/>
                </a:solidFill>
              </a:rPr>
              <a:t>QA Engineering Practices</a:t>
            </a:r>
          </a:p>
        </p:txBody>
      </p:sp>
      <p:sp>
        <p:nvSpPr>
          <p:cNvPr id="45" name="Rectangle 44"/>
          <p:cNvSpPr/>
          <p:nvPr/>
        </p:nvSpPr>
        <p:spPr>
          <a:xfrm>
            <a:off x="6373368" y="4251960"/>
            <a:ext cx="73152" cy="2560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528816" y="4224528"/>
            <a:ext cx="5212080" cy="384048"/>
          </a:xfrm>
          <a:prstGeom prst="rect">
            <a:avLst/>
          </a:prstGeom>
          <a:noFill/>
        </p:spPr>
        <p:txBody>
          <a:bodyPr wrap="square">
            <a:spAutoFit/>
          </a:bodyPr>
          <a:lstStyle/>
          <a:p>
            <a:pPr algn="l"/>
            <a:r>
              <a:rPr sz="950" b="0" i="0">
                <a:solidFill>
                  <a:srgbClr val="94A3B8"/>
                </a:solidFill>
              </a:rPr>
              <a:t>Deterministic scoring &gt; black-box AI for explainability</a:t>
            </a:r>
          </a:p>
        </p:txBody>
      </p:sp>
      <p:sp>
        <p:nvSpPr>
          <p:cNvPr id="47" name="Rectangle 46"/>
          <p:cNvSpPr/>
          <p:nvPr/>
        </p:nvSpPr>
        <p:spPr>
          <a:xfrm>
            <a:off x="6373368" y="4681728"/>
            <a:ext cx="73152" cy="2560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528816" y="4654296"/>
            <a:ext cx="5212080" cy="384048"/>
          </a:xfrm>
          <a:prstGeom prst="rect">
            <a:avLst/>
          </a:prstGeom>
          <a:noFill/>
        </p:spPr>
        <p:txBody>
          <a:bodyPr wrap="square">
            <a:spAutoFit/>
          </a:bodyPr>
          <a:lstStyle/>
          <a:p>
            <a:pPr algn="l"/>
            <a:r>
              <a:rPr sz="950" b="0" i="0">
                <a:solidFill>
                  <a:srgbClr val="94A3B8"/>
                </a:solidFill>
              </a:rPr>
              <a:t>Actionable issue messages — not just 'error found'</a:t>
            </a:r>
          </a:p>
        </p:txBody>
      </p:sp>
      <p:sp>
        <p:nvSpPr>
          <p:cNvPr id="49" name="Rectangle 48"/>
          <p:cNvSpPr/>
          <p:nvPr/>
        </p:nvSpPr>
        <p:spPr>
          <a:xfrm>
            <a:off x="6373368" y="5111496"/>
            <a:ext cx="73152" cy="2560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28816" y="5084064"/>
            <a:ext cx="5212080" cy="384048"/>
          </a:xfrm>
          <a:prstGeom prst="rect">
            <a:avLst/>
          </a:prstGeom>
          <a:noFill/>
        </p:spPr>
        <p:txBody>
          <a:bodyPr wrap="square">
            <a:spAutoFit/>
          </a:bodyPr>
          <a:lstStyle/>
          <a:p>
            <a:pPr algn="l"/>
            <a:r>
              <a:rPr sz="950" b="0" i="0">
                <a:solidFill>
                  <a:srgbClr val="94A3B8"/>
                </a:solidFill>
              </a:rPr>
              <a:t>UAT personas map to real user roles in agile teams</a:t>
            </a:r>
          </a:p>
        </p:txBody>
      </p:sp>
      <p:sp>
        <p:nvSpPr>
          <p:cNvPr id="51" name="Rectangle 50"/>
          <p:cNvSpPr/>
          <p:nvPr/>
        </p:nvSpPr>
        <p:spPr>
          <a:xfrm>
            <a:off x="6373368" y="5541264"/>
            <a:ext cx="73152" cy="2560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528816" y="5513832"/>
            <a:ext cx="5212080" cy="384048"/>
          </a:xfrm>
          <a:prstGeom prst="rect">
            <a:avLst/>
          </a:prstGeom>
          <a:noFill/>
        </p:spPr>
        <p:txBody>
          <a:bodyPr wrap="square">
            <a:spAutoFit/>
          </a:bodyPr>
          <a:lstStyle/>
          <a:p>
            <a:pPr algn="l"/>
            <a:r>
              <a:rPr sz="950" b="0" i="0">
                <a:solidFill>
                  <a:srgbClr val="94A3B8"/>
                </a:solidFill>
              </a:rPr>
              <a:t>Defect triage: fix vs accept vs schedule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73152"/>
            <a:ext cx="9144000" cy="457200"/>
          </a:xfrm>
          <a:prstGeom prst="rect">
            <a:avLst/>
          </a:prstGeom>
          <a:noFill/>
        </p:spPr>
        <p:txBody>
          <a:bodyPr wrap="square">
            <a:spAutoFit/>
          </a:bodyPr>
          <a:lstStyle/>
          <a:p>
            <a:pPr algn="l"/>
            <a:r>
              <a:rPr sz="2600" b="1" i="0">
                <a:solidFill>
                  <a:srgbClr val="FFFFFF"/>
                </a:solidFill>
              </a:rPr>
              <a:t>Conclusion</a:t>
            </a:r>
          </a:p>
        </p:txBody>
      </p:sp>
      <p:sp>
        <p:nvSpPr>
          <p:cNvPr id="5" name="TextBox 4"/>
          <p:cNvSpPr txBox="1"/>
          <p:nvPr/>
        </p:nvSpPr>
        <p:spPr>
          <a:xfrm>
            <a:off x="320040" y="512064"/>
            <a:ext cx="9144000" cy="347472"/>
          </a:xfrm>
          <a:prstGeom prst="rect">
            <a:avLst/>
          </a:prstGeom>
          <a:noFill/>
        </p:spPr>
        <p:txBody>
          <a:bodyPr wrap="square">
            <a:spAutoFit/>
          </a:bodyPr>
          <a:lstStyle/>
          <a:p>
            <a:pPr algn="l"/>
            <a:r>
              <a:rPr sz="1200" b="0" i="0">
                <a:solidFill>
                  <a:srgbClr val="94A3B8"/>
                </a:solidFill>
              </a:rPr>
              <a:t>BugLens — from problem to production-ready platform</a:t>
            </a:r>
          </a:p>
        </p:txBody>
      </p:sp>
      <p:sp>
        <p:nvSpPr>
          <p:cNvPr id="6" name="TextBox 5"/>
          <p:cNvSpPr txBox="1"/>
          <p:nvPr/>
        </p:nvSpPr>
        <p:spPr>
          <a:xfrm>
            <a:off x="11430000" y="274320"/>
            <a:ext cx="731520" cy="365760"/>
          </a:xfrm>
          <a:prstGeom prst="rect">
            <a:avLst/>
          </a:prstGeom>
          <a:noFill/>
        </p:spPr>
        <p:txBody>
          <a:bodyPr wrap="square">
            <a:spAutoFit/>
          </a:bodyPr>
          <a:lstStyle/>
          <a:p>
            <a:pPr algn="r"/>
            <a:r>
              <a:rPr sz="1100" b="0" i="0">
                <a:solidFill>
                  <a:srgbClr val="475569"/>
                </a:solidFill>
              </a:rPr>
              <a:t>24</a:t>
            </a:r>
          </a:p>
        </p:txBody>
      </p:sp>
      <p:sp>
        <p:nvSpPr>
          <p:cNvPr id="7" name="Rectangle 6"/>
          <p:cNvSpPr/>
          <p:nvPr/>
        </p:nvSpPr>
        <p:spPr>
          <a:xfrm>
            <a:off x="0" y="6601968"/>
            <a:ext cx="12191695"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6620256"/>
            <a:ext cx="5486400" cy="219456"/>
          </a:xfrm>
          <a:prstGeom prst="rect">
            <a:avLst/>
          </a:prstGeom>
          <a:noFill/>
        </p:spPr>
        <p:txBody>
          <a:bodyPr wrap="square">
            <a:spAutoFit/>
          </a:bodyPr>
          <a:lstStyle/>
          <a:p>
            <a:pPr algn="l"/>
            <a:r>
              <a:rPr sz="800" b="0" i="0">
                <a:solidFill>
                  <a:srgbClr val="475569"/>
                </a:solidFill>
              </a:rPr>
              <a:t>BugLens – Defect Quality Checker</a:t>
            </a:r>
          </a:p>
        </p:txBody>
      </p:sp>
      <p:sp>
        <p:nvSpPr>
          <p:cNvPr id="9" name="Rounded Rectangle 8"/>
          <p:cNvSpPr/>
          <p:nvPr/>
        </p:nvSpPr>
        <p:spPr>
          <a:xfrm>
            <a:off x="274320" y="1051560"/>
            <a:ext cx="2103120" cy="13716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51560"/>
            <a:ext cx="210312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188720"/>
            <a:ext cx="1828800" cy="548640"/>
          </a:xfrm>
          <a:prstGeom prst="rect">
            <a:avLst/>
          </a:prstGeom>
          <a:noFill/>
        </p:spPr>
        <p:txBody>
          <a:bodyPr wrap="square">
            <a:spAutoFit/>
          </a:bodyPr>
          <a:lstStyle/>
          <a:p>
            <a:pPr algn="ctr"/>
            <a:r>
              <a:rPr sz="2800" b="1" i="0">
                <a:solidFill>
                  <a:srgbClr val="059669"/>
                </a:solidFill>
              </a:rPr>
              <a:t>216</a:t>
            </a:r>
          </a:p>
        </p:txBody>
      </p:sp>
      <p:sp>
        <p:nvSpPr>
          <p:cNvPr id="12" name="TextBox 11"/>
          <p:cNvSpPr txBox="1"/>
          <p:nvPr/>
        </p:nvSpPr>
        <p:spPr>
          <a:xfrm>
            <a:off x="365760" y="1709928"/>
            <a:ext cx="1920240" cy="274320"/>
          </a:xfrm>
          <a:prstGeom prst="rect">
            <a:avLst/>
          </a:prstGeom>
          <a:noFill/>
        </p:spPr>
        <p:txBody>
          <a:bodyPr wrap="square">
            <a:spAutoFit/>
          </a:bodyPr>
          <a:lstStyle/>
          <a:p>
            <a:pPr algn="ctr"/>
            <a:r>
              <a:rPr sz="1000" b="1" i="0">
                <a:solidFill>
                  <a:srgbClr val="FFFFFF"/>
                </a:solidFill>
              </a:rPr>
              <a:t>Total Test Cases</a:t>
            </a:r>
          </a:p>
        </p:txBody>
      </p:sp>
      <p:sp>
        <p:nvSpPr>
          <p:cNvPr id="13" name="TextBox 12"/>
          <p:cNvSpPr txBox="1"/>
          <p:nvPr/>
        </p:nvSpPr>
        <p:spPr>
          <a:xfrm>
            <a:off x="365760" y="1947672"/>
            <a:ext cx="1920240" cy="320040"/>
          </a:xfrm>
          <a:prstGeom prst="rect">
            <a:avLst/>
          </a:prstGeom>
          <a:noFill/>
        </p:spPr>
        <p:txBody>
          <a:bodyPr wrap="square">
            <a:spAutoFit/>
          </a:bodyPr>
          <a:lstStyle/>
          <a:p>
            <a:pPr algn="ctr"/>
            <a:r>
              <a:rPr sz="800" b="0" i="0">
                <a:solidFill>
                  <a:srgbClr val="94A3B8"/>
                </a:solidFill>
              </a:rPr>
              <a:t>Across 5 testing types</a:t>
            </a:r>
          </a:p>
        </p:txBody>
      </p:sp>
      <p:sp>
        <p:nvSpPr>
          <p:cNvPr id="14" name="Rounded Rectangle 13"/>
          <p:cNvSpPr/>
          <p:nvPr/>
        </p:nvSpPr>
        <p:spPr>
          <a:xfrm>
            <a:off x="2514600" y="1051560"/>
            <a:ext cx="2103120" cy="13716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14600" y="1051560"/>
            <a:ext cx="210312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651760" y="1188720"/>
            <a:ext cx="1828800" cy="548640"/>
          </a:xfrm>
          <a:prstGeom prst="rect">
            <a:avLst/>
          </a:prstGeom>
          <a:noFill/>
        </p:spPr>
        <p:txBody>
          <a:bodyPr wrap="square">
            <a:spAutoFit/>
          </a:bodyPr>
          <a:lstStyle/>
          <a:p>
            <a:pPr algn="ctr"/>
            <a:r>
              <a:rPr sz="2800" b="1" i="0">
                <a:solidFill>
                  <a:srgbClr val="059669"/>
                </a:solidFill>
              </a:rPr>
              <a:t>100%</a:t>
            </a:r>
          </a:p>
        </p:txBody>
      </p:sp>
      <p:sp>
        <p:nvSpPr>
          <p:cNvPr id="17" name="TextBox 16"/>
          <p:cNvSpPr txBox="1"/>
          <p:nvPr/>
        </p:nvSpPr>
        <p:spPr>
          <a:xfrm>
            <a:off x="2606040" y="1709928"/>
            <a:ext cx="1920240" cy="274320"/>
          </a:xfrm>
          <a:prstGeom prst="rect">
            <a:avLst/>
          </a:prstGeom>
          <a:noFill/>
        </p:spPr>
        <p:txBody>
          <a:bodyPr wrap="square">
            <a:spAutoFit/>
          </a:bodyPr>
          <a:lstStyle/>
          <a:p>
            <a:pPr algn="ctr"/>
            <a:r>
              <a:rPr sz="1000" b="1" i="0">
                <a:solidFill>
                  <a:srgbClr val="FFFFFF"/>
                </a:solidFill>
              </a:rPr>
              <a:t>Pass Rate</a:t>
            </a:r>
          </a:p>
        </p:txBody>
      </p:sp>
      <p:sp>
        <p:nvSpPr>
          <p:cNvPr id="18" name="TextBox 17"/>
          <p:cNvSpPr txBox="1"/>
          <p:nvPr/>
        </p:nvSpPr>
        <p:spPr>
          <a:xfrm>
            <a:off x="2606040" y="1947672"/>
            <a:ext cx="1920240" cy="320040"/>
          </a:xfrm>
          <a:prstGeom prst="rect">
            <a:avLst/>
          </a:prstGeom>
          <a:noFill/>
        </p:spPr>
        <p:txBody>
          <a:bodyPr wrap="square">
            <a:spAutoFit/>
          </a:bodyPr>
          <a:lstStyle/>
          <a:p>
            <a:pPr algn="ctr"/>
            <a:r>
              <a:rPr sz="800" b="0" i="0">
                <a:solidFill>
                  <a:srgbClr val="94A3B8"/>
                </a:solidFill>
              </a:rPr>
              <a:t>Zero open critical defects</a:t>
            </a:r>
          </a:p>
        </p:txBody>
      </p:sp>
      <p:sp>
        <p:nvSpPr>
          <p:cNvPr id="19" name="Rounded Rectangle 18"/>
          <p:cNvSpPr/>
          <p:nvPr/>
        </p:nvSpPr>
        <p:spPr>
          <a:xfrm>
            <a:off x="4754880" y="1051560"/>
            <a:ext cx="2103120" cy="13716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754880" y="1051560"/>
            <a:ext cx="21031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92040" y="1188720"/>
            <a:ext cx="1828800" cy="548640"/>
          </a:xfrm>
          <a:prstGeom prst="rect">
            <a:avLst/>
          </a:prstGeom>
          <a:noFill/>
        </p:spPr>
        <p:txBody>
          <a:bodyPr wrap="square">
            <a:spAutoFit/>
          </a:bodyPr>
          <a:lstStyle/>
          <a:p>
            <a:pPr algn="ctr"/>
            <a:r>
              <a:rPr sz="2800" b="1" i="0">
                <a:solidFill>
                  <a:srgbClr val="2563EB"/>
                </a:solidFill>
              </a:rPr>
              <a:t>8</a:t>
            </a:r>
          </a:p>
        </p:txBody>
      </p:sp>
      <p:sp>
        <p:nvSpPr>
          <p:cNvPr id="22" name="TextBox 21"/>
          <p:cNvSpPr txBox="1"/>
          <p:nvPr/>
        </p:nvSpPr>
        <p:spPr>
          <a:xfrm>
            <a:off x="4846320" y="1709928"/>
            <a:ext cx="1920240" cy="274320"/>
          </a:xfrm>
          <a:prstGeom prst="rect">
            <a:avLst/>
          </a:prstGeom>
          <a:noFill/>
        </p:spPr>
        <p:txBody>
          <a:bodyPr wrap="square">
            <a:spAutoFit/>
          </a:bodyPr>
          <a:lstStyle/>
          <a:p>
            <a:pPr algn="ctr"/>
            <a:r>
              <a:rPr sz="1000" b="1" i="0">
                <a:solidFill>
                  <a:srgbClr val="FFFFFF"/>
                </a:solidFill>
              </a:rPr>
              <a:t>API Endpoints</a:t>
            </a:r>
          </a:p>
        </p:txBody>
      </p:sp>
      <p:sp>
        <p:nvSpPr>
          <p:cNvPr id="23" name="TextBox 22"/>
          <p:cNvSpPr txBox="1"/>
          <p:nvPr/>
        </p:nvSpPr>
        <p:spPr>
          <a:xfrm>
            <a:off x="4846320" y="1947672"/>
            <a:ext cx="1920240" cy="320040"/>
          </a:xfrm>
          <a:prstGeom prst="rect">
            <a:avLst/>
          </a:prstGeom>
          <a:noFill/>
        </p:spPr>
        <p:txBody>
          <a:bodyPr wrap="square">
            <a:spAutoFit/>
          </a:bodyPr>
          <a:lstStyle/>
          <a:p>
            <a:pPr algn="ctr"/>
            <a:r>
              <a:rPr sz="800" b="0" i="0">
                <a:solidFill>
                  <a:srgbClr val="94A3B8"/>
                </a:solidFill>
              </a:rPr>
              <a:t>Fully tested &amp; documented</a:t>
            </a:r>
          </a:p>
        </p:txBody>
      </p:sp>
      <p:sp>
        <p:nvSpPr>
          <p:cNvPr id="24" name="Rounded Rectangle 23"/>
          <p:cNvSpPr/>
          <p:nvPr/>
        </p:nvSpPr>
        <p:spPr>
          <a:xfrm>
            <a:off x="6995160" y="1051560"/>
            <a:ext cx="2103120" cy="13716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995160" y="1051560"/>
            <a:ext cx="210312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32320" y="1188720"/>
            <a:ext cx="1828800" cy="548640"/>
          </a:xfrm>
          <a:prstGeom prst="rect">
            <a:avLst/>
          </a:prstGeom>
          <a:noFill/>
        </p:spPr>
        <p:txBody>
          <a:bodyPr wrap="square">
            <a:spAutoFit/>
          </a:bodyPr>
          <a:lstStyle/>
          <a:p>
            <a:pPr algn="ctr"/>
            <a:r>
              <a:rPr sz="2800" b="1" i="0">
                <a:solidFill>
                  <a:srgbClr val="7C3AED"/>
                </a:solidFill>
              </a:rPr>
              <a:t>6</a:t>
            </a:r>
          </a:p>
        </p:txBody>
      </p:sp>
      <p:sp>
        <p:nvSpPr>
          <p:cNvPr id="27" name="TextBox 26"/>
          <p:cNvSpPr txBox="1"/>
          <p:nvPr/>
        </p:nvSpPr>
        <p:spPr>
          <a:xfrm>
            <a:off x="7086600" y="1709928"/>
            <a:ext cx="1920240" cy="274320"/>
          </a:xfrm>
          <a:prstGeom prst="rect">
            <a:avLst/>
          </a:prstGeom>
          <a:noFill/>
        </p:spPr>
        <p:txBody>
          <a:bodyPr wrap="square">
            <a:spAutoFit/>
          </a:bodyPr>
          <a:lstStyle/>
          <a:p>
            <a:pPr algn="ctr"/>
            <a:r>
              <a:rPr sz="1000" b="1" i="0">
                <a:solidFill>
                  <a:srgbClr val="FFFFFF"/>
                </a:solidFill>
              </a:rPr>
              <a:t>Modules</a:t>
            </a:r>
          </a:p>
        </p:txBody>
      </p:sp>
      <p:sp>
        <p:nvSpPr>
          <p:cNvPr id="28" name="TextBox 27"/>
          <p:cNvSpPr txBox="1"/>
          <p:nvPr/>
        </p:nvSpPr>
        <p:spPr>
          <a:xfrm>
            <a:off x="7086600" y="1947672"/>
            <a:ext cx="1920240" cy="320040"/>
          </a:xfrm>
          <a:prstGeom prst="rect">
            <a:avLst/>
          </a:prstGeom>
          <a:noFill/>
        </p:spPr>
        <p:txBody>
          <a:bodyPr wrap="square">
            <a:spAutoFit/>
          </a:bodyPr>
          <a:lstStyle/>
          <a:p>
            <a:pPr algn="ctr"/>
            <a:r>
              <a:rPr sz="800" b="0" i="0">
                <a:solidFill>
                  <a:srgbClr val="94A3B8"/>
                </a:solidFill>
              </a:rPr>
              <a:t>Independent &amp; testable</a:t>
            </a:r>
          </a:p>
        </p:txBody>
      </p:sp>
      <p:sp>
        <p:nvSpPr>
          <p:cNvPr id="29" name="Rounded Rectangle 28"/>
          <p:cNvSpPr/>
          <p:nvPr/>
        </p:nvSpPr>
        <p:spPr>
          <a:xfrm>
            <a:off x="9235440" y="1051560"/>
            <a:ext cx="2651760" cy="137160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235440" y="1051560"/>
            <a:ext cx="265176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372600" y="1188720"/>
            <a:ext cx="2377440" cy="548640"/>
          </a:xfrm>
          <a:prstGeom prst="rect">
            <a:avLst/>
          </a:prstGeom>
          <a:noFill/>
        </p:spPr>
        <p:txBody>
          <a:bodyPr wrap="square">
            <a:spAutoFit/>
          </a:bodyPr>
          <a:lstStyle/>
          <a:p>
            <a:pPr algn="ctr"/>
            <a:r>
              <a:rPr sz="2800" b="1" i="0">
                <a:solidFill>
                  <a:srgbClr val="06B6D4"/>
                </a:solidFill>
              </a:rPr>
              <a:t>&lt; 2s</a:t>
            </a:r>
          </a:p>
        </p:txBody>
      </p:sp>
      <p:sp>
        <p:nvSpPr>
          <p:cNvPr id="32" name="TextBox 31"/>
          <p:cNvSpPr txBox="1"/>
          <p:nvPr/>
        </p:nvSpPr>
        <p:spPr>
          <a:xfrm>
            <a:off x="9326880" y="1709928"/>
            <a:ext cx="2468880" cy="274320"/>
          </a:xfrm>
          <a:prstGeom prst="rect">
            <a:avLst/>
          </a:prstGeom>
          <a:noFill/>
        </p:spPr>
        <p:txBody>
          <a:bodyPr wrap="square">
            <a:spAutoFit/>
          </a:bodyPr>
          <a:lstStyle/>
          <a:p>
            <a:pPr algn="ctr"/>
            <a:r>
              <a:rPr sz="1000" b="1" i="0">
                <a:solidFill>
                  <a:srgbClr val="FFFFFF"/>
                </a:solidFill>
              </a:rPr>
              <a:t>Response Time</a:t>
            </a:r>
          </a:p>
        </p:txBody>
      </p:sp>
      <p:sp>
        <p:nvSpPr>
          <p:cNvPr id="33" name="TextBox 32"/>
          <p:cNvSpPr txBox="1"/>
          <p:nvPr/>
        </p:nvSpPr>
        <p:spPr>
          <a:xfrm>
            <a:off x="9326880" y="1947672"/>
            <a:ext cx="2468880" cy="320040"/>
          </a:xfrm>
          <a:prstGeom prst="rect">
            <a:avLst/>
          </a:prstGeom>
          <a:noFill/>
        </p:spPr>
        <p:txBody>
          <a:bodyPr wrap="square">
            <a:spAutoFit/>
          </a:bodyPr>
          <a:lstStyle/>
          <a:p>
            <a:pPr algn="ctr"/>
            <a:r>
              <a:rPr sz="800" b="0" i="0">
                <a:solidFill>
                  <a:srgbClr val="94A3B8"/>
                </a:solidFill>
              </a:rPr>
              <a:t>Local mode performance</a:t>
            </a:r>
          </a:p>
        </p:txBody>
      </p:sp>
      <p:sp>
        <p:nvSpPr>
          <p:cNvPr id="34" name="Rounded Rectangle 33"/>
          <p:cNvSpPr/>
          <p:nvPr/>
        </p:nvSpPr>
        <p:spPr>
          <a:xfrm>
            <a:off x="274320" y="2606040"/>
            <a:ext cx="2743200" cy="3474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4320" y="2606040"/>
            <a:ext cx="274320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1234440" y="2788920"/>
            <a:ext cx="822960" cy="8229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234440" y="2807208"/>
            <a:ext cx="822960" cy="731520"/>
          </a:xfrm>
          <a:prstGeom prst="rect">
            <a:avLst/>
          </a:prstGeom>
          <a:noFill/>
        </p:spPr>
        <p:txBody>
          <a:bodyPr wrap="square">
            <a:spAutoFit/>
          </a:bodyPr>
          <a:lstStyle/>
          <a:p>
            <a:pPr algn="ctr"/>
            <a:r>
              <a:rPr sz="2200" b="1" i="0">
                <a:solidFill>
                  <a:srgbClr val="FFFFFF"/>
                </a:solidFill>
              </a:rPr>
              <a:t>✦</a:t>
            </a:r>
          </a:p>
        </p:txBody>
      </p:sp>
      <p:sp>
        <p:nvSpPr>
          <p:cNvPr id="38" name="TextBox 37"/>
          <p:cNvSpPr txBox="1"/>
          <p:nvPr/>
        </p:nvSpPr>
        <p:spPr>
          <a:xfrm>
            <a:off x="411480" y="3776472"/>
            <a:ext cx="2468880" cy="384048"/>
          </a:xfrm>
          <a:prstGeom prst="rect">
            <a:avLst/>
          </a:prstGeom>
          <a:noFill/>
        </p:spPr>
        <p:txBody>
          <a:bodyPr wrap="square">
            <a:spAutoFit/>
          </a:bodyPr>
          <a:lstStyle/>
          <a:p>
            <a:pPr algn="ctr"/>
            <a:r>
              <a:rPr sz="1300" b="1" i="0">
                <a:solidFill>
                  <a:srgbClr val="FFFFFF"/>
                </a:solidFill>
              </a:rPr>
              <a:t>Problem Solved</a:t>
            </a:r>
          </a:p>
        </p:txBody>
      </p:sp>
      <p:sp>
        <p:nvSpPr>
          <p:cNvPr id="39" name="TextBox 38"/>
          <p:cNvSpPr txBox="1"/>
          <p:nvPr/>
        </p:nvSpPr>
        <p:spPr>
          <a:xfrm>
            <a:off x="411480" y="4206240"/>
            <a:ext cx="2468880" cy="1737360"/>
          </a:xfrm>
          <a:prstGeom prst="rect">
            <a:avLst/>
          </a:prstGeom>
          <a:noFill/>
        </p:spPr>
        <p:txBody>
          <a:bodyPr wrap="square">
            <a:spAutoFit/>
          </a:bodyPr>
          <a:lstStyle/>
          <a:p>
            <a:pPr algn="ctr"/>
            <a:r>
              <a:rPr sz="950" b="0" i="0">
                <a:solidFill>
                  <a:srgbClr val="94A3B8"/>
                </a:solidFill>
              </a:rPr>
              <a:t>Defect quality is now measurable, repeatable, and automated. No more vague tickets reaching engineering.</a:t>
            </a:r>
          </a:p>
        </p:txBody>
      </p:sp>
      <p:sp>
        <p:nvSpPr>
          <p:cNvPr id="40" name="Rounded Rectangle 39"/>
          <p:cNvSpPr/>
          <p:nvPr/>
        </p:nvSpPr>
        <p:spPr>
          <a:xfrm>
            <a:off x="3246120" y="2606040"/>
            <a:ext cx="2743200" cy="3474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3246120" y="2606040"/>
            <a:ext cx="274320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4206240" y="2788920"/>
            <a:ext cx="822960" cy="82296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206240" y="2807208"/>
            <a:ext cx="822960" cy="731520"/>
          </a:xfrm>
          <a:prstGeom prst="rect">
            <a:avLst/>
          </a:prstGeom>
          <a:noFill/>
        </p:spPr>
        <p:txBody>
          <a:bodyPr wrap="square">
            <a:spAutoFit/>
          </a:bodyPr>
          <a:lstStyle/>
          <a:p>
            <a:pPr algn="ctr"/>
            <a:r>
              <a:rPr sz="2200" b="1" i="0">
                <a:solidFill>
                  <a:srgbClr val="FFFFFF"/>
                </a:solidFill>
              </a:rPr>
              <a:t>✔</a:t>
            </a:r>
          </a:p>
        </p:txBody>
      </p:sp>
      <p:sp>
        <p:nvSpPr>
          <p:cNvPr id="44" name="TextBox 43"/>
          <p:cNvSpPr txBox="1"/>
          <p:nvPr/>
        </p:nvSpPr>
        <p:spPr>
          <a:xfrm>
            <a:off x="3383280" y="3776472"/>
            <a:ext cx="2468880" cy="384048"/>
          </a:xfrm>
          <a:prstGeom prst="rect">
            <a:avLst/>
          </a:prstGeom>
          <a:noFill/>
        </p:spPr>
        <p:txBody>
          <a:bodyPr wrap="square">
            <a:spAutoFit/>
          </a:bodyPr>
          <a:lstStyle/>
          <a:p>
            <a:pPr algn="ctr"/>
            <a:r>
              <a:rPr sz="1300" b="1" i="0">
                <a:solidFill>
                  <a:srgbClr val="FFFFFF"/>
                </a:solidFill>
              </a:rPr>
              <a:t>Quality Proven</a:t>
            </a:r>
          </a:p>
        </p:txBody>
      </p:sp>
      <p:sp>
        <p:nvSpPr>
          <p:cNvPr id="45" name="TextBox 44"/>
          <p:cNvSpPr txBox="1"/>
          <p:nvPr/>
        </p:nvSpPr>
        <p:spPr>
          <a:xfrm>
            <a:off x="3383280" y="4206240"/>
            <a:ext cx="2468880" cy="1737360"/>
          </a:xfrm>
          <a:prstGeom prst="rect">
            <a:avLst/>
          </a:prstGeom>
          <a:noFill/>
        </p:spPr>
        <p:txBody>
          <a:bodyPr wrap="square">
            <a:spAutoFit/>
          </a:bodyPr>
          <a:lstStyle/>
          <a:p>
            <a:pPr algn="ctr"/>
            <a:r>
              <a:rPr sz="950" b="0" i="0">
                <a:solidFill>
                  <a:srgbClr val="94A3B8"/>
                </a:solidFill>
              </a:rPr>
              <a:t>216 test cases across Functional, Integration, System, Regression, and UAT testing — all passing.</a:t>
            </a:r>
          </a:p>
        </p:txBody>
      </p:sp>
      <p:sp>
        <p:nvSpPr>
          <p:cNvPr id="46" name="Rounded Rectangle 45"/>
          <p:cNvSpPr/>
          <p:nvPr/>
        </p:nvSpPr>
        <p:spPr>
          <a:xfrm>
            <a:off x="6217920" y="2606040"/>
            <a:ext cx="2743200" cy="3474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217920" y="2606040"/>
            <a:ext cx="274320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7178040" y="2788920"/>
            <a:ext cx="822960" cy="82296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178040" y="2807208"/>
            <a:ext cx="822960" cy="731520"/>
          </a:xfrm>
          <a:prstGeom prst="rect">
            <a:avLst/>
          </a:prstGeom>
          <a:noFill/>
        </p:spPr>
        <p:txBody>
          <a:bodyPr wrap="square">
            <a:spAutoFit/>
          </a:bodyPr>
          <a:lstStyle/>
          <a:p>
            <a:pPr algn="ctr"/>
            <a:r>
              <a:rPr sz="2200" b="1" i="0">
                <a:solidFill>
                  <a:srgbClr val="FFFFFF"/>
                </a:solidFill>
              </a:rPr>
              <a:t>⬡</a:t>
            </a:r>
          </a:p>
        </p:txBody>
      </p:sp>
      <p:sp>
        <p:nvSpPr>
          <p:cNvPr id="50" name="TextBox 49"/>
          <p:cNvSpPr txBox="1"/>
          <p:nvPr/>
        </p:nvSpPr>
        <p:spPr>
          <a:xfrm>
            <a:off x="6355080" y="3776472"/>
            <a:ext cx="2468880" cy="384048"/>
          </a:xfrm>
          <a:prstGeom prst="rect">
            <a:avLst/>
          </a:prstGeom>
          <a:noFill/>
        </p:spPr>
        <p:txBody>
          <a:bodyPr wrap="square">
            <a:spAutoFit/>
          </a:bodyPr>
          <a:lstStyle/>
          <a:p>
            <a:pPr algn="ctr"/>
            <a:r>
              <a:rPr sz="1300" b="1" i="0">
                <a:solidFill>
                  <a:srgbClr val="FFFFFF"/>
                </a:solidFill>
              </a:rPr>
              <a:t>Architecture Scalable</a:t>
            </a:r>
          </a:p>
        </p:txBody>
      </p:sp>
      <p:sp>
        <p:nvSpPr>
          <p:cNvPr id="51" name="TextBox 50"/>
          <p:cNvSpPr txBox="1"/>
          <p:nvPr/>
        </p:nvSpPr>
        <p:spPr>
          <a:xfrm>
            <a:off x="6355080" y="4206240"/>
            <a:ext cx="2468880" cy="1737360"/>
          </a:xfrm>
          <a:prstGeom prst="rect">
            <a:avLst/>
          </a:prstGeom>
          <a:noFill/>
        </p:spPr>
        <p:txBody>
          <a:bodyPr wrap="square">
            <a:spAutoFit/>
          </a:bodyPr>
          <a:lstStyle/>
          <a:p>
            <a:pPr algn="ctr"/>
            <a:r>
              <a:rPr sz="950" b="0" i="0">
                <a:solidFill>
                  <a:srgbClr val="94A3B8"/>
                </a:solidFill>
              </a:rPr>
              <a:t>Modular design, REST API, and SQLite storage can scale to multi-user cloud deployment with minimal changes.</a:t>
            </a:r>
          </a:p>
        </p:txBody>
      </p:sp>
      <p:sp>
        <p:nvSpPr>
          <p:cNvPr id="52" name="Rounded Rectangle 51"/>
          <p:cNvSpPr/>
          <p:nvPr/>
        </p:nvSpPr>
        <p:spPr>
          <a:xfrm>
            <a:off x="9189720" y="2606040"/>
            <a:ext cx="2743200" cy="3474720"/>
          </a:xfrm>
          <a:prstGeom prst="roundRect">
            <a:avLst/>
          </a:prstGeom>
          <a:solidFill>
            <a:srgbClr val="1A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9189720" y="2606040"/>
            <a:ext cx="274320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10149840" y="2788920"/>
            <a:ext cx="822960" cy="82296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149840" y="2807208"/>
            <a:ext cx="822960" cy="731520"/>
          </a:xfrm>
          <a:prstGeom prst="rect">
            <a:avLst/>
          </a:prstGeom>
          <a:noFill/>
        </p:spPr>
        <p:txBody>
          <a:bodyPr wrap="square">
            <a:spAutoFit/>
          </a:bodyPr>
          <a:lstStyle/>
          <a:p>
            <a:pPr algn="ctr"/>
            <a:r>
              <a:rPr sz="2200" b="1" i="0">
                <a:solidFill>
                  <a:srgbClr val="FFFFFF"/>
                </a:solidFill>
              </a:rPr>
              <a:t>◈</a:t>
            </a:r>
          </a:p>
        </p:txBody>
      </p:sp>
      <p:sp>
        <p:nvSpPr>
          <p:cNvPr id="56" name="TextBox 55"/>
          <p:cNvSpPr txBox="1"/>
          <p:nvPr/>
        </p:nvSpPr>
        <p:spPr>
          <a:xfrm>
            <a:off x="9326880" y="3776472"/>
            <a:ext cx="2468880" cy="384048"/>
          </a:xfrm>
          <a:prstGeom prst="rect">
            <a:avLst/>
          </a:prstGeom>
          <a:noFill/>
        </p:spPr>
        <p:txBody>
          <a:bodyPr wrap="square">
            <a:spAutoFit/>
          </a:bodyPr>
          <a:lstStyle/>
          <a:p>
            <a:pPr algn="ctr"/>
            <a:r>
              <a:rPr sz="1300" b="1" i="0">
                <a:solidFill>
                  <a:srgbClr val="FFFFFF"/>
                </a:solidFill>
              </a:rPr>
              <a:t>Skills Demonstrated</a:t>
            </a:r>
          </a:p>
        </p:txBody>
      </p:sp>
      <p:sp>
        <p:nvSpPr>
          <p:cNvPr id="57" name="TextBox 56"/>
          <p:cNvSpPr txBox="1"/>
          <p:nvPr/>
        </p:nvSpPr>
        <p:spPr>
          <a:xfrm>
            <a:off x="9326880" y="4206240"/>
            <a:ext cx="2468880" cy="1737360"/>
          </a:xfrm>
          <a:prstGeom prst="rect">
            <a:avLst/>
          </a:prstGeom>
          <a:noFill/>
        </p:spPr>
        <p:txBody>
          <a:bodyPr wrap="square">
            <a:spAutoFit/>
          </a:bodyPr>
          <a:lstStyle/>
          <a:p>
            <a:pPr algn="ctr"/>
            <a:r>
              <a:rPr sz="950" b="0" i="0">
                <a:solidFill>
                  <a:srgbClr val="94A3B8"/>
                </a:solidFill>
              </a:rPr>
              <a:t>Full-stack development, API design, modular architecture, SDLC, STLC, V-Model, and enterprise-grade testing.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803136"/>
            <a:ext cx="12191695"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412480" y="731520"/>
            <a:ext cx="3657600" cy="53949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601200" y="1371600"/>
            <a:ext cx="1828800" cy="1828800"/>
          </a:xfrm>
          <a:prstGeom prst="roundRect">
            <a:avLst/>
          </a:prstGeom>
          <a:solidFill>
            <a:srgbClr val="1D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744200" y="3886200"/>
            <a:ext cx="1371600" cy="1371600"/>
          </a:xfrm>
          <a:prstGeom prst="roundRect">
            <a:avLst/>
          </a:prstGeom>
          <a:solidFill>
            <a:srgbClr val="142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595360" y="4754880"/>
            <a:ext cx="1097280" cy="10972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280160"/>
            <a:ext cx="1097280" cy="10972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325880"/>
            <a:ext cx="1097280" cy="914400"/>
          </a:xfrm>
          <a:prstGeom prst="rect">
            <a:avLst/>
          </a:prstGeom>
          <a:noFill/>
        </p:spPr>
        <p:txBody>
          <a:bodyPr wrap="square">
            <a:spAutoFit/>
          </a:bodyPr>
          <a:lstStyle/>
          <a:p>
            <a:pPr algn="ctr"/>
            <a:r>
              <a:rPr sz="3200" b="1" i="0">
                <a:solidFill>
                  <a:srgbClr val="FFFFFF"/>
                </a:solidFill>
              </a:rPr>
              <a:t>BL</a:t>
            </a:r>
          </a:p>
        </p:txBody>
      </p:sp>
      <p:sp>
        <p:nvSpPr>
          <p:cNvPr id="10" name="TextBox 9"/>
          <p:cNvSpPr txBox="1"/>
          <p:nvPr/>
        </p:nvSpPr>
        <p:spPr>
          <a:xfrm>
            <a:off x="365760" y="2560320"/>
            <a:ext cx="7772400" cy="1280160"/>
          </a:xfrm>
          <a:prstGeom prst="rect">
            <a:avLst/>
          </a:prstGeom>
          <a:noFill/>
        </p:spPr>
        <p:txBody>
          <a:bodyPr wrap="square">
            <a:spAutoFit/>
          </a:bodyPr>
          <a:lstStyle/>
          <a:p>
            <a:pPr algn="l"/>
            <a:r>
              <a:rPr sz="6000" b="1" i="0">
                <a:solidFill>
                  <a:srgbClr val="FFFFFF"/>
                </a:solidFill>
              </a:rPr>
              <a:t>Thank You</a:t>
            </a:r>
          </a:p>
        </p:txBody>
      </p:sp>
      <p:sp>
        <p:nvSpPr>
          <p:cNvPr id="11" name="TextBox 10"/>
          <p:cNvSpPr txBox="1"/>
          <p:nvPr/>
        </p:nvSpPr>
        <p:spPr>
          <a:xfrm>
            <a:off x="365760" y="3840480"/>
            <a:ext cx="7315200" cy="640080"/>
          </a:xfrm>
          <a:prstGeom prst="rect">
            <a:avLst/>
          </a:prstGeom>
          <a:noFill/>
        </p:spPr>
        <p:txBody>
          <a:bodyPr wrap="square">
            <a:spAutoFit/>
          </a:bodyPr>
          <a:lstStyle/>
          <a:p>
            <a:pPr algn="l"/>
            <a:r>
              <a:rPr sz="2600" b="0" i="0">
                <a:solidFill>
                  <a:srgbClr val="A5F3FC"/>
                </a:solidFill>
              </a:rPr>
              <a:t>Questions &amp; Discussion</a:t>
            </a:r>
          </a:p>
        </p:txBody>
      </p:sp>
      <p:sp>
        <p:nvSpPr>
          <p:cNvPr id="12" name="Rectangle 11"/>
          <p:cNvSpPr/>
          <p:nvPr/>
        </p:nvSpPr>
        <p:spPr>
          <a:xfrm>
            <a:off x="365760" y="4526280"/>
            <a:ext cx="228600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4663440"/>
            <a:ext cx="7772400" cy="347472"/>
          </a:xfrm>
          <a:prstGeom prst="rect">
            <a:avLst/>
          </a:prstGeom>
          <a:noFill/>
        </p:spPr>
        <p:txBody>
          <a:bodyPr wrap="square">
            <a:spAutoFit/>
          </a:bodyPr>
          <a:lstStyle/>
          <a:p>
            <a:pPr algn="l"/>
            <a:r>
              <a:rPr sz="1050" b="0" i="0">
                <a:solidFill>
                  <a:srgbClr val="94A3B8"/>
                </a:solidFill>
              </a:rPr>
              <a:t>Q  How does BugLens handle edge-case inputs?</a:t>
            </a:r>
          </a:p>
        </p:txBody>
      </p:sp>
      <p:sp>
        <p:nvSpPr>
          <p:cNvPr id="14" name="TextBox 13"/>
          <p:cNvSpPr txBox="1"/>
          <p:nvPr/>
        </p:nvSpPr>
        <p:spPr>
          <a:xfrm>
            <a:off x="365760" y="5047488"/>
            <a:ext cx="7772400" cy="347472"/>
          </a:xfrm>
          <a:prstGeom prst="rect">
            <a:avLst/>
          </a:prstGeom>
          <a:noFill/>
        </p:spPr>
        <p:txBody>
          <a:bodyPr wrap="square">
            <a:spAutoFit/>
          </a:bodyPr>
          <a:lstStyle/>
          <a:p>
            <a:pPr algn="l"/>
            <a:r>
              <a:rPr sz="1050" b="0" i="0">
                <a:solidFill>
                  <a:srgbClr val="94A3B8"/>
                </a:solidFill>
              </a:rPr>
              <a:t>Q  How would you scale this to a multi-tenant SaaS?</a:t>
            </a:r>
          </a:p>
        </p:txBody>
      </p:sp>
      <p:sp>
        <p:nvSpPr>
          <p:cNvPr id="15" name="TextBox 14"/>
          <p:cNvSpPr txBox="1"/>
          <p:nvPr/>
        </p:nvSpPr>
        <p:spPr>
          <a:xfrm>
            <a:off x="365760" y="5431536"/>
            <a:ext cx="7772400" cy="347472"/>
          </a:xfrm>
          <a:prstGeom prst="rect">
            <a:avLst/>
          </a:prstGeom>
          <a:noFill/>
        </p:spPr>
        <p:txBody>
          <a:bodyPr wrap="square">
            <a:spAutoFit/>
          </a:bodyPr>
          <a:lstStyle/>
          <a:p>
            <a:pPr algn="l"/>
            <a:r>
              <a:rPr sz="1050" b="0" i="0">
                <a:solidFill>
                  <a:srgbClr val="94A3B8"/>
                </a:solidFill>
              </a:rPr>
              <a:t>Q  How does the scoring rubric compare to GPT-based scoring?</a:t>
            </a:r>
          </a:p>
        </p:txBody>
      </p:sp>
      <p:sp>
        <p:nvSpPr>
          <p:cNvPr id="16" name="TextBox 15"/>
          <p:cNvSpPr txBox="1"/>
          <p:nvPr/>
        </p:nvSpPr>
        <p:spPr>
          <a:xfrm>
            <a:off x="365760" y="5815584"/>
            <a:ext cx="7772400" cy="347472"/>
          </a:xfrm>
          <a:prstGeom prst="rect">
            <a:avLst/>
          </a:prstGeom>
          <a:noFill/>
        </p:spPr>
        <p:txBody>
          <a:bodyPr wrap="square">
            <a:spAutoFit/>
          </a:bodyPr>
          <a:lstStyle/>
          <a:p>
            <a:pPr algn="l"/>
            <a:r>
              <a:rPr sz="1050" b="0" i="0">
                <a:solidFill>
                  <a:srgbClr val="94A3B8"/>
                </a:solidFill>
              </a:rPr>
              <a:t>Q  Walk me through a defect that failed your tests.</a:t>
            </a:r>
          </a:p>
        </p:txBody>
      </p:sp>
      <p:sp>
        <p:nvSpPr>
          <p:cNvPr id="17" name="Rounded Rectangle 16"/>
          <p:cNvSpPr/>
          <p:nvPr/>
        </p:nvSpPr>
        <p:spPr>
          <a:xfrm>
            <a:off x="274320" y="6263640"/>
            <a:ext cx="7772400" cy="4572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6291072"/>
            <a:ext cx="2514600" cy="365760"/>
          </a:xfrm>
          <a:prstGeom prst="rect">
            <a:avLst/>
          </a:prstGeom>
          <a:noFill/>
        </p:spPr>
        <p:txBody>
          <a:bodyPr wrap="square">
            <a:spAutoFit/>
          </a:bodyPr>
          <a:lstStyle/>
          <a:p>
            <a:pPr algn="l"/>
            <a:r>
              <a:rPr sz="800" b="0" i="0">
                <a:solidFill>
                  <a:srgbClr val="94A3B8"/>
                </a:solidFill>
              </a:rPr>
              <a:t>Project: BugLens – Defect Quality Checker</a:t>
            </a:r>
          </a:p>
        </p:txBody>
      </p:sp>
      <p:sp>
        <p:nvSpPr>
          <p:cNvPr id="19" name="TextBox 18"/>
          <p:cNvSpPr txBox="1"/>
          <p:nvPr/>
        </p:nvSpPr>
        <p:spPr>
          <a:xfrm>
            <a:off x="3017520" y="6291072"/>
            <a:ext cx="2514600" cy="365760"/>
          </a:xfrm>
          <a:prstGeom prst="rect">
            <a:avLst/>
          </a:prstGeom>
          <a:noFill/>
        </p:spPr>
        <p:txBody>
          <a:bodyPr wrap="square">
            <a:spAutoFit/>
          </a:bodyPr>
          <a:lstStyle/>
          <a:p>
            <a:pPr algn="l"/>
            <a:r>
              <a:rPr sz="800" b="0" i="0">
                <a:solidFill>
                  <a:srgbClr val="94A3B8"/>
                </a:solidFill>
              </a:rPr>
              <a:t>Stack: Python · FastAPI · Streamlit · Pytest</a:t>
            </a:r>
          </a:p>
        </p:txBody>
      </p:sp>
      <p:sp>
        <p:nvSpPr>
          <p:cNvPr id="20" name="TextBox 19"/>
          <p:cNvSpPr txBox="1"/>
          <p:nvPr/>
        </p:nvSpPr>
        <p:spPr>
          <a:xfrm>
            <a:off x="5623560" y="6291072"/>
            <a:ext cx="2514600" cy="365760"/>
          </a:xfrm>
          <a:prstGeom prst="rect">
            <a:avLst/>
          </a:prstGeom>
          <a:noFill/>
        </p:spPr>
        <p:txBody>
          <a:bodyPr wrap="square">
            <a:spAutoFit/>
          </a:bodyPr>
          <a:lstStyle/>
          <a:p>
            <a:pPr algn="l"/>
            <a:r>
              <a:rPr sz="800" b="0" i="0">
                <a:solidFill>
                  <a:srgbClr val="94A3B8"/>
                </a:solidFill>
              </a:rPr>
              <a:t>Tests: 216 cases · 100 % pass 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206</TotalTime>
  <Words>4929</Words>
  <Application>Microsoft Office PowerPoint</Application>
  <PresentationFormat>Widescreen</PresentationFormat>
  <Paragraphs>846</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Yashas pm</cp:lastModifiedBy>
  <cp:revision>1</cp:revision>
  <dcterms:created xsi:type="dcterms:W3CDTF">2013-01-27T09:14:16Z</dcterms:created>
  <dcterms:modified xsi:type="dcterms:W3CDTF">2026-06-08T11:13:31Z</dcterms:modified>
  <cp:category/>
</cp:coreProperties>
</file>